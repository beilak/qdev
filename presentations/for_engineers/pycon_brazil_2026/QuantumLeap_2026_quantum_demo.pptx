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825500" rtl="0" fontAlgn="auto" latinLnBrk="0" hangingPunct="0">
      <a:lnSpc>
        <a:spcPct val="120000"/>
      </a:lnSpc>
      <a:spcBef>
        <a:spcPts val="6500"/>
      </a:spcBef>
      <a:spcAft>
        <a:spcPts val="0"/>
      </a:spcAft>
      <a:buClrTx/>
      <a:buSzTx/>
      <a:buFontTx/>
      <a:buNone/>
      <a:tabLst/>
      <a:defRPr kumimoji="0" sz="6400" b="0" i="0" u="none" strike="noStrike" cap="none" spc="0" normalizeH="0" baseline="0">
        <a:ln>
          <a:noFill/>
        </a:ln>
        <a:solidFill>
          <a:srgbClr val="535353"/>
        </a:solidFill>
        <a:effectLst/>
        <a:uFillTx/>
        <a:latin typeface="+mn-lt"/>
        <a:ea typeface="+mn-ea"/>
        <a:cs typeface="+mn-cs"/>
        <a:sym typeface="Gill Sans Light"/>
      </a:defRPr>
    </a:lvl1pPr>
    <a:lvl2pPr marL="0" marR="0" indent="0" algn="l" defTabSz="825500" rtl="0" fontAlgn="auto" latinLnBrk="0" hangingPunct="0">
      <a:lnSpc>
        <a:spcPct val="120000"/>
      </a:lnSpc>
      <a:spcBef>
        <a:spcPts val="6500"/>
      </a:spcBef>
      <a:spcAft>
        <a:spcPts val="0"/>
      </a:spcAft>
      <a:buClrTx/>
      <a:buSzTx/>
      <a:buFontTx/>
      <a:buNone/>
      <a:tabLst/>
      <a:defRPr kumimoji="0" sz="6400" b="0" i="0" u="none" strike="noStrike" cap="none" spc="0" normalizeH="0" baseline="0">
        <a:ln>
          <a:noFill/>
        </a:ln>
        <a:solidFill>
          <a:srgbClr val="535353"/>
        </a:solidFill>
        <a:effectLst/>
        <a:uFillTx/>
        <a:latin typeface="+mn-lt"/>
        <a:ea typeface="+mn-ea"/>
        <a:cs typeface="+mn-cs"/>
        <a:sym typeface="Gill Sans Light"/>
      </a:defRPr>
    </a:lvl2pPr>
    <a:lvl3pPr marL="0" marR="0" indent="0" algn="l" defTabSz="825500" rtl="0" fontAlgn="auto" latinLnBrk="0" hangingPunct="0">
      <a:lnSpc>
        <a:spcPct val="120000"/>
      </a:lnSpc>
      <a:spcBef>
        <a:spcPts val="6500"/>
      </a:spcBef>
      <a:spcAft>
        <a:spcPts val="0"/>
      </a:spcAft>
      <a:buClrTx/>
      <a:buSzTx/>
      <a:buFontTx/>
      <a:buNone/>
      <a:tabLst/>
      <a:defRPr kumimoji="0" sz="6400" b="0" i="0" u="none" strike="noStrike" cap="none" spc="0" normalizeH="0" baseline="0">
        <a:ln>
          <a:noFill/>
        </a:ln>
        <a:solidFill>
          <a:srgbClr val="535353"/>
        </a:solidFill>
        <a:effectLst/>
        <a:uFillTx/>
        <a:latin typeface="+mn-lt"/>
        <a:ea typeface="+mn-ea"/>
        <a:cs typeface="+mn-cs"/>
        <a:sym typeface="Gill Sans Light"/>
      </a:defRPr>
    </a:lvl3pPr>
    <a:lvl4pPr marL="0" marR="0" indent="0" algn="l" defTabSz="825500" rtl="0" fontAlgn="auto" latinLnBrk="0" hangingPunct="0">
      <a:lnSpc>
        <a:spcPct val="120000"/>
      </a:lnSpc>
      <a:spcBef>
        <a:spcPts val="6500"/>
      </a:spcBef>
      <a:spcAft>
        <a:spcPts val="0"/>
      </a:spcAft>
      <a:buClrTx/>
      <a:buSzTx/>
      <a:buFontTx/>
      <a:buNone/>
      <a:tabLst/>
      <a:defRPr kumimoji="0" sz="6400" b="0" i="0" u="none" strike="noStrike" cap="none" spc="0" normalizeH="0" baseline="0">
        <a:ln>
          <a:noFill/>
        </a:ln>
        <a:solidFill>
          <a:srgbClr val="535353"/>
        </a:solidFill>
        <a:effectLst/>
        <a:uFillTx/>
        <a:latin typeface="+mn-lt"/>
        <a:ea typeface="+mn-ea"/>
        <a:cs typeface="+mn-cs"/>
        <a:sym typeface="Gill Sans Light"/>
      </a:defRPr>
    </a:lvl4pPr>
    <a:lvl5pPr marL="0" marR="0" indent="0" algn="l" defTabSz="825500" rtl="0" fontAlgn="auto" latinLnBrk="0" hangingPunct="0">
      <a:lnSpc>
        <a:spcPct val="120000"/>
      </a:lnSpc>
      <a:spcBef>
        <a:spcPts val="6500"/>
      </a:spcBef>
      <a:spcAft>
        <a:spcPts val="0"/>
      </a:spcAft>
      <a:buClrTx/>
      <a:buSzTx/>
      <a:buFontTx/>
      <a:buNone/>
      <a:tabLst/>
      <a:defRPr kumimoji="0" sz="6400" b="0" i="0" u="none" strike="noStrike" cap="none" spc="0" normalizeH="0" baseline="0">
        <a:ln>
          <a:noFill/>
        </a:ln>
        <a:solidFill>
          <a:srgbClr val="535353"/>
        </a:solidFill>
        <a:effectLst/>
        <a:uFillTx/>
        <a:latin typeface="+mn-lt"/>
        <a:ea typeface="+mn-ea"/>
        <a:cs typeface="+mn-cs"/>
        <a:sym typeface="Gill Sans Light"/>
      </a:defRPr>
    </a:lvl5pPr>
    <a:lvl6pPr marL="0" marR="0" indent="0" algn="l" defTabSz="825500" rtl="0" fontAlgn="auto" latinLnBrk="0" hangingPunct="0">
      <a:lnSpc>
        <a:spcPct val="120000"/>
      </a:lnSpc>
      <a:spcBef>
        <a:spcPts val="6500"/>
      </a:spcBef>
      <a:spcAft>
        <a:spcPts val="0"/>
      </a:spcAft>
      <a:buClrTx/>
      <a:buSzTx/>
      <a:buFontTx/>
      <a:buNone/>
      <a:tabLst/>
      <a:defRPr kumimoji="0" sz="6400" b="0" i="0" u="none" strike="noStrike" cap="none" spc="0" normalizeH="0" baseline="0">
        <a:ln>
          <a:noFill/>
        </a:ln>
        <a:solidFill>
          <a:srgbClr val="535353"/>
        </a:solidFill>
        <a:effectLst/>
        <a:uFillTx/>
        <a:latin typeface="+mn-lt"/>
        <a:ea typeface="+mn-ea"/>
        <a:cs typeface="+mn-cs"/>
        <a:sym typeface="Gill Sans Light"/>
      </a:defRPr>
    </a:lvl6pPr>
    <a:lvl7pPr marL="0" marR="0" indent="0" algn="l" defTabSz="825500" rtl="0" fontAlgn="auto" latinLnBrk="0" hangingPunct="0">
      <a:lnSpc>
        <a:spcPct val="120000"/>
      </a:lnSpc>
      <a:spcBef>
        <a:spcPts val="6500"/>
      </a:spcBef>
      <a:spcAft>
        <a:spcPts val="0"/>
      </a:spcAft>
      <a:buClrTx/>
      <a:buSzTx/>
      <a:buFontTx/>
      <a:buNone/>
      <a:tabLst/>
      <a:defRPr kumimoji="0" sz="6400" b="0" i="0" u="none" strike="noStrike" cap="none" spc="0" normalizeH="0" baseline="0">
        <a:ln>
          <a:noFill/>
        </a:ln>
        <a:solidFill>
          <a:srgbClr val="535353"/>
        </a:solidFill>
        <a:effectLst/>
        <a:uFillTx/>
        <a:latin typeface="+mn-lt"/>
        <a:ea typeface="+mn-ea"/>
        <a:cs typeface="+mn-cs"/>
        <a:sym typeface="Gill Sans Light"/>
      </a:defRPr>
    </a:lvl7pPr>
    <a:lvl8pPr marL="0" marR="0" indent="0" algn="l" defTabSz="825500" rtl="0" fontAlgn="auto" latinLnBrk="0" hangingPunct="0">
      <a:lnSpc>
        <a:spcPct val="120000"/>
      </a:lnSpc>
      <a:spcBef>
        <a:spcPts val="6500"/>
      </a:spcBef>
      <a:spcAft>
        <a:spcPts val="0"/>
      </a:spcAft>
      <a:buClrTx/>
      <a:buSzTx/>
      <a:buFontTx/>
      <a:buNone/>
      <a:tabLst/>
      <a:defRPr kumimoji="0" sz="6400" b="0" i="0" u="none" strike="noStrike" cap="none" spc="0" normalizeH="0" baseline="0">
        <a:ln>
          <a:noFill/>
        </a:ln>
        <a:solidFill>
          <a:srgbClr val="535353"/>
        </a:solidFill>
        <a:effectLst/>
        <a:uFillTx/>
        <a:latin typeface="+mn-lt"/>
        <a:ea typeface="+mn-ea"/>
        <a:cs typeface="+mn-cs"/>
        <a:sym typeface="Gill Sans Light"/>
      </a:defRPr>
    </a:lvl8pPr>
    <a:lvl9pPr marL="0" marR="0" indent="0" algn="l" defTabSz="825500" rtl="0" fontAlgn="auto" latinLnBrk="0" hangingPunct="0">
      <a:lnSpc>
        <a:spcPct val="120000"/>
      </a:lnSpc>
      <a:spcBef>
        <a:spcPts val="6500"/>
      </a:spcBef>
      <a:spcAft>
        <a:spcPts val="0"/>
      </a:spcAft>
      <a:buClrTx/>
      <a:buSzTx/>
      <a:buFontTx/>
      <a:buNone/>
      <a:tabLst/>
      <a:defRPr kumimoji="0" sz="6400" b="0" i="0" u="none" strike="noStrike" cap="none" spc="0" normalizeH="0" baseline="0">
        <a:ln>
          <a:noFill/>
        </a:ln>
        <a:solidFill>
          <a:srgbClr val="535353"/>
        </a:solidFill>
        <a:effectLst/>
        <a:uFillTx/>
        <a:latin typeface="+mn-lt"/>
        <a:ea typeface="+mn-ea"/>
        <a:cs typeface="+mn-cs"/>
        <a:sym typeface="Gill Sans Ligh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5A5F5E"/>
        </a:fontRef>
        <a:srgbClr val="5A5F5E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000000">
              <a:alpha val="5000"/>
            </a:srgbClr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solidFill>
            <a:srgbClr val="AB1802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solidFill>
            <a:srgbClr val="808785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5A5F5E"/>
        </a:fontRef>
        <a:srgbClr val="5A5F5E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000000">
              <a:alpha val="5000"/>
            </a:srgbClr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solidFill>
            <a:srgbClr val="808785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solidFill>
            <a:srgbClr val="AB1802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solidFill>
            <a:srgbClr val="AB1802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5A5F5E"/>
        </a:fontRef>
        <a:srgbClr val="5A5F5E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000000">
              <a:alpha val="5000"/>
            </a:srgbClr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6">
              <a:satOff val="1848"/>
              <a:lumOff val="-15262"/>
            </a:schemeClr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chemeClr val="accent6">
                  <a:satOff val="1848"/>
                  <a:lumOff val="-15262"/>
                </a:schemeClr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6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chemeClr val="accent6">
                  <a:satOff val="1848"/>
                  <a:lumOff val="-15262"/>
                </a:schemeClr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5A5F5E"/>
        </a:fontRef>
        <a:srgbClr val="5A5F5E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000000">
              <a:alpha val="5000"/>
            </a:srgbClr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808785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5E6E5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5A5F5E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5A5F5E"/>
        </a:fontRef>
        <a:srgbClr val="5A5F5E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BEBEB"/>
          </a:solidFill>
        </a:fill>
      </a:tcStyle>
    </a:band2H>
    <a:firstCol>
      <a:tcTxStyle b="off" i="off">
        <a:fontRef idx="minor">
          <a:srgbClr val="5A5F5E"/>
        </a:fontRef>
        <a:srgbClr val="5A5F5E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solidFill>
            <a:srgbClr val="E5E6E5"/>
          </a:solidFill>
        </a:fill>
      </a:tcStyle>
    </a:firstCol>
    <a:lastRow>
      <a:tcTxStyle b="off" i="off">
        <a:fontRef idx="minor">
          <a:srgbClr val="5A5F5E"/>
        </a:fontRef>
        <a:srgbClr val="5A5F5E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solidFill>
            <a:srgbClr val="CCCCCC"/>
          </a:solidFill>
        </a:fill>
      </a:tcStyle>
    </a:lastRow>
    <a:firstRow>
      <a:tcTxStyle b="off" i="off">
        <a:fontRef idx="minor">
          <a:srgbClr val="5A5F5E"/>
        </a:fontRef>
        <a:srgbClr val="5A5F5E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solidFill>
            <a:srgbClr val="CCCCCC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C8C8C8"/>
              </a:solidFill>
              <a:prstDash val="solid"/>
              <a:miter lim="400000"/>
            </a:ln>
          </a:left>
          <a:right>
            <a:ln w="12700" cap="flat">
              <a:solidFill>
                <a:srgbClr val="C8C8C8"/>
              </a:solidFill>
              <a:prstDash val="solid"/>
              <a:miter lim="400000"/>
            </a:ln>
          </a:right>
          <a:top>
            <a:ln w="12700" cap="flat">
              <a:solidFill>
                <a:srgbClr val="5A5F5E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A5F5E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A5F5E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C8C8C8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000000">
              <a:alpha val="5000"/>
            </a:srgbClr>
          </a:solidFill>
        </a:fill>
      </a:tcStyle>
    </a:band2H>
    <a:firstCo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5A5F5E"/>
              </a:solidFill>
              <a:prstDash val="solid"/>
              <a:miter lim="400000"/>
            </a:ln>
          </a:right>
          <a:top>
            <a:ln w="12700" cap="flat">
              <a:solidFill>
                <a:srgbClr val="C8C8C8"/>
              </a:solidFill>
              <a:prstDash val="solid"/>
              <a:miter lim="400000"/>
            </a:ln>
          </a:top>
          <a:bottom>
            <a:ln w="12700" cap="flat">
              <a:solidFill>
                <a:srgbClr val="C8C8C8"/>
              </a:solidFill>
              <a:prstDash val="solid"/>
              <a:miter lim="400000"/>
            </a:ln>
          </a:bottom>
          <a:insideH>
            <a:ln w="12700" cap="flat">
              <a:solidFill>
                <a:srgbClr val="C8C8C8"/>
              </a:solidFill>
              <a:prstDash val="solid"/>
              <a:miter lim="400000"/>
            </a:ln>
          </a:insideH>
          <a:insideV>
            <a:ln w="12700" cap="flat">
              <a:solidFill>
                <a:srgbClr val="C8C8C8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C8C8C8"/>
              </a:solidFill>
              <a:prstDash val="solid"/>
              <a:miter lim="400000"/>
            </a:ln>
          </a:left>
          <a:right>
            <a:ln w="12700" cap="flat">
              <a:solidFill>
                <a:srgbClr val="C8C8C8"/>
              </a:solidFill>
              <a:prstDash val="solid"/>
              <a:miter lim="400000"/>
            </a:ln>
          </a:right>
          <a:top>
            <a:ln w="12700" cap="flat">
              <a:solidFill>
                <a:srgbClr val="5A5F5E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C8C8C8"/>
              </a:solidFill>
              <a:prstDash val="solid"/>
              <a:miter lim="400000"/>
            </a:ln>
          </a:insideH>
          <a:insideV>
            <a:ln w="12700" cap="flat">
              <a:solidFill>
                <a:srgbClr val="C8C8C8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C8C8C8"/>
              </a:solidFill>
              <a:prstDash val="solid"/>
              <a:miter lim="400000"/>
            </a:ln>
          </a:left>
          <a:right>
            <a:ln w="12700" cap="flat">
              <a:solidFill>
                <a:srgbClr val="C8C8C8"/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5A5F5E"/>
              </a:solidFill>
              <a:prstDash val="solid"/>
              <a:miter lim="400000"/>
            </a:ln>
          </a:bottom>
          <a:insideH>
            <a:ln w="12700" cap="flat">
              <a:solidFill>
                <a:srgbClr val="C8C8C8"/>
              </a:solidFill>
              <a:prstDash val="solid"/>
              <a:miter lim="400000"/>
            </a:ln>
          </a:insideH>
          <a:insideV>
            <a:ln w="12700" cap="flat">
              <a:solidFill>
                <a:srgbClr val="C8C8C8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60" d="100"/>
          <a:sy n="60" d="100"/>
        </p:scale>
        <p:origin x="800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134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35" name="Shape 135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673100" y="2870200"/>
            <a:ext cx="23050500" cy="4559300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73100" y="7416800"/>
            <a:ext cx="23050500" cy="18161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</a:lvl1pPr>
            <a:lvl2pPr marL="0" indent="0" algn="ctr">
              <a:spcBef>
                <a:spcPts val="0"/>
              </a:spcBef>
              <a:buSzTx/>
              <a:buNone/>
            </a:lvl2pPr>
            <a:lvl3pPr marL="0" indent="0" algn="ctr">
              <a:spcBef>
                <a:spcPts val="0"/>
              </a:spcBef>
              <a:buSzTx/>
              <a:buNone/>
            </a:lvl3pPr>
            <a:lvl4pPr marL="0" indent="0" algn="ctr">
              <a:spcBef>
                <a:spcPts val="0"/>
              </a:spcBef>
              <a:buSzTx/>
              <a:buNone/>
            </a:lvl4pPr>
            <a:lvl5pPr marL="0" indent="0" algn="ctr">
              <a:spcBef>
                <a:spcPts val="0"/>
              </a:spcBef>
              <a:buSzTx/>
              <a:buNone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rofile view of a red Ducati motorcycle"/>
          <p:cNvSpPr>
            <a:spLocks noGrp="1"/>
          </p:cNvSpPr>
          <p:nvPr>
            <p:ph type="pic" idx="21"/>
          </p:nvPr>
        </p:nvSpPr>
        <p:spPr>
          <a:xfrm>
            <a:off x="4280774" y="-1688429"/>
            <a:ext cx="15829857" cy="11849101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21" name="Title Text"/>
          <p:cNvSpPr txBox="1">
            <a:spLocks noGrp="1"/>
          </p:cNvSpPr>
          <p:nvPr>
            <p:ph type="title"/>
          </p:nvPr>
        </p:nvSpPr>
        <p:spPr>
          <a:xfrm>
            <a:off x="2387600" y="9728200"/>
            <a:ext cx="19621500" cy="18034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2387600" y="11518900"/>
            <a:ext cx="19621500" cy="16002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</a:lvl1pPr>
            <a:lvl2pPr marL="0" indent="0" algn="ctr">
              <a:spcBef>
                <a:spcPts val="0"/>
              </a:spcBef>
              <a:buSzTx/>
              <a:buNone/>
            </a:lvl2pPr>
            <a:lvl3pPr marL="0" indent="0" algn="ctr">
              <a:spcBef>
                <a:spcPts val="0"/>
              </a:spcBef>
              <a:buSzTx/>
              <a:buNone/>
            </a:lvl3pPr>
            <a:lvl4pPr marL="0" indent="0" algn="ctr">
              <a:spcBef>
                <a:spcPts val="0"/>
              </a:spcBef>
              <a:buSzTx/>
              <a:buNone/>
            </a:lvl4pPr>
            <a:lvl5pPr marL="0" indent="0" algn="ctr">
              <a:spcBef>
                <a:spcPts val="0"/>
              </a:spcBef>
              <a:buSzTx/>
              <a:buNone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Cen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/>
          <p:cNvSpPr txBox="1">
            <a:spLocks noGrp="1"/>
          </p:cNvSpPr>
          <p:nvPr>
            <p:ph type="title"/>
          </p:nvPr>
        </p:nvSpPr>
        <p:spPr>
          <a:xfrm>
            <a:off x="673100" y="4572000"/>
            <a:ext cx="23050500" cy="45593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Front view of a red Ducati motorcycle"/>
          <p:cNvSpPr>
            <a:spLocks noGrp="1"/>
          </p:cNvSpPr>
          <p:nvPr>
            <p:ph type="pic" idx="21"/>
          </p:nvPr>
        </p:nvSpPr>
        <p:spPr>
          <a:xfrm>
            <a:off x="10590462" y="1511300"/>
            <a:ext cx="13644824" cy="12128732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39" name="Title Text"/>
          <p:cNvSpPr txBox="1">
            <a:spLocks noGrp="1"/>
          </p:cNvSpPr>
          <p:nvPr>
            <p:ph type="title"/>
          </p:nvPr>
        </p:nvSpPr>
        <p:spPr>
          <a:xfrm>
            <a:off x="673100" y="1435100"/>
            <a:ext cx="11049000" cy="5461000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4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73100" y="6870700"/>
            <a:ext cx="11049000" cy="54610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</a:lvl1pPr>
            <a:lvl2pPr marL="0" indent="0" algn="ctr">
              <a:spcBef>
                <a:spcPts val="0"/>
              </a:spcBef>
              <a:buSzTx/>
              <a:buNone/>
            </a:lvl2pPr>
            <a:lvl3pPr marL="0" indent="0" algn="ctr">
              <a:spcBef>
                <a:spcPts val="0"/>
              </a:spcBef>
              <a:buSzTx/>
              <a:buNone/>
            </a:lvl3pPr>
            <a:lvl4pPr marL="0" indent="0" algn="ctr">
              <a:spcBef>
                <a:spcPts val="0"/>
              </a:spcBef>
              <a:buSzTx/>
              <a:buNone/>
            </a:lvl4pPr>
            <a:lvl5pPr marL="0" indent="0" algn="ctr">
              <a:spcBef>
                <a:spcPts val="0"/>
              </a:spcBef>
              <a:buSzTx/>
              <a:buNone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7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 marL="736600" indent="-736600">
              <a:lnSpc>
                <a:spcPct val="120000"/>
              </a:lnSpc>
              <a:spcBef>
                <a:spcPts val="6500"/>
              </a:spcBef>
              <a:defRPr sz="6400"/>
            </a:lvl1pPr>
            <a:lvl2pPr marL="1473200" indent="-736600">
              <a:lnSpc>
                <a:spcPct val="120000"/>
              </a:lnSpc>
              <a:spcBef>
                <a:spcPts val="6500"/>
              </a:spcBef>
              <a:defRPr sz="6400"/>
            </a:lvl2pPr>
            <a:lvl3pPr marL="2209800" indent="-736600">
              <a:lnSpc>
                <a:spcPct val="120000"/>
              </a:lnSpc>
              <a:spcBef>
                <a:spcPts val="6500"/>
              </a:spcBef>
              <a:defRPr sz="6400"/>
            </a:lvl3pPr>
            <a:lvl4pPr marL="2946400" indent="-736600">
              <a:lnSpc>
                <a:spcPct val="120000"/>
              </a:lnSpc>
              <a:spcBef>
                <a:spcPts val="6500"/>
              </a:spcBef>
              <a:defRPr sz="6400"/>
            </a:lvl4pPr>
            <a:lvl5pPr marL="3683000" indent="-736600">
              <a:lnSpc>
                <a:spcPct val="120000"/>
              </a:lnSpc>
              <a:spcBef>
                <a:spcPts val="6500"/>
              </a:spcBef>
              <a:defRPr sz="6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Front view of a red Ducati motorcycle"/>
          <p:cNvSpPr>
            <a:spLocks noGrp="1"/>
          </p:cNvSpPr>
          <p:nvPr>
            <p:ph type="pic" sz="half" idx="21"/>
          </p:nvPr>
        </p:nvSpPr>
        <p:spPr>
          <a:xfrm>
            <a:off x="11814854" y="3233783"/>
            <a:ext cx="11753235" cy="10447317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6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673100" y="3835400"/>
            <a:ext cx="11049000" cy="8864600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76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673100" y="3835400"/>
            <a:ext cx="11049000" cy="8864600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85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673100" y="3835400"/>
            <a:ext cx="11049000" cy="8864600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Body Level One…"/>
          <p:cNvSpPr txBox="1">
            <a:spLocks noGrp="1"/>
          </p:cNvSpPr>
          <p:nvPr>
            <p:ph type="body" idx="1"/>
          </p:nvPr>
        </p:nvSpPr>
        <p:spPr>
          <a:xfrm>
            <a:off x="1435100" y="1066800"/>
            <a:ext cx="21501100" cy="11557000"/>
          </a:xfrm>
          <a:prstGeom prst="rect">
            <a:avLst/>
          </a:prstGeom>
        </p:spPr>
        <p:txBody>
          <a:bodyPr/>
          <a:lstStyle>
            <a:lvl1pPr marL="736600" indent="-736600">
              <a:lnSpc>
                <a:spcPct val="120000"/>
              </a:lnSpc>
              <a:spcBef>
                <a:spcPts val="6500"/>
              </a:spcBef>
              <a:defRPr sz="6400"/>
            </a:lvl1pPr>
            <a:lvl2pPr marL="1473200" indent="-736600">
              <a:lnSpc>
                <a:spcPct val="120000"/>
              </a:lnSpc>
              <a:spcBef>
                <a:spcPts val="6500"/>
              </a:spcBef>
              <a:defRPr sz="6400"/>
            </a:lvl2pPr>
            <a:lvl3pPr marL="2209800" indent="-736600">
              <a:lnSpc>
                <a:spcPct val="120000"/>
              </a:lnSpc>
              <a:spcBef>
                <a:spcPts val="6500"/>
              </a:spcBef>
              <a:defRPr sz="6400"/>
            </a:lvl3pPr>
            <a:lvl4pPr marL="2946400" indent="-736600">
              <a:lnSpc>
                <a:spcPct val="120000"/>
              </a:lnSpc>
              <a:spcBef>
                <a:spcPts val="6500"/>
              </a:spcBef>
              <a:defRPr sz="6400"/>
            </a:lvl4pPr>
            <a:lvl5pPr marL="3683000" indent="-736600">
              <a:lnSpc>
                <a:spcPct val="120000"/>
              </a:lnSpc>
              <a:spcBef>
                <a:spcPts val="6500"/>
              </a:spcBef>
              <a:defRPr sz="6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Close-up of Ducati motorcycle engine components"/>
          <p:cNvSpPr>
            <a:spLocks noGrp="1"/>
          </p:cNvSpPr>
          <p:nvPr>
            <p:ph type="pic" sz="half" idx="21"/>
          </p:nvPr>
        </p:nvSpPr>
        <p:spPr>
          <a:xfrm>
            <a:off x="12420509" y="5714207"/>
            <a:ext cx="11023601" cy="8255001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02" name="Close-up of a Ducati motorcycle petrol cap"/>
          <p:cNvSpPr>
            <a:spLocks noGrp="1"/>
          </p:cNvSpPr>
          <p:nvPr>
            <p:ph type="pic" sz="half" idx="22"/>
          </p:nvPr>
        </p:nvSpPr>
        <p:spPr>
          <a:xfrm>
            <a:off x="12420600" y="-673100"/>
            <a:ext cx="11023600" cy="82550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03" name="Black and white photo of Ducati motorcycle engine components"/>
          <p:cNvSpPr>
            <a:spLocks noGrp="1"/>
          </p:cNvSpPr>
          <p:nvPr>
            <p:ph type="pic" idx="23"/>
          </p:nvPr>
        </p:nvSpPr>
        <p:spPr>
          <a:xfrm>
            <a:off x="-825499" y="-2108200"/>
            <a:ext cx="13804901" cy="18443211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0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–Johnny Appleseed"/>
          <p:cNvSpPr txBox="1">
            <a:spLocks noGrp="1"/>
          </p:cNvSpPr>
          <p:nvPr>
            <p:ph type="body" sz="quarter" idx="21"/>
          </p:nvPr>
        </p:nvSpPr>
        <p:spPr>
          <a:xfrm>
            <a:off x="2387600" y="8001000"/>
            <a:ext cx="19621500" cy="647700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3800"/>
            </a:lvl1pPr>
          </a:lstStyle>
          <a:p>
            <a:r>
              <a:t>–Johnny Appleseed</a:t>
            </a:r>
          </a:p>
        </p:txBody>
      </p:sp>
      <p:sp>
        <p:nvSpPr>
          <p:cNvPr id="112" name="“Type a quote here.”"/>
          <p:cNvSpPr txBox="1">
            <a:spLocks noGrp="1"/>
          </p:cNvSpPr>
          <p:nvPr>
            <p:ph type="body" sz="quarter" idx="22"/>
          </p:nvPr>
        </p:nvSpPr>
        <p:spPr>
          <a:xfrm>
            <a:off x="2374900" y="5892800"/>
            <a:ext cx="19621500" cy="8509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</a:lvl1pPr>
          </a:lstStyle>
          <a:p>
            <a:r>
              <a:t>“Type a quote here.”</a:t>
            </a:r>
          </a:p>
        </p:txBody>
      </p:sp>
      <p:sp>
        <p:nvSpPr>
          <p:cNvPr id="1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Front view of a red Ducati motorcycle against a black background"/>
          <p:cNvSpPr>
            <a:spLocks noGrp="1"/>
          </p:cNvSpPr>
          <p:nvPr>
            <p:ph type="pic" idx="21"/>
          </p:nvPr>
        </p:nvSpPr>
        <p:spPr>
          <a:xfrm>
            <a:off x="0" y="0"/>
            <a:ext cx="24384000" cy="137160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2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6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673100" y="355600"/>
            <a:ext cx="23050500" cy="3429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673100" y="3835400"/>
            <a:ext cx="23050500" cy="8864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76100" y="13081000"/>
            <a:ext cx="419100" cy="4572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ransition spd="med"/>
  <p:txStyles>
    <p:title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0" b="0" i="0" u="none" strike="noStrike" cap="all" spc="0" baseline="0">
          <a:solidFill>
            <a:srgbClr val="535353"/>
          </a:solidFill>
          <a:uFillTx/>
          <a:latin typeface="+mn-lt"/>
          <a:ea typeface="+mn-ea"/>
          <a:cs typeface="+mn-cs"/>
          <a:sym typeface="Gill Sans Light"/>
        </a:defRPr>
      </a:lvl1pPr>
      <a:lvl2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0" b="0" i="0" u="none" strike="noStrike" cap="all" spc="0" baseline="0">
          <a:solidFill>
            <a:srgbClr val="535353"/>
          </a:solidFill>
          <a:uFillTx/>
          <a:latin typeface="+mn-lt"/>
          <a:ea typeface="+mn-ea"/>
          <a:cs typeface="+mn-cs"/>
          <a:sym typeface="Gill Sans Light"/>
        </a:defRPr>
      </a:lvl2pPr>
      <a:lvl3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0" b="0" i="0" u="none" strike="noStrike" cap="all" spc="0" baseline="0">
          <a:solidFill>
            <a:srgbClr val="535353"/>
          </a:solidFill>
          <a:uFillTx/>
          <a:latin typeface="+mn-lt"/>
          <a:ea typeface="+mn-ea"/>
          <a:cs typeface="+mn-cs"/>
          <a:sym typeface="Gill Sans Light"/>
        </a:defRPr>
      </a:lvl3pPr>
      <a:lvl4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0" b="0" i="0" u="none" strike="noStrike" cap="all" spc="0" baseline="0">
          <a:solidFill>
            <a:srgbClr val="535353"/>
          </a:solidFill>
          <a:uFillTx/>
          <a:latin typeface="+mn-lt"/>
          <a:ea typeface="+mn-ea"/>
          <a:cs typeface="+mn-cs"/>
          <a:sym typeface="Gill Sans Light"/>
        </a:defRPr>
      </a:lvl4pPr>
      <a:lvl5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0" b="0" i="0" u="none" strike="noStrike" cap="all" spc="0" baseline="0">
          <a:solidFill>
            <a:srgbClr val="535353"/>
          </a:solidFill>
          <a:uFillTx/>
          <a:latin typeface="+mn-lt"/>
          <a:ea typeface="+mn-ea"/>
          <a:cs typeface="+mn-cs"/>
          <a:sym typeface="Gill Sans Light"/>
        </a:defRPr>
      </a:lvl5pPr>
      <a:lvl6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0" b="0" i="0" u="none" strike="noStrike" cap="all" spc="0" baseline="0">
          <a:solidFill>
            <a:srgbClr val="535353"/>
          </a:solidFill>
          <a:uFillTx/>
          <a:latin typeface="+mn-lt"/>
          <a:ea typeface="+mn-ea"/>
          <a:cs typeface="+mn-cs"/>
          <a:sym typeface="Gill Sans Light"/>
        </a:defRPr>
      </a:lvl6pPr>
      <a:lvl7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0" b="0" i="0" u="none" strike="noStrike" cap="all" spc="0" baseline="0">
          <a:solidFill>
            <a:srgbClr val="535353"/>
          </a:solidFill>
          <a:uFillTx/>
          <a:latin typeface="+mn-lt"/>
          <a:ea typeface="+mn-ea"/>
          <a:cs typeface="+mn-cs"/>
          <a:sym typeface="Gill Sans Light"/>
        </a:defRPr>
      </a:lvl7pPr>
      <a:lvl8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0" b="0" i="0" u="none" strike="noStrike" cap="all" spc="0" baseline="0">
          <a:solidFill>
            <a:srgbClr val="535353"/>
          </a:solidFill>
          <a:uFillTx/>
          <a:latin typeface="+mn-lt"/>
          <a:ea typeface="+mn-ea"/>
          <a:cs typeface="+mn-cs"/>
          <a:sym typeface="Gill Sans Light"/>
        </a:defRPr>
      </a:lvl8pPr>
      <a:lvl9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0" b="0" i="0" u="none" strike="noStrike" cap="all" spc="0" baseline="0">
          <a:solidFill>
            <a:srgbClr val="535353"/>
          </a:solidFill>
          <a:uFillTx/>
          <a:latin typeface="+mn-lt"/>
          <a:ea typeface="+mn-ea"/>
          <a:cs typeface="+mn-cs"/>
          <a:sym typeface="Gill Sans Light"/>
        </a:defRPr>
      </a:lvl9pPr>
    </p:titleStyle>
    <p:bodyStyle>
      <a:lvl1pPr marL="584200" marR="0" indent="-584200" algn="l" defTabSz="825500" rtl="0" latinLnBrk="0">
        <a:lnSpc>
          <a:spcPct val="100000"/>
        </a:lnSpc>
        <a:spcBef>
          <a:spcPts val="5300"/>
        </a:spcBef>
        <a:spcAft>
          <a:spcPts val="0"/>
        </a:spcAft>
        <a:buClrTx/>
        <a:buSzPct val="82000"/>
        <a:buFontTx/>
        <a:buChar char="•"/>
        <a:tabLst/>
        <a:defRPr sz="5200" b="0" i="0" u="none" strike="noStrike" cap="none" spc="0" baseline="0">
          <a:solidFill>
            <a:srgbClr val="535353"/>
          </a:solidFill>
          <a:uFillTx/>
          <a:latin typeface="+mn-lt"/>
          <a:ea typeface="+mn-ea"/>
          <a:cs typeface="+mn-cs"/>
          <a:sym typeface="Gill Sans Light"/>
        </a:defRPr>
      </a:lvl1pPr>
      <a:lvl2pPr marL="1168400" marR="0" indent="-584200" algn="l" defTabSz="825500" rtl="0" latinLnBrk="0">
        <a:lnSpc>
          <a:spcPct val="100000"/>
        </a:lnSpc>
        <a:spcBef>
          <a:spcPts val="5300"/>
        </a:spcBef>
        <a:spcAft>
          <a:spcPts val="0"/>
        </a:spcAft>
        <a:buClrTx/>
        <a:buSzPct val="82000"/>
        <a:buFontTx/>
        <a:buChar char="•"/>
        <a:tabLst/>
        <a:defRPr sz="5200" b="0" i="0" u="none" strike="noStrike" cap="none" spc="0" baseline="0">
          <a:solidFill>
            <a:srgbClr val="535353"/>
          </a:solidFill>
          <a:uFillTx/>
          <a:latin typeface="+mn-lt"/>
          <a:ea typeface="+mn-ea"/>
          <a:cs typeface="+mn-cs"/>
          <a:sym typeface="Gill Sans Light"/>
        </a:defRPr>
      </a:lvl2pPr>
      <a:lvl3pPr marL="1752600" marR="0" indent="-584200" algn="l" defTabSz="825500" rtl="0" latinLnBrk="0">
        <a:lnSpc>
          <a:spcPct val="100000"/>
        </a:lnSpc>
        <a:spcBef>
          <a:spcPts val="5300"/>
        </a:spcBef>
        <a:spcAft>
          <a:spcPts val="0"/>
        </a:spcAft>
        <a:buClrTx/>
        <a:buSzPct val="82000"/>
        <a:buFontTx/>
        <a:buChar char="•"/>
        <a:tabLst/>
        <a:defRPr sz="5200" b="0" i="0" u="none" strike="noStrike" cap="none" spc="0" baseline="0">
          <a:solidFill>
            <a:srgbClr val="535353"/>
          </a:solidFill>
          <a:uFillTx/>
          <a:latin typeface="+mn-lt"/>
          <a:ea typeface="+mn-ea"/>
          <a:cs typeface="+mn-cs"/>
          <a:sym typeface="Gill Sans Light"/>
        </a:defRPr>
      </a:lvl3pPr>
      <a:lvl4pPr marL="2336800" marR="0" indent="-584200" algn="l" defTabSz="825500" rtl="0" latinLnBrk="0">
        <a:lnSpc>
          <a:spcPct val="100000"/>
        </a:lnSpc>
        <a:spcBef>
          <a:spcPts val="5300"/>
        </a:spcBef>
        <a:spcAft>
          <a:spcPts val="0"/>
        </a:spcAft>
        <a:buClrTx/>
        <a:buSzPct val="82000"/>
        <a:buFontTx/>
        <a:buChar char="•"/>
        <a:tabLst/>
        <a:defRPr sz="5200" b="0" i="0" u="none" strike="noStrike" cap="none" spc="0" baseline="0">
          <a:solidFill>
            <a:srgbClr val="535353"/>
          </a:solidFill>
          <a:uFillTx/>
          <a:latin typeface="+mn-lt"/>
          <a:ea typeface="+mn-ea"/>
          <a:cs typeface="+mn-cs"/>
          <a:sym typeface="Gill Sans Light"/>
        </a:defRPr>
      </a:lvl4pPr>
      <a:lvl5pPr marL="2921000" marR="0" indent="-584200" algn="l" defTabSz="825500" rtl="0" latinLnBrk="0">
        <a:lnSpc>
          <a:spcPct val="100000"/>
        </a:lnSpc>
        <a:spcBef>
          <a:spcPts val="5300"/>
        </a:spcBef>
        <a:spcAft>
          <a:spcPts val="0"/>
        </a:spcAft>
        <a:buClrTx/>
        <a:buSzPct val="82000"/>
        <a:buFontTx/>
        <a:buChar char="•"/>
        <a:tabLst/>
        <a:defRPr sz="5200" b="0" i="0" u="none" strike="noStrike" cap="none" spc="0" baseline="0">
          <a:solidFill>
            <a:srgbClr val="535353"/>
          </a:solidFill>
          <a:uFillTx/>
          <a:latin typeface="+mn-lt"/>
          <a:ea typeface="+mn-ea"/>
          <a:cs typeface="+mn-cs"/>
          <a:sym typeface="Gill Sans Light"/>
        </a:defRPr>
      </a:lvl5pPr>
      <a:lvl6pPr marL="3505200" marR="0" indent="-584200" algn="l" defTabSz="825500" rtl="0" latinLnBrk="0">
        <a:lnSpc>
          <a:spcPct val="100000"/>
        </a:lnSpc>
        <a:spcBef>
          <a:spcPts val="5300"/>
        </a:spcBef>
        <a:spcAft>
          <a:spcPts val="0"/>
        </a:spcAft>
        <a:buClrTx/>
        <a:buSzPct val="82000"/>
        <a:buFontTx/>
        <a:buChar char="•"/>
        <a:tabLst/>
        <a:defRPr sz="5200" b="0" i="0" u="none" strike="noStrike" cap="none" spc="0" baseline="0">
          <a:solidFill>
            <a:srgbClr val="535353"/>
          </a:solidFill>
          <a:uFillTx/>
          <a:latin typeface="+mn-lt"/>
          <a:ea typeface="+mn-ea"/>
          <a:cs typeface="+mn-cs"/>
          <a:sym typeface="Gill Sans Light"/>
        </a:defRPr>
      </a:lvl6pPr>
      <a:lvl7pPr marL="4089400" marR="0" indent="-584200" algn="l" defTabSz="825500" rtl="0" latinLnBrk="0">
        <a:lnSpc>
          <a:spcPct val="100000"/>
        </a:lnSpc>
        <a:spcBef>
          <a:spcPts val="5300"/>
        </a:spcBef>
        <a:spcAft>
          <a:spcPts val="0"/>
        </a:spcAft>
        <a:buClrTx/>
        <a:buSzPct val="82000"/>
        <a:buFontTx/>
        <a:buChar char="•"/>
        <a:tabLst/>
        <a:defRPr sz="5200" b="0" i="0" u="none" strike="noStrike" cap="none" spc="0" baseline="0">
          <a:solidFill>
            <a:srgbClr val="535353"/>
          </a:solidFill>
          <a:uFillTx/>
          <a:latin typeface="+mn-lt"/>
          <a:ea typeface="+mn-ea"/>
          <a:cs typeface="+mn-cs"/>
          <a:sym typeface="Gill Sans Light"/>
        </a:defRPr>
      </a:lvl7pPr>
      <a:lvl8pPr marL="4673600" marR="0" indent="-584200" algn="l" defTabSz="825500" rtl="0" latinLnBrk="0">
        <a:lnSpc>
          <a:spcPct val="100000"/>
        </a:lnSpc>
        <a:spcBef>
          <a:spcPts val="5300"/>
        </a:spcBef>
        <a:spcAft>
          <a:spcPts val="0"/>
        </a:spcAft>
        <a:buClrTx/>
        <a:buSzPct val="82000"/>
        <a:buFontTx/>
        <a:buChar char="•"/>
        <a:tabLst/>
        <a:defRPr sz="5200" b="0" i="0" u="none" strike="noStrike" cap="none" spc="0" baseline="0">
          <a:solidFill>
            <a:srgbClr val="535353"/>
          </a:solidFill>
          <a:uFillTx/>
          <a:latin typeface="+mn-lt"/>
          <a:ea typeface="+mn-ea"/>
          <a:cs typeface="+mn-cs"/>
          <a:sym typeface="Gill Sans Light"/>
        </a:defRPr>
      </a:lvl8pPr>
      <a:lvl9pPr marL="5257800" marR="0" indent="-584200" algn="l" defTabSz="825500" rtl="0" latinLnBrk="0">
        <a:lnSpc>
          <a:spcPct val="100000"/>
        </a:lnSpc>
        <a:spcBef>
          <a:spcPts val="5300"/>
        </a:spcBef>
        <a:spcAft>
          <a:spcPts val="0"/>
        </a:spcAft>
        <a:buClrTx/>
        <a:buSzPct val="82000"/>
        <a:buFontTx/>
        <a:buChar char="•"/>
        <a:tabLst/>
        <a:defRPr sz="5200" b="0" i="0" u="none" strike="noStrike" cap="none" spc="0" baseline="0">
          <a:solidFill>
            <a:srgbClr val="535353"/>
          </a:solidFill>
          <a:uFillTx/>
          <a:latin typeface="+mn-lt"/>
          <a:ea typeface="+mn-ea"/>
          <a:cs typeface="+mn-cs"/>
          <a:sym typeface="Gill Sans Light"/>
        </a:defRPr>
      </a:lvl9pPr>
    </p:bodyStyle>
    <p:otherStyle>
      <a:lvl1pPr marL="0" marR="0" indent="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ill Sans Light"/>
        </a:defRPr>
      </a:lvl1pPr>
      <a:lvl2pPr marL="0" marR="0" indent="2286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ill Sans Light"/>
        </a:defRPr>
      </a:lvl2pPr>
      <a:lvl3pPr marL="0" marR="0" indent="4572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ill Sans Light"/>
        </a:defRPr>
      </a:lvl3pPr>
      <a:lvl4pPr marL="0" marR="0" indent="6858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ill Sans Light"/>
        </a:defRPr>
      </a:lvl4pPr>
      <a:lvl5pPr marL="0" marR="0" indent="9144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ill Sans Light"/>
        </a:defRPr>
      </a:lvl5pPr>
      <a:lvl6pPr marL="0" marR="0" indent="11430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ill Sans Light"/>
        </a:defRPr>
      </a:lvl6pPr>
      <a:lvl7pPr marL="0" marR="0" indent="13716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ill Sans Light"/>
        </a:defRPr>
      </a:lvl7pPr>
      <a:lvl8pPr marL="0" marR="0" indent="16002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ill Sans Light"/>
        </a:defRPr>
      </a:lvl8pPr>
      <a:lvl9pPr marL="0" marR="0" indent="18288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ill Sans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Quantum Leap"/>
          <p:cNvSpPr txBox="1">
            <a:spLocks noGrp="1"/>
          </p:cNvSpPr>
          <p:nvPr>
            <p:ph type="ctrTitle"/>
          </p:nvPr>
        </p:nvSpPr>
        <p:spPr>
          <a:xfrm>
            <a:off x="673100" y="35366"/>
            <a:ext cx="23050500" cy="4559301"/>
          </a:xfrm>
          <a:prstGeom prst="rect">
            <a:avLst/>
          </a:prstGeom>
        </p:spPr>
        <p:txBody>
          <a:bodyPr anchor="ctr"/>
          <a:lstStyle/>
          <a:p>
            <a:r>
              <a:t>Quantum Leap</a:t>
            </a:r>
          </a:p>
        </p:txBody>
      </p:sp>
      <p:sp>
        <p:nvSpPr>
          <p:cNvPr id="138" name="Building Real Quantum Programs with Python"/>
          <p:cNvSpPr txBox="1">
            <a:spLocks noGrp="1"/>
          </p:cNvSpPr>
          <p:nvPr>
            <p:ph type="subTitle" sz="quarter" idx="1"/>
          </p:nvPr>
        </p:nvSpPr>
        <p:spPr>
          <a:xfrm>
            <a:off x="673100" y="4581966"/>
            <a:ext cx="23050500" cy="1816101"/>
          </a:xfrm>
          <a:prstGeom prst="rect">
            <a:avLst/>
          </a:prstGeom>
        </p:spPr>
        <p:txBody>
          <a:bodyPr/>
          <a:lstStyle>
            <a:lvl1pPr defTabSz="610870">
              <a:defRPr sz="7400" cap="all"/>
            </a:lvl1pPr>
          </a:lstStyle>
          <a:p>
            <a:r>
              <a:t>Building Real Quantum Programs with Python</a:t>
            </a:r>
          </a:p>
        </p:txBody>
      </p:sp>
      <p:sp>
        <p:nvSpPr>
          <p:cNvPr id="139" name="Beilak Aliev…"/>
          <p:cNvSpPr txBox="1"/>
          <p:nvPr/>
        </p:nvSpPr>
        <p:spPr>
          <a:xfrm>
            <a:off x="660400" y="11641020"/>
            <a:ext cx="23063200" cy="1816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defRPr sz="5000"/>
            </a:pPr>
            <a:r>
              <a:t>Beilak Aliev 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defRPr sz="5000"/>
            </a:pPr>
            <a:r>
              <a:t>Team Lead</a:t>
            </a:r>
          </a:p>
        </p:txBody>
      </p:sp>
      <p:pic>
        <p:nvPicPr>
          <p:cNvPr id="140" name="Quantum Serpent Glass Cube.png" descr="Quantum Serpent Glass Cu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2856" y="6858000"/>
            <a:ext cx="7218288" cy="721828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Profile view of a red Ducati motorcycle" descr="Profile view of a red Ducati motorcycle"/>
          <p:cNvPicPr>
            <a:picLocks noGrp="1" noChangeAspect="1"/>
          </p:cNvPicPr>
          <p:nvPr>
            <p:ph type="pic" idx="21"/>
          </p:nvPr>
        </p:nvPicPr>
        <p:blipFill>
          <a:blip r:embed="rId2"/>
          <a:srcRect l="7808"/>
          <a:stretch>
            <a:fillRect/>
          </a:stretch>
        </p:blipFill>
        <p:spPr>
          <a:xfrm>
            <a:off x="12759122" y="1409700"/>
            <a:ext cx="10045701" cy="10896601"/>
          </a:xfrm>
          <a:prstGeom prst="rect">
            <a:avLst/>
          </a:prstGeom>
        </p:spPr>
      </p:pic>
      <p:sp>
        <p:nvSpPr>
          <p:cNvPr id="143" name="Beilak Aliev"/>
          <p:cNvSpPr txBox="1">
            <a:spLocks noGrp="1"/>
          </p:cNvSpPr>
          <p:nvPr>
            <p:ph type="title"/>
          </p:nvPr>
        </p:nvSpPr>
        <p:spPr>
          <a:xfrm>
            <a:off x="724463" y="2305098"/>
            <a:ext cx="11049001" cy="1854008"/>
          </a:xfrm>
          <a:prstGeom prst="rect">
            <a:avLst/>
          </a:prstGeom>
        </p:spPr>
        <p:txBody>
          <a:bodyPr/>
          <a:lstStyle/>
          <a:p>
            <a:r>
              <a:t>Beilak Aliev</a:t>
            </a:r>
          </a:p>
        </p:txBody>
      </p:sp>
      <p:sp>
        <p:nvSpPr>
          <p:cNvPr id="144" name="12+ years in software engineering…"/>
          <p:cNvSpPr txBox="1">
            <a:spLocks noGrp="1"/>
          </p:cNvSpPr>
          <p:nvPr>
            <p:ph type="body" sz="half" idx="1"/>
          </p:nvPr>
        </p:nvSpPr>
        <p:spPr>
          <a:xfrm>
            <a:off x="236508" y="5949901"/>
            <a:ext cx="14164227" cy="5461001"/>
          </a:xfrm>
          <a:prstGeom prst="rect">
            <a:avLst/>
          </a:prstGeom>
        </p:spPr>
        <p:txBody>
          <a:bodyPr anchor="ctr"/>
          <a:lstStyle/>
          <a:p>
            <a:pPr marL="254000" indent="-254000" algn="l">
              <a:lnSpc>
                <a:spcPct val="120000"/>
              </a:lnSpc>
              <a:spcBef>
                <a:spcPts val="6000"/>
              </a:spcBef>
              <a:buClr>
                <a:srgbClr val="535353"/>
              </a:buClr>
              <a:buSzPct val="80000"/>
              <a:buChar char="•"/>
              <a:defRPr sz="5300"/>
            </a:pPr>
            <a:r>
              <a:t>12+ years in software engineering</a:t>
            </a:r>
          </a:p>
          <a:p>
            <a:pPr marL="254000" indent="-254000" algn="l">
              <a:lnSpc>
                <a:spcPct val="120000"/>
              </a:lnSpc>
              <a:spcBef>
                <a:spcPts val="6000"/>
              </a:spcBef>
              <a:buClr>
                <a:srgbClr val="535353"/>
              </a:buClr>
              <a:buSzPct val="80000"/>
              <a:buChar char="•"/>
              <a:defRPr sz="5300"/>
            </a:pPr>
            <a:r>
              <a:t>Team Lead on weekdays</a:t>
            </a:r>
          </a:p>
          <a:p>
            <a:pPr marL="254000" indent="-254000" algn="l">
              <a:lnSpc>
                <a:spcPct val="120000"/>
              </a:lnSpc>
              <a:spcBef>
                <a:spcPts val="6000"/>
              </a:spcBef>
              <a:buClr>
                <a:srgbClr val="535353"/>
              </a:buClr>
              <a:buSzPct val="80000"/>
              <a:buChar char="•"/>
              <a:defRPr sz="5300"/>
            </a:pPr>
            <a:r>
              <a:t>Quantum computing researcher on Saturdays</a:t>
            </a:r>
          </a:p>
        </p:txBody>
      </p:sp>
      <p:pic>
        <p:nvPicPr>
          <p:cNvPr id="145" name="Quantum Serpent Glass Cube.png" descr="Quantum Serpent Glass 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95235" y="12007090"/>
            <a:ext cx="1665735" cy="166573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history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history</a:t>
            </a:r>
          </a:p>
        </p:txBody>
      </p:sp>
      <p:pic>
        <p:nvPicPr>
          <p:cNvPr id="148" name="Quantum Serpent Glass Cube.png" descr="Quantum Serpent Glass Cu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95236" y="12007090"/>
            <a:ext cx="1665735" cy="166573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QUANTUM MILESTON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QUANTUM MILESTONES</a:t>
            </a:r>
          </a:p>
        </p:txBody>
      </p:sp>
      <p:sp>
        <p:nvSpPr>
          <p:cNvPr id="151" name="1980…"/>
          <p:cNvSpPr txBox="1"/>
          <p:nvPr/>
        </p:nvSpPr>
        <p:spPr>
          <a:xfrm>
            <a:off x="1358900" y="3352799"/>
            <a:ext cx="4064000" cy="98298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5600"/>
            </a:pPr>
            <a:r>
              <a:t>1980</a:t>
            </a:r>
          </a:p>
          <a:p>
            <a:pPr>
              <a:defRPr sz="5600"/>
            </a:pPr>
            <a:r>
              <a:t>1982</a:t>
            </a:r>
          </a:p>
          <a:p>
            <a:pPr>
              <a:defRPr sz="5600"/>
            </a:pPr>
            <a:r>
              <a:t>1994</a:t>
            </a:r>
          </a:p>
          <a:p>
            <a:pPr>
              <a:defRPr sz="5600"/>
            </a:pPr>
            <a:r>
              <a:t>1996</a:t>
            </a:r>
          </a:p>
          <a:p>
            <a:pPr>
              <a:defRPr sz="5600"/>
            </a:pPr>
            <a:r>
              <a:t>2022</a:t>
            </a:r>
          </a:p>
          <a:p>
            <a:pPr>
              <a:defRPr sz="5600"/>
            </a:pPr>
            <a:r>
              <a:t>2023</a:t>
            </a:r>
          </a:p>
        </p:txBody>
      </p:sp>
      <p:sp>
        <p:nvSpPr>
          <p:cNvPr id="152" name="Yuri Manin…"/>
          <p:cNvSpPr txBox="1"/>
          <p:nvPr/>
        </p:nvSpPr>
        <p:spPr>
          <a:xfrm>
            <a:off x="5638800" y="3069001"/>
            <a:ext cx="16764000" cy="103973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5600"/>
            </a:pPr>
            <a:r>
              <a:rPr dirty="0"/>
              <a:t>Yuri Manin</a:t>
            </a:r>
          </a:p>
          <a:p>
            <a:pPr>
              <a:defRPr sz="5600"/>
            </a:pPr>
            <a:r>
              <a:rPr dirty="0"/>
              <a:t>Richard Feynman</a:t>
            </a:r>
          </a:p>
          <a:p>
            <a:pPr>
              <a:defRPr sz="5600"/>
            </a:pPr>
            <a:r>
              <a:rPr dirty="0"/>
              <a:t>Peter Shor: factoring algorithm</a:t>
            </a:r>
          </a:p>
          <a:p>
            <a:pPr>
              <a:defRPr sz="5600"/>
            </a:pPr>
            <a:r>
              <a:rPr dirty="0"/>
              <a:t>Grover’s search: O(√</a:t>
            </a:r>
            <a:r>
              <a:rPr lang="en-US" dirty="0"/>
              <a:t>N</a:t>
            </a:r>
            <a:r>
              <a:rPr dirty="0"/>
              <a:t>)</a:t>
            </a:r>
          </a:p>
          <a:p>
            <a:pPr>
              <a:defRPr sz="5600"/>
            </a:pPr>
            <a:r>
              <a:rPr dirty="0"/>
              <a:t>433 qubits</a:t>
            </a:r>
          </a:p>
          <a:p>
            <a:pPr>
              <a:defRPr sz="5600"/>
            </a:pPr>
            <a:r>
              <a:rPr dirty="0"/>
              <a:t>1121 qubits</a:t>
            </a:r>
          </a:p>
        </p:txBody>
      </p:sp>
      <p:sp>
        <p:nvSpPr>
          <p:cNvPr id="153" name="Line"/>
          <p:cNvSpPr/>
          <p:nvPr/>
        </p:nvSpPr>
        <p:spPr>
          <a:xfrm flipH="1">
            <a:off x="5118099" y="3390501"/>
            <a:ext cx="1" cy="10147700"/>
          </a:xfrm>
          <a:prstGeom prst="line">
            <a:avLst/>
          </a:prstGeom>
          <a:ln w="25400">
            <a:solidFill>
              <a:srgbClr val="5A5F5E">
                <a:alpha val="35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defRPr sz="5000"/>
            </a:pPr>
            <a:endParaRPr/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Where Can Quantum Computing Benefit Business?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Where Can Quantum Computing Benefit Business?</a:t>
            </a:r>
          </a:p>
        </p:txBody>
      </p:sp>
      <p:pic>
        <p:nvPicPr>
          <p:cNvPr id="156" name="Quantum Serpent Glass Cube.png" descr="Quantum Serpent Glass Cu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95236" y="12007090"/>
            <a:ext cx="1665735" cy="166573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Benefi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Benefit</a:t>
            </a:r>
          </a:p>
        </p:txBody>
      </p:sp>
      <p:graphicFrame>
        <p:nvGraphicFramePr>
          <p:cNvPr id="159" name="Table 1"/>
          <p:cNvGraphicFramePr/>
          <p:nvPr>
            <p:extLst>
              <p:ext uri="{D42A27DB-BD31-4B8C-83A1-F6EECF244321}">
                <p14:modId xmlns:p14="http://schemas.microsoft.com/office/powerpoint/2010/main" val="1571750687"/>
              </p:ext>
            </p:extLst>
          </p:nvPr>
        </p:nvGraphicFramePr>
        <p:xfrm>
          <a:off x="1077196" y="4297558"/>
          <a:ext cx="22592375" cy="915705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4579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096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03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2617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Bef>
                          <a:spcPts val="6500"/>
                        </a:spcBef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4000" b="1">
                          <a:solidFill>
                            <a:srgbClr val="535353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Industry</a:t>
                      </a:r>
                    </a:p>
                  </a:txBody>
                  <a:tcPr marL="12700" marR="12700" marT="12700" marB="12700" anchor="ctr" horzOverflow="overflow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Bef>
                          <a:spcPts val="6500"/>
                        </a:spcBef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4000" b="1">
                          <a:solidFill>
                            <a:srgbClr val="535353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Business problems</a:t>
                      </a:r>
                    </a:p>
                  </a:txBody>
                  <a:tcPr marL="12700" marR="12700" marT="12700" marB="12700" anchor="ctr" horzOverflow="overflow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Bef>
                          <a:spcPts val="6500"/>
                        </a:spcBef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4000" b="1">
                          <a:solidFill>
                            <a:srgbClr val="535353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Potential value</a:t>
                      </a:r>
                    </a:p>
                  </a:txBody>
                  <a:tcPr marL="12700" marR="12700" marT="12700" marB="12700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26175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6500"/>
                        </a:spcBef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4000" b="1" dirty="0">
                          <a:solidFill>
                            <a:srgbClr val="535353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Pharmaceuticals</a:t>
                      </a:r>
                    </a:p>
                  </a:txBody>
                  <a:tcPr marL="12700" marR="12700" marT="12700" marB="12700" anchor="ctr" horzOverflow="overflow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6500"/>
                        </a:spcBef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4000">
                          <a:solidFill>
                            <a:srgbClr val="535353"/>
                          </a:solidFill>
                        </a:rPr>
                        <a:t>Drug discovery, molecular simulation, chemical reactions</a:t>
                      </a:r>
                    </a:p>
                  </a:txBody>
                  <a:tcPr marL="12700" marR="12700" marT="12700" marB="12700" anchor="ctr" horzOverflow="overflow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6500"/>
                        </a:spcBef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4000">
                          <a:solidFill>
                            <a:srgbClr val="535353"/>
                          </a:solidFill>
                        </a:rPr>
                        <a:t>Faster research and development of new medicines</a:t>
                      </a:r>
                    </a:p>
                  </a:txBody>
                  <a:tcPr marL="12700" marR="12700" marT="12700" marB="12700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26175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6500"/>
                        </a:spcBef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4000" b="1">
                          <a:solidFill>
                            <a:srgbClr val="535353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Materials</a:t>
                      </a:r>
                    </a:p>
                  </a:txBody>
                  <a:tcPr marL="12700" marR="12700" marT="12700" marB="12700" anchor="ctr" horzOverflow="overflow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6500"/>
                        </a:spcBef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4000">
                          <a:solidFill>
                            <a:srgbClr val="535353"/>
                          </a:solidFill>
                        </a:rPr>
                        <a:t>Battery development, new materials, chemical catalysts</a:t>
                      </a:r>
                    </a:p>
                  </a:txBody>
                  <a:tcPr marL="12700" marR="12700" marT="12700" marB="12700" anchor="ctr" horzOverflow="overflow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6500"/>
                        </a:spcBef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4000">
                          <a:solidFill>
                            <a:srgbClr val="535353"/>
                          </a:solidFill>
                        </a:rPr>
                        <a:t>Discover better materials</a:t>
                      </a:r>
                    </a:p>
                  </a:txBody>
                  <a:tcPr marL="12700" marR="12700" marT="12700" marB="12700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26175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6500"/>
                        </a:spcBef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4000" b="1">
                          <a:solidFill>
                            <a:srgbClr val="535353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Finance</a:t>
                      </a:r>
                    </a:p>
                  </a:txBody>
                  <a:tcPr marL="12700" marR="12700" marT="12700" marB="12700" anchor="ctr" horzOverflow="overflow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6500"/>
                        </a:spcBef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4000">
                          <a:solidFill>
                            <a:srgbClr val="535353"/>
                          </a:solidFill>
                        </a:rPr>
                        <a:t>Risk analysis, Monte Carlo simulations, portfolio optimization</a:t>
                      </a:r>
                    </a:p>
                  </a:txBody>
                  <a:tcPr marL="12700" marR="12700" marT="12700" marB="12700" anchor="ctr" horzOverflow="overflow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6500"/>
                        </a:spcBef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4000">
                          <a:solidFill>
                            <a:srgbClr val="535353"/>
                          </a:solidFill>
                        </a:rPr>
                        <a:t>Faster risk calculations and more complex financial models</a:t>
                      </a:r>
                    </a:p>
                  </a:txBody>
                  <a:tcPr marL="12700" marR="12700" marT="12700" marB="12700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26175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6500"/>
                        </a:spcBef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4000" b="1">
                          <a:solidFill>
                            <a:srgbClr val="535353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Logistics</a:t>
                      </a:r>
                    </a:p>
                  </a:txBody>
                  <a:tcPr marL="12700" marR="12700" marT="12700" marB="12700" anchor="ctr" horzOverflow="overflow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6500"/>
                        </a:spcBef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4000">
                          <a:solidFill>
                            <a:srgbClr val="535353"/>
                          </a:solidFill>
                        </a:rPr>
                        <a:t>Route planning, scheduling, resource allocation</a:t>
                      </a:r>
                    </a:p>
                  </a:txBody>
                  <a:tcPr marL="12700" marR="12700" marT="12700" marB="12700" anchor="ctr" horzOverflow="overflow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6500"/>
                        </a:spcBef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4000">
                          <a:solidFill>
                            <a:srgbClr val="535353"/>
                          </a:solidFill>
                        </a:rPr>
                        <a:t>Better use of resources</a:t>
                      </a:r>
                    </a:p>
                  </a:txBody>
                  <a:tcPr marL="12700" marR="12700" marT="12700" marB="12700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26175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6500"/>
                        </a:spcBef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4000" b="1">
                          <a:solidFill>
                            <a:srgbClr val="535353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AI</a:t>
                      </a:r>
                    </a:p>
                  </a:txBody>
                  <a:tcPr marL="12700" marR="12700" marT="12700" marB="12700" anchor="ctr" horzOverflow="overflow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6500"/>
                        </a:spcBef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4000">
                          <a:solidFill>
                            <a:srgbClr val="535353"/>
                          </a:solidFill>
                        </a:rPr>
                        <a:t>Classification, anomaly detection</a:t>
                      </a:r>
                    </a:p>
                  </a:txBody>
                  <a:tcPr marL="12700" marR="12700" marT="12700" marB="12700" anchor="ctr" horzOverflow="overflow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6500"/>
                        </a:spcBef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4000" dirty="0">
                          <a:solidFill>
                            <a:srgbClr val="535353"/>
                          </a:solidFill>
                        </a:rPr>
                        <a:t>Potential advantages in specific ML tasks</a:t>
                      </a:r>
                    </a:p>
                  </a:txBody>
                  <a:tcPr marL="12700" marR="12700" marT="12700" marB="12700" anchor="ctr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Quantum advantag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Quantum advantage</a:t>
            </a:r>
          </a:p>
        </p:txBody>
      </p:sp>
      <p:pic>
        <p:nvPicPr>
          <p:cNvPr id="162" name="Quantum Serpent Glass Cube.png" descr="Quantum Serpent Glass Cu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95236" y="12007090"/>
            <a:ext cx="1665735" cy="166573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Quantum advantag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Quantum advantage</a:t>
            </a:r>
          </a:p>
        </p:txBody>
      </p:sp>
      <p:sp>
        <p:nvSpPr>
          <p:cNvPr id="165" name="Quantum computers solve specific types of problems."/>
          <p:cNvSpPr txBox="1">
            <a:spLocks noGrp="1"/>
          </p:cNvSpPr>
          <p:nvPr>
            <p:ph type="body" sz="quarter" idx="1"/>
          </p:nvPr>
        </p:nvSpPr>
        <p:spPr>
          <a:xfrm>
            <a:off x="673100" y="3403600"/>
            <a:ext cx="23050500" cy="1014137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SzTx/>
              <a:buNone/>
              <a:defRPr sz="5200"/>
            </a:lvl1pPr>
          </a:lstStyle>
          <a:p>
            <a:r>
              <a:t>Quantum computers solve specific types of problems.</a:t>
            </a:r>
          </a:p>
        </p:txBody>
      </p:sp>
      <p:graphicFrame>
        <p:nvGraphicFramePr>
          <p:cNvPr id="166" name="Table 1"/>
          <p:cNvGraphicFramePr/>
          <p:nvPr>
            <p:extLst>
              <p:ext uri="{D42A27DB-BD31-4B8C-83A1-F6EECF244321}">
                <p14:modId xmlns:p14="http://schemas.microsoft.com/office/powerpoint/2010/main" val="2517195093"/>
              </p:ext>
            </p:extLst>
          </p:nvPr>
        </p:nvGraphicFramePr>
        <p:xfrm>
          <a:off x="1353977" y="5591447"/>
          <a:ext cx="22740666" cy="7647954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53246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336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822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74659">
                <a:tc>
                  <a:txBody>
                    <a:bodyPr/>
                    <a:lstStyle/>
                    <a:p>
                      <a:pPr>
                        <a:spcBef>
                          <a:spcPts val="5300"/>
                        </a:spcBef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3400" b="1">
                          <a:solidFill>
                            <a:srgbClr val="535353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Problem type</a:t>
                      </a:r>
                    </a:p>
                  </a:txBody>
                  <a:tcPr marL="12700" marR="12700" marT="12700" marB="12700" anchor="ctr" horzOverflow="overflow"/>
                </a:tc>
                <a:tc>
                  <a:txBody>
                    <a:bodyPr/>
                    <a:lstStyle/>
                    <a:p>
                      <a:pPr>
                        <a:spcBef>
                          <a:spcPts val="5300"/>
                        </a:spcBef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3400" b="1">
                          <a:solidFill>
                            <a:srgbClr val="535353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Quantum algorithms</a:t>
                      </a:r>
                    </a:p>
                  </a:txBody>
                  <a:tcPr marL="12700" marR="12700" marT="12700" marB="12700" anchor="ctr" horzOverflow="overflow"/>
                </a:tc>
                <a:tc>
                  <a:txBody>
                    <a:bodyPr/>
                    <a:lstStyle/>
                    <a:p>
                      <a:pPr>
                        <a:spcBef>
                          <a:spcPts val="5300"/>
                        </a:spcBef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3400" b="1">
                          <a:solidFill>
                            <a:srgbClr val="535353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Potential advantage</a:t>
                      </a:r>
                    </a:p>
                  </a:txBody>
                  <a:tcPr marL="12700" marR="12700" marT="12700" marB="12700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74659">
                <a:tc>
                  <a:txBody>
                    <a:bodyPr/>
                    <a:lstStyle/>
                    <a:p>
                      <a:pPr algn="l">
                        <a:spcBef>
                          <a:spcPts val="5300"/>
                        </a:spcBef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3400">
                          <a:solidFill>
                            <a:srgbClr val="535353"/>
                          </a:solidFill>
                          <a:latin typeface="Gill Sans SemiBold"/>
                          <a:ea typeface="Gill Sans SemiBold"/>
                          <a:cs typeface="Gill Sans SemiBold"/>
                          <a:sym typeface="Gill Sans SemiBold"/>
                        </a:rPr>
                        <a:t>Quantum Simulation</a:t>
                      </a:r>
                    </a:p>
                  </a:txBody>
                  <a:tcPr marL="12700" marR="12700" marT="12700" marB="12700" anchor="ctr" horzOverflow="overflow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5300"/>
                        </a:spcBef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3400">
                          <a:solidFill>
                            <a:srgbClr val="535353"/>
                          </a:solidFill>
                        </a:rPr>
                        <a:t>VQE, Hamiltonian Simulation</a:t>
                      </a:r>
                    </a:p>
                  </a:txBody>
                  <a:tcPr marL="12700" marR="12700" marT="12700" marB="12700" anchor="ctr" horzOverflow="overflow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5300"/>
                        </a:spcBef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3400">
                          <a:solidFill>
                            <a:srgbClr val="535353"/>
                          </a:solidFill>
                        </a:rPr>
                        <a:t>Model molecules and materials that are difficult to simulate classically</a:t>
                      </a:r>
                    </a:p>
                  </a:txBody>
                  <a:tcPr marL="12700" marR="12700" marT="12700" marB="12700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74659">
                <a:tc>
                  <a:txBody>
                    <a:bodyPr/>
                    <a:lstStyle/>
                    <a:p>
                      <a:pPr algn="l">
                        <a:spcBef>
                          <a:spcPts val="5300"/>
                        </a:spcBef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3400">
                          <a:solidFill>
                            <a:srgbClr val="535353"/>
                          </a:solidFill>
                          <a:latin typeface="Gill Sans SemiBold"/>
                          <a:ea typeface="Gill Sans SemiBold"/>
                          <a:cs typeface="Gill Sans SemiBold"/>
                          <a:sym typeface="Gill Sans SemiBold"/>
                        </a:rPr>
                        <a:t>Search</a:t>
                      </a:r>
                    </a:p>
                  </a:txBody>
                  <a:tcPr marL="12700" marR="12700" marT="12700" marB="12700" anchor="ctr" horzOverflow="overflow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5300"/>
                        </a:spcBef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3400">
                          <a:solidFill>
                            <a:srgbClr val="535353"/>
                          </a:solidFill>
                        </a:rPr>
                        <a:t>Grover's Algorithm</a:t>
                      </a:r>
                    </a:p>
                  </a:txBody>
                  <a:tcPr marL="12700" marR="12700" marT="12700" marB="12700" anchor="ctr" horzOverflow="overflow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5300"/>
                        </a:spcBef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3400" dirty="0">
                          <a:solidFill>
                            <a:srgbClr val="535353"/>
                          </a:solidFill>
                        </a:rPr>
                        <a:t>Reduce search complexity from (O(N)) to (O(√</a:t>
                      </a:r>
                      <a:r>
                        <a:rPr lang="en-US" sz="3400" dirty="0">
                          <a:solidFill>
                            <a:srgbClr val="535353"/>
                          </a:solidFill>
                        </a:rPr>
                        <a:t>N</a:t>
                      </a:r>
                      <a:r>
                        <a:rPr sz="3400" dirty="0">
                          <a:solidFill>
                            <a:srgbClr val="535353"/>
                          </a:solidFill>
                        </a:rPr>
                        <a:t>))</a:t>
                      </a:r>
                    </a:p>
                  </a:txBody>
                  <a:tcPr marL="12700" marR="12700" marT="12700" marB="12700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74659">
                <a:tc>
                  <a:txBody>
                    <a:bodyPr/>
                    <a:lstStyle/>
                    <a:p>
                      <a:pPr algn="l">
                        <a:spcBef>
                          <a:spcPts val="5300"/>
                        </a:spcBef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3400">
                          <a:solidFill>
                            <a:srgbClr val="535353"/>
                          </a:solidFill>
                          <a:latin typeface="Gill Sans SemiBold"/>
                          <a:ea typeface="Gill Sans SemiBold"/>
                          <a:cs typeface="Gill Sans SemiBold"/>
                          <a:sym typeface="Gill Sans SemiBold"/>
                        </a:rPr>
                        <a:t>Monte Carlo &amp; Probability</a:t>
                      </a:r>
                    </a:p>
                  </a:txBody>
                  <a:tcPr marL="12700" marR="12700" marT="12700" marB="12700" anchor="ctr" horzOverflow="overflow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5300"/>
                        </a:spcBef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3400">
                          <a:solidFill>
                            <a:srgbClr val="535353"/>
                          </a:solidFill>
                        </a:rPr>
                        <a:t>Amplitude Estimation</a:t>
                      </a:r>
                    </a:p>
                  </a:txBody>
                  <a:tcPr marL="12700" marR="12700" marT="12700" marB="12700" anchor="ctr" horzOverflow="overflow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5300"/>
                        </a:spcBef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3400">
                          <a:solidFill>
                            <a:srgbClr val="535353"/>
                          </a:solidFill>
                        </a:rPr>
                        <a:t>Reduce complexity</a:t>
                      </a:r>
                    </a:p>
                  </a:txBody>
                  <a:tcPr marL="12700" marR="12700" marT="12700" marB="12700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74659">
                <a:tc>
                  <a:txBody>
                    <a:bodyPr/>
                    <a:lstStyle/>
                    <a:p>
                      <a:pPr algn="l">
                        <a:spcBef>
                          <a:spcPts val="5300"/>
                        </a:spcBef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3400">
                          <a:solidFill>
                            <a:srgbClr val="535353"/>
                          </a:solidFill>
                          <a:latin typeface="Gill Sans SemiBold"/>
                          <a:ea typeface="Gill Sans SemiBold"/>
                          <a:cs typeface="Gill Sans SemiBold"/>
                          <a:sym typeface="Gill Sans SemiBold"/>
                        </a:rPr>
                        <a:t>Factorization</a:t>
                      </a:r>
                    </a:p>
                  </a:txBody>
                  <a:tcPr marL="12700" marR="12700" marT="12700" marB="12700" anchor="ctr" horzOverflow="overflow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5300"/>
                        </a:spcBef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3400">
                          <a:solidFill>
                            <a:srgbClr val="535353"/>
                          </a:solidFill>
                        </a:rPr>
                        <a:t>Shor's Algorithm</a:t>
                      </a:r>
                    </a:p>
                  </a:txBody>
                  <a:tcPr marL="12700" marR="12700" marT="12700" marB="12700" anchor="ctr" horzOverflow="overflow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5300"/>
                        </a:spcBef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3400">
                          <a:solidFill>
                            <a:srgbClr val="535353"/>
                          </a:solidFill>
                        </a:rPr>
                        <a:t>Exponential speedup over the best known classical factoring methods, in terms of input length</a:t>
                      </a:r>
                    </a:p>
                  </a:txBody>
                  <a:tcPr marL="12700" marR="12700" marT="12700" marB="12700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74659">
                <a:tc>
                  <a:txBody>
                    <a:bodyPr/>
                    <a:lstStyle/>
                    <a:p>
                      <a:pPr algn="l">
                        <a:spcBef>
                          <a:spcPts val="5300"/>
                        </a:spcBef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3400">
                          <a:solidFill>
                            <a:srgbClr val="535353"/>
                          </a:solidFill>
                          <a:latin typeface="Gill Sans SemiBold"/>
                          <a:ea typeface="Gill Sans SemiBold"/>
                          <a:cs typeface="Gill Sans SemiBold"/>
                          <a:sym typeface="Gill Sans SemiBold"/>
                        </a:rPr>
                        <a:t>Optimization &amp; ML</a:t>
                      </a:r>
                    </a:p>
                  </a:txBody>
                  <a:tcPr marL="12700" marR="12700" marT="12700" marB="12700" anchor="ctr" horzOverflow="overflow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5300"/>
                        </a:spcBef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3400">
                          <a:solidFill>
                            <a:srgbClr val="535353"/>
                          </a:solidFill>
                        </a:rPr>
                        <a:t>QAOA, QNN, VQC</a:t>
                      </a:r>
                    </a:p>
                  </a:txBody>
                  <a:tcPr marL="12700" marR="12700" marT="12700" marB="12700" anchor="ctr" horzOverflow="overflow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5300"/>
                        </a:spcBef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3400" dirty="0">
                          <a:solidFill>
                            <a:srgbClr val="535353"/>
                          </a:solidFill>
                        </a:rPr>
                        <a:t>Potential gains for specific problems; no general advantage demonstrated yet</a:t>
                      </a:r>
                    </a:p>
                  </a:txBody>
                  <a:tcPr marL="12700" marR="12700" marT="12700" marB="12700" anchor="ctr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Mini-theory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Mini-theory</a:t>
            </a:r>
          </a:p>
        </p:txBody>
      </p:sp>
      <p:pic>
        <p:nvPicPr>
          <p:cNvPr id="169" name="Quantum Serpent Glass Cube.png" descr="Quantum Serpent Glass Cu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95236" y="12007090"/>
            <a:ext cx="1665735" cy="166573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image8.png" descr="image8.png"/>
          <p:cNvPicPr>
            <a:picLocks noGrp="1" noChangeAspect="1"/>
          </p:cNvPicPr>
          <p:nvPr>
            <p:ph type="pic" idx="21"/>
          </p:nvPr>
        </p:nvPicPr>
        <p:blipFill>
          <a:blip r:embed="rId2"/>
          <a:srcRect l="8173" r="8173"/>
          <a:stretch>
            <a:fillRect/>
          </a:stretch>
        </p:blipFill>
        <p:spPr>
          <a:xfrm>
            <a:off x="13474700" y="3102371"/>
            <a:ext cx="8712201" cy="10199139"/>
          </a:xfrm>
          <a:prstGeom prst="rect">
            <a:avLst/>
          </a:prstGeom>
        </p:spPr>
      </p:pic>
      <p:sp>
        <p:nvSpPr>
          <p:cNvPr id="172" name="CLASSICAL BIT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CLASSICAL BITS</a:t>
            </a:r>
          </a:p>
        </p:txBody>
      </p:sp>
      <p:sp>
        <p:nvSpPr>
          <p:cNvPr id="173" name="A bit stores 0 or 1…"/>
          <p:cNvSpPr txBox="1">
            <a:spLocks noGrp="1"/>
          </p:cNvSpPr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 bit stores 0 or 1</a:t>
            </a:r>
          </a:p>
          <a:p>
            <a:r>
              <a:t>Voltage: low or high</a:t>
            </a:r>
          </a:p>
          <a:p>
            <a:r>
              <a:t>Switch: off or on</a:t>
            </a: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CLASSICAL LOGIC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CLASSICAL LOGIC</a:t>
            </a:r>
          </a:p>
        </p:txBody>
      </p:sp>
      <p:sp>
        <p:nvSpPr>
          <p:cNvPr id="176" name="Logic gates transform bits…"/>
          <p:cNvSpPr txBox="1">
            <a:spLocks noGrp="1"/>
          </p:cNvSpPr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Logic gates transform bits</a:t>
            </a:r>
          </a:p>
          <a:p>
            <a:r>
              <a:t>XOR outputs 1 when inputs differ</a:t>
            </a:r>
          </a:p>
        </p:txBody>
      </p:sp>
      <p:pic>
        <p:nvPicPr>
          <p:cNvPr id="177" name="classical_logic.png" descr="classical_logic.png"/>
          <p:cNvPicPr>
            <a:picLocks noChangeAspect="1"/>
          </p:cNvPicPr>
          <p:nvPr/>
        </p:nvPicPr>
        <p:blipFill>
          <a:blip r:embed="rId2"/>
          <a:srcRect l="294" r="294"/>
          <a:stretch>
            <a:fillRect/>
          </a:stretch>
        </p:blipFill>
        <p:spPr>
          <a:xfrm>
            <a:off x="13335000" y="5080000"/>
            <a:ext cx="10160001" cy="664307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QUBIT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QUBITS</a:t>
            </a:r>
          </a:p>
        </p:txBody>
      </p:sp>
      <p:sp>
        <p:nvSpPr>
          <p:cNvPr id="180" name="0 and 1 are basis states…"/>
          <p:cNvSpPr txBox="1">
            <a:spLocks noGrp="1"/>
          </p:cNvSpPr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0 and 1 are basis states</a:t>
            </a:r>
          </a:p>
          <a:p>
            <a:r>
              <a:t>Superposition combines both</a:t>
            </a:r>
          </a:p>
          <a:p>
            <a:r>
              <a:t>Measurement yields 0 or 1</a:t>
            </a:r>
          </a:p>
        </p:txBody>
      </p:sp>
      <p:pic>
        <p:nvPicPr>
          <p:cNvPr id="181" name="bloch_sphere.png" descr="bloch_sphe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89000" y="4572000"/>
            <a:ext cx="10795000" cy="6477000"/>
          </a:xfrm>
          <a:prstGeom prst="rect">
            <a:avLst/>
          </a:prstGeom>
          <a:ln w="12700">
            <a:miter lim="400000"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82" name="Equation"/>
              <p:cNvSpPr txBox="1"/>
              <p:nvPr/>
            </p:nvSpPr>
            <p:spPr>
              <a:xfrm>
                <a:off x="10947083" y="6065011"/>
                <a:ext cx="3658234" cy="4405378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914400" latinLnBrk="1">
                  <a:lnSpc>
                    <a:spcPct val="100000"/>
                  </a:lnSpc>
                  <a:spcBef>
                    <a:spcPts val="0"/>
                  </a:spcBef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m>
                        <m:mPr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sz="6400" i="1">
                              <a:solidFill>
                                <a:srgbClr val="525252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 sz="6400" i="1">
                                <a:solidFill>
                                  <a:srgbClr val="525252"/>
                                </a:solidFill>
                                <a:latin typeface="Cambria Math" panose="02040503050406030204" pitchFamily="18" charset="0"/>
                              </a:rPr>
                              <m:t>|0⟩</m:t>
                            </m:r>
                          </m:e>
                          <m:e>
                            <m:r>
                              <a:rPr sz="6400" i="1">
                                <a:solidFill>
                                  <a:srgbClr val="525252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d>
                              <m:dPr>
                                <m:ctrlPr>
                                  <a:rPr sz="6400" i="1">
                                    <a:solidFill>
                                      <a:srgbClr val="52525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eqArr>
                                  <m:eqArrPr>
                                    <m:ctrlPr>
                                      <a:rPr sz="6400" i="1">
                                        <a:solidFill>
                                          <a:srgbClr val="52525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sz="6400" i="1">
                                        <a:solidFill>
                                          <a:srgbClr val="52525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sz="6400" i="1">
                                        <a:solidFill>
                                          <a:srgbClr val="52525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eqArr>
                              </m:e>
                            </m:d>
                          </m:e>
                        </m:mr>
                        <m:mr>
                          <m:e>
                            <m:r>
                              <a:rPr sz="6400" i="1">
                                <a:solidFill>
                                  <a:srgbClr val="525252"/>
                                </a:solidFill>
                                <a:latin typeface="Cambria Math" panose="02040503050406030204" pitchFamily="18" charset="0"/>
                              </a:rPr>
                              <m:t>|1⟩</m:t>
                            </m:r>
                          </m:e>
                          <m:e>
                            <m:r>
                              <a:rPr sz="6400" i="1">
                                <a:solidFill>
                                  <a:srgbClr val="525252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d>
                              <m:dPr>
                                <m:ctrlPr>
                                  <a:rPr sz="6400" i="1">
                                    <a:solidFill>
                                      <a:srgbClr val="52525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eqArr>
                                  <m:eqArrPr>
                                    <m:ctrlPr>
                                      <a:rPr sz="6400" i="1">
                                        <a:solidFill>
                                          <a:srgbClr val="52525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sz="6400" i="1">
                                        <a:solidFill>
                                          <a:srgbClr val="52525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sz="6400" i="1">
                                        <a:solidFill>
                                          <a:srgbClr val="52525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eqArr>
                              </m:e>
                            </m:d>
                          </m:e>
                        </m:mr>
                      </m:m>
                    </m:oMath>
                  </m:oMathPara>
                </a14:m>
                <a:endParaRPr sz="6400">
                  <a:solidFill>
                    <a:srgbClr val="535353"/>
                  </a:solidFill>
                </a:endParaRPr>
              </a:p>
            </p:txBody>
          </p:sp>
        </mc:Choice>
        <mc:Fallback>
          <p:sp>
            <p:nvSpPr>
              <p:cNvPr id="182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47083" y="6065011"/>
                <a:ext cx="3658234" cy="4405378"/>
              </a:xfrm>
              <a:prstGeom prst="rect">
                <a:avLst/>
              </a:prstGeom>
              <a:blipFill>
                <a:blip r:embed="rId3"/>
                <a:stretch>
                  <a:fillRect l="-10381" t="-575" r="-4498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QUANTUM CIRCUI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QUANTUM CIRCUIT</a:t>
            </a:r>
          </a:p>
        </p:txBody>
      </p:sp>
      <p:pic>
        <p:nvPicPr>
          <p:cNvPr id="185" name="quantum_circuit.png" descr="quantum_circu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4064000"/>
            <a:ext cx="21336000" cy="69342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ATES AS MATRICES"/>
          <p:cNvSpPr txBox="1">
            <a:spLocks noGrp="1"/>
          </p:cNvSpPr>
          <p:nvPr>
            <p:ph type="title"/>
          </p:nvPr>
        </p:nvSpPr>
        <p:spPr>
          <a:xfrm>
            <a:off x="673100" y="355600"/>
            <a:ext cx="23050500" cy="3429000"/>
          </a:xfrm>
          <a:prstGeom prst="rect">
            <a:avLst/>
          </a:prstGeom>
        </p:spPr>
        <p:txBody>
          <a:bodyPr/>
          <a:lstStyle/>
          <a:p>
            <a:r>
              <a:t>GATES AS MATRICES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8" name="Equation"/>
              <p:cNvSpPr txBox="1"/>
              <p:nvPr/>
            </p:nvSpPr>
            <p:spPr>
              <a:xfrm>
                <a:off x="3062091" y="5089042"/>
                <a:ext cx="6215166" cy="2242516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914400" latinLnBrk="1">
                  <a:lnSpc>
                    <a:spcPct val="100000"/>
                  </a:lnSpc>
                  <a:spcBef>
                    <a:spcPts val="0"/>
                  </a:spcBef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 sz="6400" i="1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sz="6400" i="1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sz="6400" i="1">
                              <a:solidFill>
                                <a:srgbClr val="52525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6400" i="1">
                              <a:solidFill>
                                <a:srgbClr val="525252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sz="6400" i="1">
                                  <a:solidFill>
                                    <a:srgbClr val="52525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sz="6400" i="1">
                                  <a:solidFill>
                                    <a:srgbClr val="525252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ctrlPr>
                            <a:rPr sz="6400" i="1">
                              <a:solidFill>
                                <a:srgbClr val="52525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sz="6400" i="1">
                                  <a:solidFill>
                                    <a:srgbClr val="52525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6400" i="1">
                                    <a:solidFill>
                                      <a:srgbClr val="525252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sz="6400" i="1">
                                    <a:solidFill>
                                      <a:srgbClr val="525252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sz="6400" i="1">
                                    <a:solidFill>
                                      <a:srgbClr val="525252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sz="6400" i="1">
                                    <a:solidFill>
                                      <a:srgbClr val="525252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sz="6400">
                  <a:solidFill>
                    <a:srgbClr val="535353"/>
                  </a:solidFill>
                </a:endParaRPr>
              </a:p>
            </p:txBody>
          </p:sp>
        </mc:Choice>
        <mc:Fallback>
          <p:sp>
            <p:nvSpPr>
              <p:cNvPr id="188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2091" y="5089042"/>
                <a:ext cx="6215166" cy="2242516"/>
              </a:xfrm>
              <a:prstGeom prst="rect">
                <a:avLst/>
              </a:prstGeom>
              <a:blipFill>
                <a:blip r:embed="rId2"/>
                <a:stretch>
                  <a:fillRect l="-1833" t="-562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9" name="Equation"/>
              <p:cNvSpPr txBox="1"/>
              <p:nvPr/>
            </p:nvSpPr>
            <p:spPr>
              <a:xfrm>
                <a:off x="4138261" y="9534863"/>
                <a:ext cx="4062827" cy="1999489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914400" latinLnBrk="1">
                  <a:lnSpc>
                    <a:spcPct val="100000"/>
                  </a:lnSpc>
                  <a:spcBef>
                    <a:spcPts val="0"/>
                  </a:spcBef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 sz="6400" i="1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sz="6400" i="1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sz="6400" i="1">
                              <a:solidFill>
                                <a:srgbClr val="52525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sz="6400" i="1">
                                  <a:solidFill>
                                    <a:srgbClr val="52525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6400" i="1">
                                    <a:solidFill>
                                      <a:srgbClr val="52525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sz="6400" i="1">
                                    <a:solidFill>
                                      <a:srgbClr val="525252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sz="6400" i="1">
                                    <a:solidFill>
                                      <a:srgbClr val="525252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sz="6400" i="1">
                                    <a:solidFill>
                                      <a:srgbClr val="52525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sz="6400">
                  <a:solidFill>
                    <a:srgbClr val="535353"/>
                  </a:solidFill>
                </a:endParaRPr>
              </a:p>
            </p:txBody>
          </p:sp>
        </mc:Choice>
        <mc:Fallback>
          <p:sp>
            <p:nvSpPr>
              <p:cNvPr id="189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8261" y="9534863"/>
                <a:ext cx="4062827" cy="1999489"/>
              </a:xfrm>
              <a:prstGeom prst="rect">
                <a:avLst/>
              </a:prstGeom>
              <a:blipFill>
                <a:blip r:embed="rId3"/>
                <a:stretch>
                  <a:fillRect l="-6542" t="-629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0" name="Equation"/>
              <p:cNvSpPr txBox="1"/>
              <p:nvPr/>
            </p:nvSpPr>
            <p:spPr>
              <a:xfrm>
                <a:off x="14305366" y="8617600"/>
                <a:ext cx="6262320" cy="4352545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914400" latinLnBrk="1">
                  <a:lnSpc>
                    <a:spcPct val="100000"/>
                  </a:lnSpc>
                  <a:spcBef>
                    <a:spcPts val="0"/>
                  </a:spcBef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 sz="3600" i="1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</a:rPr>
                        <m:t>𝐶𝐶𝑋</m:t>
                      </m:r>
                      <m:r>
                        <a:rPr sz="3600" i="1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sz="3600" i="1">
                              <a:solidFill>
                                <a:srgbClr val="52525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8"/>
                                    <m:mcJc m:val="center"/>
                                  </m:mcPr>
                                </m:mc>
                              </m:mcs>
                              <m:ctrlPr>
                                <a:rPr sz="3600" i="1">
                                  <a:solidFill>
                                    <a:srgbClr val="52525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3600" i="1">
                                    <a:solidFill>
                                      <a:srgbClr val="525252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sz="3600" i="1">
                                    <a:solidFill>
                                      <a:srgbClr val="52525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sz="3600" i="1">
                                    <a:solidFill>
                                      <a:srgbClr val="52525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sz="3600" i="1">
                                    <a:solidFill>
                                      <a:srgbClr val="52525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sz="3600" i="1">
                                    <a:solidFill>
                                      <a:srgbClr val="52525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sz="3600" i="1">
                                    <a:solidFill>
                                      <a:srgbClr val="52525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sz="3600" i="1">
                                    <a:solidFill>
                                      <a:srgbClr val="52525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sz="3600" i="1">
                                    <a:solidFill>
                                      <a:srgbClr val="52525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sz="3600" i="1">
                                    <a:solidFill>
                                      <a:srgbClr val="52525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sz="3600" i="1">
                                    <a:solidFill>
                                      <a:srgbClr val="525252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sz="3600" i="1">
                                    <a:solidFill>
                                      <a:srgbClr val="52525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sz="3600" i="1">
                                    <a:solidFill>
                                      <a:srgbClr val="52525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sz="3600" i="1">
                                    <a:solidFill>
                                      <a:srgbClr val="52525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sz="3600" i="1">
                                    <a:solidFill>
                                      <a:srgbClr val="52525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sz="3600" i="1">
                                    <a:solidFill>
                                      <a:srgbClr val="52525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sz="3600" i="1">
                                    <a:solidFill>
                                      <a:srgbClr val="52525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sz="3600" i="1">
                                    <a:solidFill>
                                      <a:srgbClr val="52525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sz="3600" i="1">
                                    <a:solidFill>
                                      <a:srgbClr val="52525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sz="3600" i="1">
                                    <a:solidFill>
                                      <a:srgbClr val="525252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sz="3600" i="1">
                                    <a:solidFill>
                                      <a:srgbClr val="52525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sz="3600" i="1">
                                    <a:solidFill>
                                      <a:srgbClr val="52525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sz="3600" i="1">
                                    <a:solidFill>
                                      <a:srgbClr val="52525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sz="3600" i="1">
                                    <a:solidFill>
                                      <a:srgbClr val="52525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sz="3600" i="1">
                                    <a:solidFill>
                                      <a:srgbClr val="52525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sz="3600" i="1">
                                    <a:solidFill>
                                      <a:srgbClr val="52525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sz="3600" i="1">
                                    <a:solidFill>
                                      <a:srgbClr val="52525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sz="3600" i="1">
                                    <a:solidFill>
                                      <a:srgbClr val="52525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sz="3600" i="1">
                                    <a:solidFill>
                                      <a:srgbClr val="52525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sz="3600" i="1">
                                    <a:solidFill>
                                      <a:srgbClr val="52525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sz="3600" i="1">
                                    <a:solidFill>
                                      <a:srgbClr val="52525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sz="3600" i="1">
                                    <a:solidFill>
                                      <a:srgbClr val="52525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sz="3600" i="1">
                                    <a:solidFill>
                                      <a:srgbClr val="525252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sz="3600" i="1">
                                    <a:solidFill>
                                      <a:srgbClr val="52525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sz="3600" i="1">
                                    <a:solidFill>
                                      <a:srgbClr val="52525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sz="3600" i="1">
                                    <a:solidFill>
                                      <a:srgbClr val="52525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sz="3600" i="1">
                                    <a:solidFill>
                                      <a:srgbClr val="52525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sz="3600" i="1">
                                    <a:solidFill>
                                      <a:srgbClr val="525252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sz="3600" i="1">
                                    <a:solidFill>
                                      <a:srgbClr val="52525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sz="3600" i="1">
                                    <a:solidFill>
                                      <a:srgbClr val="52525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sz="3600" i="1">
                                    <a:solidFill>
                                      <a:srgbClr val="52525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sz="3600" i="1">
                                    <a:solidFill>
                                      <a:srgbClr val="52525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sz="3600" i="1">
                                    <a:solidFill>
                                      <a:srgbClr val="52525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sz="3600" i="1">
                                    <a:solidFill>
                                      <a:srgbClr val="52525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sz="3600" i="1">
                                    <a:solidFill>
                                      <a:srgbClr val="52525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sz="3600" i="1">
                                    <a:solidFill>
                                      <a:srgbClr val="52525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sz="3600" i="1">
                                    <a:solidFill>
                                      <a:srgbClr val="525252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sz="3600" i="1">
                                    <a:solidFill>
                                      <a:srgbClr val="52525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sz="3600" i="1">
                                    <a:solidFill>
                                      <a:srgbClr val="52525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sz="3600" i="1">
                                    <a:solidFill>
                                      <a:srgbClr val="52525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sz="3600" i="1">
                                    <a:solidFill>
                                      <a:srgbClr val="52525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sz="3600" i="1">
                                    <a:solidFill>
                                      <a:srgbClr val="52525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sz="3600" i="1">
                                    <a:solidFill>
                                      <a:srgbClr val="52525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sz="3600" i="1">
                                    <a:solidFill>
                                      <a:srgbClr val="52525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sz="3600" i="1">
                                    <a:solidFill>
                                      <a:srgbClr val="52525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sz="3600" i="1">
                                    <a:solidFill>
                                      <a:srgbClr val="525252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sz="3600" i="1">
                                    <a:solidFill>
                                      <a:srgbClr val="52525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sz="3600" i="1">
                                    <a:solidFill>
                                      <a:srgbClr val="52525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sz="3600" i="1">
                                    <a:solidFill>
                                      <a:srgbClr val="52525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sz="3600" i="1">
                                    <a:solidFill>
                                      <a:srgbClr val="52525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sz="3600" i="1">
                                    <a:solidFill>
                                      <a:srgbClr val="525252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sz="3600" i="1">
                                    <a:solidFill>
                                      <a:srgbClr val="52525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sz="3600" i="1">
                                    <a:solidFill>
                                      <a:srgbClr val="52525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sz="3600" i="1">
                                    <a:solidFill>
                                      <a:srgbClr val="52525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sz="3600" i="1">
                                    <a:solidFill>
                                      <a:srgbClr val="52525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sz="3600">
                  <a:solidFill>
                    <a:srgbClr val="535353"/>
                  </a:solidFill>
                </a:endParaRPr>
              </a:p>
            </p:txBody>
          </p:sp>
        </mc:Choice>
        <mc:Fallback>
          <p:sp>
            <p:nvSpPr>
              <p:cNvPr id="190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05366" y="8617600"/>
                <a:ext cx="6262320" cy="4352545"/>
              </a:xfrm>
              <a:prstGeom prst="rect">
                <a:avLst/>
              </a:prstGeom>
              <a:blipFill>
                <a:blip r:embed="rId4"/>
                <a:stretch>
                  <a:fillRect l="-2429" r="-16802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1" name="Equation"/>
              <p:cNvSpPr txBox="1"/>
              <p:nvPr/>
            </p:nvSpPr>
            <p:spPr>
              <a:xfrm>
                <a:off x="14255000" y="3650272"/>
                <a:ext cx="6363051" cy="3868929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914400" latinLnBrk="1">
                  <a:lnSpc>
                    <a:spcPct val="100000"/>
                  </a:lnSpc>
                  <a:spcBef>
                    <a:spcPts val="0"/>
                  </a:spcBef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 sz="6400" i="1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</a:rPr>
                        <m:t>𝐶𝑋</m:t>
                      </m:r>
                      <m:r>
                        <a:rPr sz="6400" i="1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sz="6400" i="1">
                              <a:solidFill>
                                <a:srgbClr val="52525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sz="6400" i="1">
                                  <a:solidFill>
                                    <a:srgbClr val="52525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6400" i="1">
                                    <a:solidFill>
                                      <a:srgbClr val="525252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sz="6400" i="1">
                                    <a:solidFill>
                                      <a:srgbClr val="52525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sz="6400" i="1">
                                    <a:solidFill>
                                      <a:srgbClr val="52525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sz="6400" i="1">
                                    <a:solidFill>
                                      <a:srgbClr val="52525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sz="6400" i="1">
                                    <a:solidFill>
                                      <a:srgbClr val="52525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sz="6400" i="1">
                                    <a:solidFill>
                                      <a:srgbClr val="52525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sz="6400" i="1">
                                    <a:solidFill>
                                      <a:srgbClr val="52525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sz="6400" i="1">
                                    <a:solidFill>
                                      <a:srgbClr val="525252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sz="6400" i="1">
                                    <a:solidFill>
                                      <a:srgbClr val="52525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sz="6400" i="1">
                                    <a:solidFill>
                                      <a:srgbClr val="52525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sz="6400" i="1">
                                    <a:solidFill>
                                      <a:srgbClr val="525252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sz="6400" i="1">
                                    <a:solidFill>
                                      <a:srgbClr val="52525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sz="6400" i="1">
                                    <a:solidFill>
                                      <a:srgbClr val="52525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sz="6400" i="1">
                                    <a:solidFill>
                                      <a:srgbClr val="525252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sz="6400" i="1">
                                    <a:solidFill>
                                      <a:srgbClr val="52525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sz="6400" i="1">
                                    <a:solidFill>
                                      <a:srgbClr val="52525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sz="6400">
                  <a:solidFill>
                    <a:srgbClr val="535353"/>
                  </a:solidFill>
                </a:endParaRPr>
              </a:p>
            </p:txBody>
          </p:sp>
        </mc:Choice>
        <mc:Fallback>
          <p:sp>
            <p:nvSpPr>
              <p:cNvPr id="191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55000" y="3650272"/>
                <a:ext cx="6363051" cy="3868929"/>
              </a:xfrm>
              <a:prstGeom prst="rect">
                <a:avLst/>
              </a:prstGeom>
              <a:blipFill>
                <a:blip r:embed="rId5"/>
                <a:stretch>
                  <a:fillRect l="-4382" r="-17331" b="-328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Quantum Programming Ecosystem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Quantum Programming Ecosystem</a:t>
            </a:r>
          </a:p>
        </p:txBody>
      </p:sp>
      <p:pic>
        <p:nvPicPr>
          <p:cNvPr id="194" name="Quantum Serpent Glass Cube.png" descr="Quantum Serpent Glass Cu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95236" y="12007090"/>
            <a:ext cx="1665735" cy="166573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Quantum Programming Ecosystem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Quantum Programming Ecosystem</a:t>
            </a:r>
          </a:p>
        </p:txBody>
      </p:sp>
      <p:sp>
        <p:nvSpPr>
          <p:cNvPr id="197" name="Python…"/>
          <p:cNvSpPr txBox="1">
            <a:spLocks noGrp="1"/>
          </p:cNvSpPr>
          <p:nvPr>
            <p:ph type="body" sz="quarter" idx="1"/>
          </p:nvPr>
        </p:nvSpPr>
        <p:spPr>
          <a:xfrm>
            <a:off x="673100" y="5375889"/>
            <a:ext cx="6461379" cy="7324111"/>
          </a:xfrm>
          <a:prstGeom prst="rect">
            <a:avLst/>
          </a:prstGeom>
        </p:spPr>
        <p:txBody>
          <a:bodyPr/>
          <a:lstStyle/>
          <a:p>
            <a:pPr marL="604012" indent="-604012" defTabSz="676909">
              <a:spcBef>
                <a:spcPts val="5300"/>
              </a:spcBef>
              <a:buClr>
                <a:srgbClr val="535353"/>
              </a:buClr>
              <a:defRPr sz="5248"/>
            </a:pPr>
            <a:r>
              <a:t>Python</a:t>
            </a:r>
          </a:p>
          <a:p>
            <a:pPr marL="604012" indent="-604012" defTabSz="676909">
              <a:spcBef>
                <a:spcPts val="5300"/>
              </a:spcBef>
              <a:buClr>
                <a:srgbClr val="535353"/>
              </a:buClr>
              <a:defRPr sz="5248"/>
            </a:pPr>
            <a:r>
              <a:t>C++</a:t>
            </a:r>
          </a:p>
          <a:p>
            <a:pPr marL="604012" indent="-604012" defTabSz="676909">
              <a:spcBef>
                <a:spcPts val="5300"/>
              </a:spcBef>
              <a:buClr>
                <a:srgbClr val="535353"/>
              </a:buClr>
              <a:defRPr sz="5248"/>
            </a:pPr>
            <a:r>
              <a:t>Q#</a:t>
            </a:r>
          </a:p>
          <a:p>
            <a:pPr marL="604012" indent="-604012" defTabSz="676909">
              <a:spcBef>
                <a:spcPts val="5300"/>
              </a:spcBef>
              <a:buClr>
                <a:srgbClr val="535353"/>
              </a:buClr>
              <a:defRPr sz="5248"/>
            </a:pPr>
            <a:r>
              <a:t>OpenQASM</a:t>
            </a:r>
          </a:p>
          <a:p>
            <a:pPr marL="604012" indent="-604012" defTabSz="676909">
              <a:spcBef>
                <a:spcPts val="5300"/>
              </a:spcBef>
              <a:buClr>
                <a:srgbClr val="535353"/>
              </a:buClr>
              <a:defRPr sz="5248"/>
            </a:pPr>
            <a:r>
              <a:t>Quil</a:t>
            </a:r>
          </a:p>
        </p:txBody>
      </p:sp>
      <p:sp>
        <p:nvSpPr>
          <p:cNvPr id="198" name="Qiskit Aer (Simulation)…"/>
          <p:cNvSpPr txBox="1"/>
          <p:nvPr/>
        </p:nvSpPr>
        <p:spPr>
          <a:xfrm>
            <a:off x="7567811" y="5375889"/>
            <a:ext cx="6461379" cy="7324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pPr marL="736600" indent="-736600">
              <a:buClr>
                <a:srgbClr val="535353"/>
              </a:buClr>
              <a:buSzPct val="82000"/>
              <a:buChar char="•"/>
            </a:pPr>
            <a:r>
              <a:t>Qiskit Aer </a:t>
            </a:r>
            <a:r>
              <a:rPr sz="4000"/>
              <a:t>(Simulation)</a:t>
            </a:r>
          </a:p>
          <a:p>
            <a:pPr marL="736600" indent="-736600">
              <a:buClr>
                <a:srgbClr val="535353"/>
              </a:buClr>
              <a:buSzPct val="82000"/>
              <a:buChar char="•"/>
            </a:pPr>
            <a:r>
              <a:t>OpenFermion </a:t>
            </a:r>
            <a:r>
              <a:rPr sz="4000"/>
              <a:t>(Quantum chemistry)</a:t>
            </a:r>
          </a:p>
          <a:p>
            <a:pPr marL="736600" indent="-736600">
              <a:buClr>
                <a:srgbClr val="535353"/>
              </a:buClr>
              <a:buSzPct val="82000"/>
              <a:buChar char="•"/>
            </a:pPr>
            <a:r>
              <a:t>QuTiP </a:t>
            </a:r>
            <a:r>
              <a:rPr sz="4000"/>
              <a:t>(Quantum physics)</a:t>
            </a:r>
          </a:p>
        </p:txBody>
      </p:sp>
      <p:sp>
        <p:nvSpPr>
          <p:cNvPr id="199" name="Qiskit (IBM)…"/>
          <p:cNvSpPr txBox="1"/>
          <p:nvPr/>
        </p:nvSpPr>
        <p:spPr>
          <a:xfrm>
            <a:off x="15961123" y="5375889"/>
            <a:ext cx="6461379" cy="7324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pPr marL="500887" indent="-500887" defTabSz="561340">
              <a:spcBef>
                <a:spcPts val="4400"/>
              </a:spcBef>
              <a:buClr>
                <a:srgbClr val="535353"/>
              </a:buClr>
              <a:buSzPct val="82000"/>
              <a:buChar char="•"/>
              <a:defRPr sz="4352"/>
            </a:pPr>
            <a:r>
              <a:t>Qiskit </a:t>
            </a:r>
            <a:r>
              <a:rPr sz="2720"/>
              <a:t>(IBM)</a:t>
            </a:r>
          </a:p>
          <a:p>
            <a:pPr marL="500887" indent="-500887" defTabSz="561340">
              <a:spcBef>
                <a:spcPts val="4400"/>
              </a:spcBef>
              <a:buClr>
                <a:srgbClr val="535353"/>
              </a:buClr>
              <a:buSzPct val="82000"/>
              <a:buChar char="•"/>
              <a:defRPr sz="4352"/>
            </a:pPr>
            <a:r>
              <a:t>Cirq </a:t>
            </a:r>
            <a:r>
              <a:rPr sz="2720"/>
              <a:t>(Google)</a:t>
            </a:r>
          </a:p>
          <a:p>
            <a:pPr marL="500887" indent="-500887" defTabSz="561340">
              <a:spcBef>
                <a:spcPts val="4400"/>
              </a:spcBef>
              <a:buClr>
                <a:srgbClr val="535353"/>
              </a:buClr>
              <a:buSzPct val="82000"/>
              <a:buChar char="•"/>
              <a:defRPr sz="4352"/>
            </a:pPr>
            <a:r>
              <a:t>PennyLane </a:t>
            </a:r>
            <a:r>
              <a:rPr sz="2720"/>
              <a:t>(Xanadu)</a:t>
            </a:r>
          </a:p>
          <a:p>
            <a:pPr marL="500887" indent="-500887" defTabSz="561340">
              <a:spcBef>
                <a:spcPts val="4400"/>
              </a:spcBef>
              <a:buClr>
                <a:srgbClr val="535353"/>
              </a:buClr>
              <a:buSzPct val="82000"/>
              <a:buChar char="•"/>
              <a:defRPr sz="4352"/>
            </a:pPr>
            <a:r>
              <a:t>QDK </a:t>
            </a:r>
            <a:r>
              <a:rPr sz="2720"/>
              <a:t>(Microsoft)</a:t>
            </a:r>
          </a:p>
          <a:p>
            <a:pPr marL="500887" indent="-500887" defTabSz="561340">
              <a:spcBef>
                <a:spcPts val="4400"/>
              </a:spcBef>
              <a:buClr>
                <a:srgbClr val="535353"/>
              </a:buClr>
              <a:buSzPct val="82000"/>
              <a:buChar char="•"/>
              <a:defRPr sz="4352"/>
            </a:pPr>
            <a:r>
              <a:t>Amazon Braket </a:t>
            </a:r>
            <a:r>
              <a:rPr sz="2720"/>
              <a:t>(AWS)</a:t>
            </a:r>
          </a:p>
          <a:p>
            <a:pPr marL="500887" indent="-500887" defTabSz="561340">
              <a:spcBef>
                <a:spcPts val="4400"/>
              </a:spcBef>
              <a:buClr>
                <a:srgbClr val="535353"/>
              </a:buClr>
              <a:buSzPct val="82000"/>
              <a:buChar char="•"/>
              <a:defRPr sz="4352"/>
            </a:pPr>
            <a:r>
              <a:t>Ocean SDK </a:t>
            </a:r>
            <a:r>
              <a:rPr sz="2720"/>
              <a:t>(D-Wave)</a:t>
            </a:r>
          </a:p>
        </p:txBody>
      </p:sp>
      <p:sp>
        <p:nvSpPr>
          <p:cNvPr id="200" name="Languages"/>
          <p:cNvSpPr txBox="1"/>
          <p:nvPr/>
        </p:nvSpPr>
        <p:spPr>
          <a:xfrm>
            <a:off x="673100" y="3855072"/>
            <a:ext cx="6461379" cy="13013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Languages</a:t>
            </a:r>
          </a:p>
        </p:txBody>
      </p:sp>
      <p:sp>
        <p:nvSpPr>
          <p:cNvPr id="201" name="Libraries"/>
          <p:cNvSpPr txBox="1"/>
          <p:nvPr/>
        </p:nvSpPr>
        <p:spPr>
          <a:xfrm>
            <a:off x="7567811" y="3855072"/>
            <a:ext cx="6461379" cy="13013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Libraries</a:t>
            </a:r>
          </a:p>
        </p:txBody>
      </p:sp>
      <p:sp>
        <p:nvSpPr>
          <p:cNvPr id="202" name="Frameworks &amp; SDKs"/>
          <p:cNvSpPr txBox="1"/>
          <p:nvPr/>
        </p:nvSpPr>
        <p:spPr>
          <a:xfrm>
            <a:off x="15961123" y="3929557"/>
            <a:ext cx="6461379" cy="13013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>
            <a:lvl1pPr defTabSz="792479">
              <a:spcBef>
                <a:spcPts val="6200"/>
              </a:spcBef>
              <a:defRPr sz="6144"/>
            </a:lvl1pPr>
          </a:lstStyle>
          <a:p>
            <a:r>
              <a:t>Frameworks &amp; SDKs</a:t>
            </a:r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ractic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practice</a:t>
            </a:r>
          </a:p>
        </p:txBody>
      </p:sp>
      <p:pic>
        <p:nvPicPr>
          <p:cNvPr id="205" name="Quantum Serpent Glass Cube.png" descr="Quantum Serpent Glass Cu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95236" y="12007090"/>
            <a:ext cx="1665735" cy="166573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quantum hello world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quantum hello world</a:t>
            </a:r>
          </a:p>
        </p:txBody>
      </p: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quantum hello world"/>
          <p:cNvSpPr txBox="1">
            <a:spLocks noGrp="1"/>
          </p:cNvSpPr>
          <p:nvPr>
            <p:ph type="title"/>
          </p:nvPr>
        </p:nvSpPr>
        <p:spPr>
          <a:xfrm>
            <a:off x="673100" y="304800"/>
            <a:ext cx="23050500" cy="2921000"/>
          </a:xfrm>
          <a:prstGeom prst="rect">
            <a:avLst/>
          </a:prstGeom>
        </p:spPr>
        <p:txBody>
          <a:bodyPr/>
          <a:lstStyle/>
          <a:p>
            <a:r>
              <a:t>quantum hello world</a:t>
            </a:r>
          </a:p>
        </p:txBody>
      </p:sp>
      <p:sp>
        <p:nvSpPr>
          <p:cNvPr id="210" name="Rounded Rectangle"/>
          <p:cNvSpPr/>
          <p:nvPr/>
        </p:nvSpPr>
        <p:spPr>
          <a:xfrm>
            <a:off x="1397000" y="3810000"/>
            <a:ext cx="21590000" cy="8255000"/>
          </a:xfrm>
          <a:prstGeom prst="roundRect">
            <a:avLst>
              <a:gd name="adj" fmla="val 2308"/>
            </a:avLst>
          </a:prstGeom>
          <a:solidFill>
            <a:schemeClr val="accent6">
              <a:hueOff val="-133706"/>
              <a:satOff val="8281"/>
              <a:lumOff val="-27269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defRPr sz="5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11" name="from qiskit import QuantumCircuit…"/>
          <p:cNvSpPr txBox="1"/>
          <p:nvPr/>
        </p:nvSpPr>
        <p:spPr>
          <a:xfrm>
            <a:off x="2286000" y="4879340"/>
            <a:ext cx="11678143" cy="624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0"/>
              </a:spcBef>
              <a:defRPr sz="3800">
                <a:solidFill>
                  <a:srgbClr val="F7F1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i="1">
                <a:solidFill>
                  <a:srgbClr val="FC618D"/>
                </a:solidFill>
              </a:rPr>
              <a:t>from</a:t>
            </a:r>
            <a:r>
              <a:t> qiskit </a:t>
            </a:r>
            <a:r>
              <a:rPr i="1">
                <a:solidFill>
                  <a:srgbClr val="FC618D"/>
                </a:solidFill>
              </a:rPr>
              <a:t>import</a:t>
            </a:r>
            <a:r>
              <a:t> QuantumCircuit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3800">
                <a:solidFill>
                  <a:srgbClr val="F7F1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endParaRPr/>
          </a:p>
          <a:p>
            <a:pPr defTabSz="457200">
              <a:lnSpc>
                <a:spcPct val="100000"/>
              </a:lnSpc>
              <a:spcBef>
                <a:spcPts val="0"/>
              </a:spcBef>
              <a:defRPr sz="3800">
                <a:solidFill>
                  <a:srgbClr val="F7F1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i="1">
                <a:solidFill>
                  <a:srgbClr val="69676C"/>
                </a:solidFill>
              </a:rPr>
              <a:t># Circuit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3800">
                <a:solidFill>
                  <a:srgbClr val="F7F1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qc</a:t>
            </a:r>
            <a:r>
              <a:rPr>
                <a:solidFill>
                  <a:srgbClr val="8B888F"/>
                </a:solidFill>
              </a:rPr>
              <a:t>:</a:t>
            </a:r>
            <a:r>
              <a:t> QuantumCircuit </a:t>
            </a:r>
            <a:r>
              <a:rPr i="1">
                <a:solidFill>
                  <a:srgbClr val="FC618D"/>
                </a:solidFill>
              </a:rPr>
              <a:t>=</a:t>
            </a:r>
            <a:r>
              <a:t> </a:t>
            </a:r>
            <a:r>
              <a:rPr>
                <a:solidFill>
                  <a:srgbClr val="7BD88F"/>
                </a:solidFill>
              </a:rPr>
              <a:t>QuantumCircuit</a:t>
            </a:r>
            <a:r>
              <a:rPr>
                <a:solidFill>
                  <a:srgbClr val="8B888F"/>
                </a:solidFill>
              </a:rPr>
              <a:t>(</a:t>
            </a:r>
            <a:r>
              <a:rPr>
                <a:solidFill>
                  <a:srgbClr val="948AE3"/>
                </a:solidFill>
              </a:rPr>
              <a:t>2</a:t>
            </a:r>
            <a:r>
              <a:rPr>
                <a:solidFill>
                  <a:srgbClr val="8B888F"/>
                </a:solidFill>
              </a:rPr>
              <a:t>)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3800">
                <a:solidFill>
                  <a:srgbClr val="F7F1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endParaRPr>
              <a:solidFill>
                <a:srgbClr val="8B888F"/>
              </a:solidFill>
            </a:endParaR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3800" i="1">
                <a:solidFill>
                  <a:srgbClr val="69676C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i="0">
                <a:solidFill>
                  <a:srgbClr val="F7F1FF"/>
                </a:solidFill>
              </a:rPr>
              <a:t>qc</a:t>
            </a:r>
            <a:r>
              <a:rPr i="0">
                <a:solidFill>
                  <a:srgbClr val="8B888F"/>
                </a:solidFill>
              </a:rPr>
              <a:t>.</a:t>
            </a:r>
            <a:r>
              <a:rPr i="0">
                <a:solidFill>
                  <a:srgbClr val="7BD88F"/>
                </a:solidFill>
              </a:rPr>
              <a:t>h</a:t>
            </a:r>
            <a:r>
              <a:rPr i="0">
                <a:solidFill>
                  <a:srgbClr val="8B888F"/>
                </a:solidFill>
              </a:rPr>
              <a:t>(</a:t>
            </a:r>
            <a:r>
              <a:rPr i="0">
                <a:solidFill>
                  <a:srgbClr val="948AE3"/>
                </a:solidFill>
              </a:rPr>
              <a:t>0</a:t>
            </a:r>
            <a:r>
              <a:rPr i="0">
                <a:solidFill>
                  <a:srgbClr val="8B888F"/>
                </a:solidFill>
              </a:rPr>
              <a:t>)</a:t>
            </a:r>
            <a:r>
              <a:rPr i="0">
                <a:solidFill>
                  <a:srgbClr val="F7F1FF"/>
                </a:solidFill>
              </a:rPr>
              <a:t> </a:t>
            </a:r>
            <a:r>
              <a:t># Hadamard gate</a:t>
            </a:r>
            <a:endParaRPr i="0">
              <a:solidFill>
                <a:srgbClr val="F7F1FF"/>
              </a:solidFill>
            </a:endParaR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3800" i="1">
                <a:solidFill>
                  <a:srgbClr val="69676C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i="0">
                <a:solidFill>
                  <a:srgbClr val="F7F1FF"/>
                </a:solidFill>
              </a:rPr>
              <a:t>qc</a:t>
            </a:r>
            <a:r>
              <a:rPr i="0">
                <a:solidFill>
                  <a:srgbClr val="8B888F"/>
                </a:solidFill>
              </a:rPr>
              <a:t>.</a:t>
            </a:r>
            <a:r>
              <a:rPr i="0">
                <a:solidFill>
                  <a:srgbClr val="7BD88F"/>
                </a:solidFill>
              </a:rPr>
              <a:t>cx</a:t>
            </a:r>
            <a:r>
              <a:rPr i="0">
                <a:solidFill>
                  <a:srgbClr val="8B888F"/>
                </a:solidFill>
              </a:rPr>
              <a:t>(</a:t>
            </a:r>
            <a:r>
              <a:rPr i="0">
                <a:solidFill>
                  <a:srgbClr val="948AE3"/>
                </a:solidFill>
              </a:rPr>
              <a:t>0</a:t>
            </a:r>
            <a:r>
              <a:rPr i="0">
                <a:solidFill>
                  <a:srgbClr val="8B888F"/>
                </a:solidFill>
              </a:rPr>
              <a:t>,</a:t>
            </a:r>
            <a:r>
              <a:rPr i="0">
                <a:solidFill>
                  <a:srgbClr val="F7F1FF"/>
                </a:solidFill>
              </a:rPr>
              <a:t> </a:t>
            </a:r>
            <a:r>
              <a:rPr i="0">
                <a:solidFill>
                  <a:srgbClr val="948AE3"/>
                </a:solidFill>
              </a:rPr>
              <a:t>1</a:t>
            </a:r>
            <a:r>
              <a:rPr i="0">
                <a:solidFill>
                  <a:srgbClr val="8B888F"/>
                </a:solidFill>
              </a:rPr>
              <a:t>)</a:t>
            </a:r>
            <a:r>
              <a:rPr i="0">
                <a:solidFill>
                  <a:srgbClr val="F7F1FF"/>
                </a:solidFill>
              </a:rPr>
              <a:t> </a:t>
            </a:r>
            <a:r>
              <a:t># Controlled not gate</a:t>
            </a:r>
            <a:endParaRPr i="0">
              <a:solidFill>
                <a:srgbClr val="F7F1FF"/>
              </a:solidFill>
            </a:endParaR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3800">
                <a:solidFill>
                  <a:srgbClr val="F7F1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endParaRPr i="0">
              <a:solidFill>
                <a:srgbClr val="F7F1FF"/>
              </a:solidFill>
            </a:endParaR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3800">
                <a:solidFill>
                  <a:srgbClr val="7BD88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F7F1FF"/>
                </a:solidFill>
              </a:rPr>
              <a:t>qc</a:t>
            </a:r>
            <a:r>
              <a:rPr>
                <a:solidFill>
                  <a:srgbClr val="8B888F"/>
                </a:solidFill>
              </a:rPr>
              <a:t>.</a:t>
            </a:r>
            <a:r>
              <a:t>measure_all</a:t>
            </a:r>
            <a:r>
              <a:rPr>
                <a:solidFill>
                  <a:srgbClr val="8B888F"/>
                </a:solidFill>
              </a:rPr>
              <a:t>()</a:t>
            </a:r>
            <a:endParaRPr>
              <a:solidFill>
                <a:srgbClr val="F7F1FF"/>
              </a:solidFill>
            </a:endParaR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3800">
                <a:solidFill>
                  <a:srgbClr val="FD9353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F7F1FF"/>
                </a:solidFill>
              </a:rPr>
              <a:t>qc</a:t>
            </a:r>
            <a:r>
              <a:rPr>
                <a:solidFill>
                  <a:srgbClr val="8B888F"/>
                </a:solidFill>
              </a:rPr>
              <a:t>.</a:t>
            </a:r>
            <a:r>
              <a:rPr>
                <a:solidFill>
                  <a:srgbClr val="7BD88F"/>
                </a:solidFill>
              </a:rPr>
              <a:t>draw</a:t>
            </a:r>
            <a:r>
              <a:rPr>
                <a:solidFill>
                  <a:srgbClr val="8B888F"/>
                </a:solidFill>
              </a:rPr>
              <a:t>(</a:t>
            </a:r>
            <a:r>
              <a:rPr i="1"/>
              <a:t>output</a:t>
            </a:r>
            <a:r>
              <a:rPr i="1">
                <a:solidFill>
                  <a:srgbClr val="FC618D"/>
                </a:solidFill>
              </a:rPr>
              <a:t>=</a:t>
            </a:r>
            <a:r>
              <a:rPr>
                <a:solidFill>
                  <a:srgbClr val="8B888F"/>
                </a:solidFill>
              </a:rPr>
              <a:t>"</a:t>
            </a:r>
            <a:r>
              <a:rPr>
                <a:solidFill>
                  <a:srgbClr val="FCE566"/>
                </a:solidFill>
              </a:rPr>
              <a:t>mpl</a:t>
            </a:r>
            <a:r>
              <a:rPr>
                <a:solidFill>
                  <a:srgbClr val="8B888F"/>
                </a:solidFill>
              </a:rPr>
              <a:t>")</a:t>
            </a:r>
          </a:p>
        </p:txBody>
      </p:sp>
      <p:pic>
        <p:nvPicPr>
          <p:cNvPr id="212" name="output.png" descr="out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82630" y="5656636"/>
            <a:ext cx="8931786" cy="456172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MEASURE Q hello world"/>
          <p:cNvSpPr txBox="1">
            <a:spLocks noGrp="1"/>
          </p:cNvSpPr>
          <p:nvPr>
            <p:ph type="title"/>
          </p:nvPr>
        </p:nvSpPr>
        <p:spPr>
          <a:xfrm>
            <a:off x="673100" y="304800"/>
            <a:ext cx="23050500" cy="2921000"/>
          </a:xfrm>
          <a:prstGeom prst="rect">
            <a:avLst/>
          </a:prstGeom>
        </p:spPr>
        <p:txBody>
          <a:bodyPr/>
          <a:lstStyle/>
          <a:p>
            <a:r>
              <a:t>MEASURE Q hello world</a:t>
            </a:r>
          </a:p>
        </p:txBody>
      </p:sp>
      <p:sp>
        <p:nvSpPr>
          <p:cNvPr id="215" name="Rounded Rectangle"/>
          <p:cNvSpPr/>
          <p:nvPr/>
        </p:nvSpPr>
        <p:spPr>
          <a:xfrm>
            <a:off x="1397000" y="3810000"/>
            <a:ext cx="21590000" cy="8255000"/>
          </a:xfrm>
          <a:prstGeom prst="roundRect">
            <a:avLst>
              <a:gd name="adj" fmla="val 2308"/>
            </a:avLst>
          </a:prstGeom>
          <a:solidFill>
            <a:schemeClr val="accent6">
              <a:hueOff val="-133706"/>
              <a:satOff val="8281"/>
              <a:lumOff val="-27269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defRPr sz="5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16" name="# SIMULATOR…"/>
          <p:cNvSpPr txBox="1"/>
          <p:nvPr/>
        </p:nvSpPr>
        <p:spPr>
          <a:xfrm>
            <a:off x="1791307" y="5340349"/>
            <a:ext cx="14097001" cy="5194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0"/>
              </a:spcBef>
              <a:defRPr sz="3200" i="1">
                <a:solidFill>
                  <a:srgbClr val="69676C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# SIMULATOR</a:t>
            </a:r>
            <a:endParaRPr i="0">
              <a:solidFill>
                <a:srgbClr val="F7F1FF"/>
              </a:solidFill>
            </a:endParaR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2800">
                <a:solidFill>
                  <a:srgbClr val="F7F1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i="1">
                <a:solidFill>
                  <a:srgbClr val="FC618D"/>
                </a:solidFill>
              </a:rPr>
              <a:t>from</a:t>
            </a:r>
            <a:r>
              <a:t> qiskit_aer</a:t>
            </a:r>
            <a:r>
              <a:rPr>
                <a:solidFill>
                  <a:srgbClr val="8B888F"/>
                </a:solidFill>
              </a:rPr>
              <a:t>.</a:t>
            </a:r>
            <a:r>
              <a:t>primitives </a:t>
            </a:r>
            <a:r>
              <a:rPr i="1">
                <a:solidFill>
                  <a:srgbClr val="FC618D"/>
                </a:solidFill>
              </a:rPr>
              <a:t>import</a:t>
            </a:r>
            <a:r>
              <a:t> SamplerV2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2800">
                <a:solidFill>
                  <a:srgbClr val="F7F1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i="1">
                <a:solidFill>
                  <a:srgbClr val="FC618D"/>
                </a:solidFill>
              </a:rPr>
              <a:t>from</a:t>
            </a:r>
            <a:r>
              <a:t> qiskit</a:t>
            </a:r>
            <a:r>
              <a:rPr>
                <a:solidFill>
                  <a:srgbClr val="8B888F"/>
                </a:solidFill>
              </a:rPr>
              <a:t>.</a:t>
            </a:r>
            <a:r>
              <a:t>visualization </a:t>
            </a:r>
            <a:r>
              <a:rPr i="1">
                <a:solidFill>
                  <a:srgbClr val="FC618D"/>
                </a:solidFill>
              </a:rPr>
              <a:t>import</a:t>
            </a:r>
            <a:r>
              <a:t> plot_histogram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7F1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endParaRPr/>
          </a:p>
          <a:p>
            <a:pPr defTabSz="4572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7BD88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F7F1FF"/>
                </a:solidFill>
              </a:rPr>
              <a:t>sampler </a:t>
            </a:r>
            <a:r>
              <a:rPr i="1">
                <a:solidFill>
                  <a:srgbClr val="FC618D"/>
                </a:solidFill>
              </a:rPr>
              <a:t>=</a:t>
            </a:r>
            <a:r>
              <a:rPr>
                <a:solidFill>
                  <a:srgbClr val="F7F1FF"/>
                </a:solidFill>
              </a:rPr>
              <a:t> </a:t>
            </a:r>
            <a:r>
              <a:t>SamplerV2</a:t>
            </a:r>
            <a:r>
              <a:rPr>
                <a:solidFill>
                  <a:srgbClr val="8B888F"/>
                </a:solidFill>
              </a:rPr>
              <a:t>()</a:t>
            </a:r>
            <a:endParaRPr>
              <a:solidFill>
                <a:srgbClr val="F7F1FF"/>
              </a:solidFill>
            </a:endParaR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7F1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job </a:t>
            </a:r>
            <a:r>
              <a:rPr i="1">
                <a:solidFill>
                  <a:srgbClr val="FC618D"/>
                </a:solidFill>
              </a:rPr>
              <a:t>=</a:t>
            </a:r>
            <a:r>
              <a:t> sampler</a:t>
            </a:r>
            <a:r>
              <a:rPr>
                <a:solidFill>
                  <a:srgbClr val="8B888F"/>
                </a:solidFill>
              </a:rPr>
              <a:t>.</a:t>
            </a:r>
            <a:r>
              <a:rPr>
                <a:solidFill>
                  <a:srgbClr val="7BD88F"/>
                </a:solidFill>
              </a:rPr>
              <a:t>run</a:t>
            </a:r>
            <a:r>
              <a:rPr>
                <a:solidFill>
                  <a:srgbClr val="8B888F"/>
                </a:solidFill>
              </a:rPr>
              <a:t>([</a:t>
            </a:r>
            <a:r>
              <a:t>qc</a:t>
            </a:r>
            <a:r>
              <a:rPr>
                <a:solidFill>
                  <a:srgbClr val="8B888F"/>
                </a:solidFill>
              </a:rPr>
              <a:t>],</a:t>
            </a:r>
            <a:r>
              <a:t> </a:t>
            </a:r>
            <a:r>
              <a:rPr i="1">
                <a:solidFill>
                  <a:srgbClr val="FD9353"/>
                </a:solidFill>
              </a:rPr>
              <a:t>shots</a:t>
            </a:r>
            <a:r>
              <a:rPr i="1">
                <a:solidFill>
                  <a:srgbClr val="FC618D"/>
                </a:solidFill>
              </a:rPr>
              <a:t>=</a:t>
            </a:r>
            <a:r>
              <a:rPr>
                <a:solidFill>
                  <a:srgbClr val="948AE3"/>
                </a:solidFill>
              </a:rPr>
              <a:t>1024</a:t>
            </a:r>
            <a:r>
              <a:rPr>
                <a:solidFill>
                  <a:srgbClr val="8B888F"/>
                </a:solidFill>
              </a:rPr>
              <a:t>)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7F1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sim_result </a:t>
            </a:r>
            <a:r>
              <a:rPr i="1">
                <a:solidFill>
                  <a:srgbClr val="FC618D"/>
                </a:solidFill>
              </a:rPr>
              <a:t>=</a:t>
            </a:r>
            <a:r>
              <a:t> job</a:t>
            </a:r>
            <a:r>
              <a:rPr>
                <a:solidFill>
                  <a:srgbClr val="8B888F"/>
                </a:solidFill>
              </a:rPr>
              <a:t>.</a:t>
            </a:r>
            <a:r>
              <a:rPr>
                <a:solidFill>
                  <a:srgbClr val="7BD88F"/>
                </a:solidFill>
              </a:rPr>
              <a:t>result</a:t>
            </a:r>
            <a:r>
              <a:rPr>
                <a:solidFill>
                  <a:srgbClr val="8B888F"/>
                </a:solidFill>
              </a:rPr>
              <a:t>()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2700">
                <a:solidFill>
                  <a:srgbClr val="F7F1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sim_counts </a:t>
            </a:r>
            <a:r>
              <a:rPr i="1">
                <a:solidFill>
                  <a:srgbClr val="FC618D"/>
                </a:solidFill>
              </a:rPr>
              <a:t>=</a:t>
            </a:r>
            <a:r>
              <a:t> sim_result</a:t>
            </a:r>
            <a:r>
              <a:rPr>
                <a:solidFill>
                  <a:srgbClr val="8B888F"/>
                </a:solidFill>
              </a:rPr>
              <a:t>[</a:t>
            </a:r>
            <a:r>
              <a:rPr>
                <a:solidFill>
                  <a:srgbClr val="948AE3"/>
                </a:solidFill>
              </a:rPr>
              <a:t>0</a:t>
            </a:r>
            <a:r>
              <a:rPr>
                <a:solidFill>
                  <a:srgbClr val="8B888F"/>
                </a:solidFill>
              </a:rPr>
              <a:t>].</a:t>
            </a:r>
            <a:r>
              <a:t>data</a:t>
            </a:r>
            <a:r>
              <a:rPr>
                <a:solidFill>
                  <a:srgbClr val="8B888F"/>
                </a:solidFill>
              </a:rPr>
              <a:t>.</a:t>
            </a:r>
            <a:r>
              <a:t>meas</a:t>
            </a:r>
            <a:r>
              <a:rPr>
                <a:solidFill>
                  <a:srgbClr val="8B888F"/>
                </a:solidFill>
              </a:rPr>
              <a:t>.</a:t>
            </a:r>
            <a:r>
              <a:rPr>
                <a:solidFill>
                  <a:srgbClr val="7BD88F"/>
                </a:solidFill>
              </a:rPr>
              <a:t>get_counts</a:t>
            </a:r>
            <a:r>
              <a:rPr>
                <a:solidFill>
                  <a:srgbClr val="8B888F"/>
                </a:solidFill>
              </a:rPr>
              <a:t>()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7F1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endParaRPr>
              <a:solidFill>
                <a:srgbClr val="8B888F"/>
              </a:solidFill>
            </a:endParaR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7F1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endParaRPr>
              <a:solidFill>
                <a:srgbClr val="8B888F"/>
              </a:solidFill>
            </a:endParaR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7BD88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plot_histogram</a:t>
            </a:r>
            <a:r>
              <a:rPr>
                <a:solidFill>
                  <a:srgbClr val="8B888F"/>
                </a:solidFill>
              </a:rPr>
              <a:t>(</a:t>
            </a:r>
            <a:r>
              <a:rPr>
                <a:solidFill>
                  <a:srgbClr val="F7F1FF"/>
                </a:solidFill>
              </a:rPr>
              <a:t>sim_counts</a:t>
            </a:r>
            <a:r>
              <a:rPr>
                <a:solidFill>
                  <a:srgbClr val="8B888F"/>
                </a:solidFill>
              </a:rPr>
              <a:t>,</a:t>
            </a:r>
            <a:r>
              <a:rPr>
                <a:solidFill>
                  <a:srgbClr val="F7F1FF"/>
                </a:solidFill>
              </a:rPr>
              <a:t> </a:t>
            </a:r>
            <a:r>
              <a:rPr i="1">
                <a:solidFill>
                  <a:srgbClr val="FD9353"/>
                </a:solidFill>
              </a:rPr>
              <a:t>color</a:t>
            </a:r>
            <a:r>
              <a:rPr i="1">
                <a:solidFill>
                  <a:srgbClr val="FC618D"/>
                </a:solidFill>
              </a:rPr>
              <a:t>=</a:t>
            </a:r>
            <a:r>
              <a:rPr>
                <a:solidFill>
                  <a:srgbClr val="8B888F"/>
                </a:solidFill>
              </a:rPr>
              <a:t>"</a:t>
            </a:r>
            <a:r>
              <a:rPr>
                <a:solidFill>
                  <a:srgbClr val="FCE566"/>
                </a:solidFill>
              </a:rPr>
              <a:t>orange</a:t>
            </a:r>
            <a:r>
              <a:rPr>
                <a:solidFill>
                  <a:srgbClr val="8B888F"/>
                </a:solidFill>
              </a:rPr>
              <a:t>")</a:t>
            </a:r>
          </a:p>
        </p:txBody>
      </p:sp>
      <p:pic>
        <p:nvPicPr>
          <p:cNvPr id="217" name="full_distrib.png" descr="full_distri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23768" y="3999198"/>
            <a:ext cx="10558002" cy="787660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quantum hello world"/>
          <p:cNvSpPr txBox="1">
            <a:spLocks noGrp="1"/>
          </p:cNvSpPr>
          <p:nvPr>
            <p:ph type="title"/>
          </p:nvPr>
        </p:nvSpPr>
        <p:spPr>
          <a:xfrm>
            <a:off x="673100" y="304800"/>
            <a:ext cx="23050500" cy="2921000"/>
          </a:xfrm>
          <a:prstGeom prst="rect">
            <a:avLst/>
          </a:prstGeom>
        </p:spPr>
        <p:txBody>
          <a:bodyPr/>
          <a:lstStyle/>
          <a:p>
            <a:r>
              <a:t>quantum hello world</a:t>
            </a:r>
          </a:p>
        </p:txBody>
      </p:sp>
      <p:sp>
        <p:nvSpPr>
          <p:cNvPr id="220" name="Rounded Rectangle"/>
          <p:cNvSpPr/>
          <p:nvPr/>
        </p:nvSpPr>
        <p:spPr>
          <a:xfrm>
            <a:off x="1397000" y="3810000"/>
            <a:ext cx="21590000" cy="8255000"/>
          </a:xfrm>
          <a:prstGeom prst="roundRect">
            <a:avLst>
              <a:gd name="adj" fmla="val 2308"/>
            </a:avLst>
          </a:prstGeom>
          <a:solidFill>
            <a:schemeClr val="accent6">
              <a:hueOff val="-133706"/>
              <a:satOff val="8281"/>
              <a:lumOff val="-27269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defRPr sz="5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21" name="# Circuit…"/>
          <p:cNvSpPr txBox="1"/>
          <p:nvPr/>
        </p:nvSpPr>
        <p:spPr>
          <a:xfrm>
            <a:off x="1600952" y="4115518"/>
            <a:ext cx="10626994" cy="2298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0"/>
              </a:spcBef>
              <a:defRPr sz="3800">
                <a:solidFill>
                  <a:srgbClr val="F7F1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i="1">
                <a:solidFill>
                  <a:srgbClr val="69676C"/>
                </a:solidFill>
              </a:rPr>
              <a:t># Circuit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3600">
                <a:solidFill>
                  <a:srgbClr val="F7F1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qc</a:t>
            </a:r>
            <a:r>
              <a:rPr>
                <a:solidFill>
                  <a:srgbClr val="8B888F"/>
                </a:solidFill>
              </a:rPr>
              <a:t>:</a:t>
            </a:r>
            <a:r>
              <a:t> QuantumCircuit </a:t>
            </a:r>
            <a:r>
              <a:rPr i="1">
                <a:solidFill>
                  <a:srgbClr val="FC618D"/>
                </a:solidFill>
              </a:rPr>
              <a:t>=</a:t>
            </a:r>
            <a:r>
              <a:t> </a:t>
            </a:r>
            <a:r>
              <a:rPr>
                <a:solidFill>
                  <a:srgbClr val="7BD88F"/>
                </a:solidFill>
              </a:rPr>
              <a:t>QuantumCircuit</a:t>
            </a:r>
            <a:r>
              <a:rPr>
                <a:solidFill>
                  <a:srgbClr val="8B888F"/>
                </a:solidFill>
              </a:rPr>
              <a:t>(</a:t>
            </a:r>
            <a:r>
              <a:rPr>
                <a:solidFill>
                  <a:srgbClr val="948AE3"/>
                </a:solidFill>
              </a:rPr>
              <a:t>2</a:t>
            </a:r>
            <a:r>
              <a:rPr>
                <a:solidFill>
                  <a:srgbClr val="8B888F"/>
                </a:solidFill>
              </a:rPr>
              <a:t>)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3800">
                <a:solidFill>
                  <a:srgbClr val="7BD88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F7F1FF"/>
                </a:solidFill>
              </a:rPr>
              <a:t>qc</a:t>
            </a:r>
            <a:r>
              <a:rPr>
                <a:solidFill>
                  <a:srgbClr val="8B888F"/>
                </a:solidFill>
              </a:rPr>
              <a:t>.</a:t>
            </a:r>
            <a:r>
              <a:t>measure_all</a:t>
            </a:r>
            <a:r>
              <a:rPr>
                <a:solidFill>
                  <a:srgbClr val="8B888F"/>
                </a:solidFill>
              </a:rPr>
              <a:t>()</a:t>
            </a:r>
            <a:endParaRPr>
              <a:solidFill>
                <a:srgbClr val="F7F1FF"/>
              </a:solidFill>
            </a:endParaRPr>
          </a:p>
        </p:txBody>
      </p:sp>
      <p:pic>
        <p:nvPicPr>
          <p:cNvPr id="222" name="qc_0.png" descr="qc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8646" y="6063445"/>
            <a:ext cx="8211606" cy="5782136"/>
          </a:xfrm>
          <a:prstGeom prst="rect">
            <a:avLst/>
          </a:prstGeom>
          <a:ln w="12700">
            <a:miter lim="400000"/>
          </a:ln>
        </p:spPr>
      </p:pic>
      <p:pic>
        <p:nvPicPr>
          <p:cNvPr id="223" name="qc_1.png" descr="qc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99373" y="4032250"/>
            <a:ext cx="10469393" cy="7810500"/>
          </a:xfrm>
          <a:prstGeom prst="rect">
            <a:avLst/>
          </a:prstGeom>
          <a:ln w="12700">
            <a:miter lim="400000"/>
          </a:ln>
        </p:spPr>
      </p:pic>
      <p:sp>
        <p:nvSpPr>
          <p:cNvPr id="224" name="Line"/>
          <p:cNvSpPr/>
          <p:nvPr/>
        </p:nvSpPr>
        <p:spPr>
          <a:xfrm>
            <a:off x="10248451" y="9106826"/>
            <a:ext cx="7447230" cy="2457395"/>
          </a:xfrm>
          <a:prstGeom prst="line">
            <a:avLst/>
          </a:prstGeom>
          <a:ln w="63500">
            <a:solidFill>
              <a:srgbClr val="AB1802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defRPr sz="5000"/>
            </a:pPr>
            <a:endParaRPr/>
          </a:p>
        </p:txBody>
      </p:sp>
      <p:sp>
        <p:nvSpPr>
          <p:cNvPr id="225" name="Line"/>
          <p:cNvSpPr/>
          <p:nvPr/>
        </p:nvSpPr>
        <p:spPr>
          <a:xfrm>
            <a:off x="9046363" y="7611012"/>
            <a:ext cx="8825208" cy="3577630"/>
          </a:xfrm>
          <a:prstGeom prst="line">
            <a:avLst/>
          </a:prstGeom>
          <a:ln w="63500">
            <a:solidFill>
              <a:srgbClr val="AB1802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defRPr sz="5000"/>
            </a:pPr>
            <a:endParaRPr/>
          </a:p>
        </p:txBody>
      </p:sp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quantum hello world"/>
          <p:cNvSpPr txBox="1">
            <a:spLocks noGrp="1"/>
          </p:cNvSpPr>
          <p:nvPr>
            <p:ph type="title"/>
          </p:nvPr>
        </p:nvSpPr>
        <p:spPr>
          <a:xfrm>
            <a:off x="673100" y="304800"/>
            <a:ext cx="23050500" cy="2921000"/>
          </a:xfrm>
          <a:prstGeom prst="rect">
            <a:avLst/>
          </a:prstGeom>
        </p:spPr>
        <p:txBody>
          <a:bodyPr/>
          <a:lstStyle/>
          <a:p>
            <a:r>
              <a:t>quantum hello world</a:t>
            </a:r>
          </a:p>
        </p:txBody>
      </p:sp>
      <p:sp>
        <p:nvSpPr>
          <p:cNvPr id="228" name="Rounded Rectangle"/>
          <p:cNvSpPr/>
          <p:nvPr/>
        </p:nvSpPr>
        <p:spPr>
          <a:xfrm>
            <a:off x="1397000" y="3810000"/>
            <a:ext cx="21590000" cy="8255000"/>
          </a:xfrm>
          <a:prstGeom prst="roundRect">
            <a:avLst>
              <a:gd name="adj" fmla="val 2308"/>
            </a:avLst>
          </a:prstGeom>
          <a:solidFill>
            <a:schemeClr val="accent6">
              <a:hueOff val="-133706"/>
              <a:satOff val="8281"/>
              <a:lumOff val="-27269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defRPr sz="5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29" name="# Circuit…"/>
          <p:cNvSpPr txBox="1"/>
          <p:nvPr/>
        </p:nvSpPr>
        <p:spPr>
          <a:xfrm>
            <a:off x="1600952" y="3944068"/>
            <a:ext cx="10626994" cy="2641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0"/>
              </a:spcBef>
              <a:defRPr sz="3400">
                <a:solidFill>
                  <a:srgbClr val="F7F1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i="1">
                <a:solidFill>
                  <a:srgbClr val="69676C"/>
                </a:solidFill>
              </a:rPr>
              <a:t># Circuit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3400">
                <a:solidFill>
                  <a:srgbClr val="F7F1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qc</a:t>
            </a:r>
            <a:r>
              <a:rPr>
                <a:solidFill>
                  <a:srgbClr val="8B888F"/>
                </a:solidFill>
              </a:rPr>
              <a:t>:</a:t>
            </a:r>
            <a:r>
              <a:t> QuantumCircuit </a:t>
            </a:r>
            <a:r>
              <a:rPr i="1">
                <a:solidFill>
                  <a:srgbClr val="FC618D"/>
                </a:solidFill>
              </a:rPr>
              <a:t>=</a:t>
            </a:r>
            <a:r>
              <a:t> </a:t>
            </a:r>
            <a:r>
              <a:rPr>
                <a:solidFill>
                  <a:srgbClr val="7BD88F"/>
                </a:solidFill>
              </a:rPr>
              <a:t>QuantumCircuit</a:t>
            </a:r>
            <a:r>
              <a:rPr>
                <a:solidFill>
                  <a:srgbClr val="8B888F"/>
                </a:solidFill>
              </a:rPr>
              <a:t>(</a:t>
            </a:r>
            <a:r>
              <a:rPr>
                <a:solidFill>
                  <a:srgbClr val="948AE3"/>
                </a:solidFill>
              </a:rPr>
              <a:t>2</a:t>
            </a:r>
            <a:r>
              <a:rPr>
                <a:solidFill>
                  <a:srgbClr val="8B888F"/>
                </a:solidFill>
              </a:rPr>
              <a:t>)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3400" i="1">
                <a:solidFill>
                  <a:srgbClr val="69676C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i="0">
                <a:solidFill>
                  <a:srgbClr val="F7F1FF"/>
                </a:solidFill>
              </a:rPr>
              <a:t>qc</a:t>
            </a:r>
            <a:r>
              <a:rPr i="0">
                <a:solidFill>
                  <a:srgbClr val="8B888F"/>
                </a:solidFill>
              </a:rPr>
              <a:t>.</a:t>
            </a:r>
            <a:r>
              <a:rPr i="0">
                <a:solidFill>
                  <a:srgbClr val="7BD88F"/>
                </a:solidFill>
              </a:rPr>
              <a:t>h</a:t>
            </a:r>
            <a:r>
              <a:rPr i="0">
                <a:solidFill>
                  <a:srgbClr val="8B888F"/>
                </a:solidFill>
              </a:rPr>
              <a:t>(</a:t>
            </a:r>
            <a:r>
              <a:rPr i="0">
                <a:solidFill>
                  <a:srgbClr val="948AE3"/>
                </a:solidFill>
              </a:rPr>
              <a:t>0</a:t>
            </a:r>
            <a:r>
              <a:rPr i="0">
                <a:solidFill>
                  <a:srgbClr val="8B888F"/>
                </a:solidFill>
              </a:rPr>
              <a:t>)</a:t>
            </a:r>
            <a:r>
              <a:rPr i="0">
                <a:solidFill>
                  <a:srgbClr val="F7F1FF"/>
                </a:solidFill>
              </a:rPr>
              <a:t> </a:t>
            </a:r>
            <a:r>
              <a:t># Hadamard gate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3400">
                <a:solidFill>
                  <a:srgbClr val="7BD88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F7F1FF"/>
                </a:solidFill>
              </a:rPr>
              <a:t>qc</a:t>
            </a:r>
            <a:r>
              <a:rPr>
                <a:solidFill>
                  <a:srgbClr val="8B888F"/>
                </a:solidFill>
              </a:rPr>
              <a:t>.</a:t>
            </a:r>
            <a:r>
              <a:t>measure_all</a:t>
            </a:r>
            <a:r>
              <a:rPr>
                <a:solidFill>
                  <a:srgbClr val="8B888F"/>
                </a:solidFill>
              </a:rPr>
              <a:t>()</a:t>
            </a:r>
            <a:endParaRPr>
              <a:solidFill>
                <a:srgbClr val="F7F1FF"/>
              </a:solidFill>
            </a:endParaRPr>
          </a:p>
        </p:txBody>
      </p:sp>
      <p:pic>
        <p:nvPicPr>
          <p:cNvPr id="230" name="qc_2.png" descr="qc_2.png"/>
          <p:cNvPicPr>
            <a:picLocks noChangeAspect="1"/>
          </p:cNvPicPr>
          <p:nvPr/>
        </p:nvPicPr>
        <p:blipFill>
          <a:blip r:embed="rId2"/>
          <a:srcRect l="11372" r="4547"/>
          <a:stretch>
            <a:fillRect/>
          </a:stretch>
        </p:blipFill>
        <p:spPr>
          <a:xfrm>
            <a:off x="2808646" y="6063445"/>
            <a:ext cx="8211606" cy="5782136"/>
          </a:xfrm>
          <a:prstGeom prst="rect">
            <a:avLst/>
          </a:prstGeom>
          <a:ln w="12700">
            <a:miter lim="400000"/>
          </a:ln>
        </p:spPr>
      </p:pic>
      <p:pic>
        <p:nvPicPr>
          <p:cNvPr id="231" name="qc_3.png" descr="qc_3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2299372" y="4032250"/>
            <a:ext cx="10469393" cy="7810500"/>
          </a:xfrm>
          <a:prstGeom prst="rect">
            <a:avLst/>
          </a:prstGeom>
          <a:ln w="12700">
            <a:miter lim="400000"/>
          </a:ln>
        </p:spPr>
      </p:pic>
      <p:sp>
        <p:nvSpPr>
          <p:cNvPr id="232" name="Line"/>
          <p:cNvSpPr/>
          <p:nvPr/>
        </p:nvSpPr>
        <p:spPr>
          <a:xfrm>
            <a:off x="9082018" y="7644155"/>
            <a:ext cx="5937623" cy="3626723"/>
          </a:xfrm>
          <a:prstGeom prst="line">
            <a:avLst/>
          </a:prstGeom>
          <a:ln w="63500">
            <a:solidFill>
              <a:srgbClr val="AB1802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defRPr sz="5000"/>
            </a:pPr>
            <a:endParaRPr/>
          </a:p>
        </p:txBody>
      </p:sp>
      <p:sp>
        <p:nvSpPr>
          <p:cNvPr id="233" name="Line"/>
          <p:cNvSpPr/>
          <p:nvPr/>
        </p:nvSpPr>
        <p:spPr>
          <a:xfrm>
            <a:off x="9046363" y="7611011"/>
            <a:ext cx="11602068" cy="3611985"/>
          </a:xfrm>
          <a:prstGeom prst="line">
            <a:avLst/>
          </a:prstGeom>
          <a:ln w="63500">
            <a:solidFill>
              <a:srgbClr val="AB1802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defRPr sz="5000"/>
            </a:pPr>
            <a:endParaRPr/>
          </a:p>
        </p:txBody>
      </p:sp>
    </p:spTree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quantum hello world"/>
          <p:cNvSpPr txBox="1">
            <a:spLocks noGrp="1"/>
          </p:cNvSpPr>
          <p:nvPr>
            <p:ph type="title"/>
          </p:nvPr>
        </p:nvSpPr>
        <p:spPr>
          <a:xfrm>
            <a:off x="673100" y="304800"/>
            <a:ext cx="23050500" cy="2921000"/>
          </a:xfrm>
          <a:prstGeom prst="rect">
            <a:avLst/>
          </a:prstGeom>
        </p:spPr>
        <p:txBody>
          <a:bodyPr/>
          <a:lstStyle/>
          <a:p>
            <a:r>
              <a:t>quantum hello world</a:t>
            </a:r>
          </a:p>
        </p:txBody>
      </p:sp>
      <p:sp>
        <p:nvSpPr>
          <p:cNvPr id="236" name="Rounded Rectangle"/>
          <p:cNvSpPr/>
          <p:nvPr/>
        </p:nvSpPr>
        <p:spPr>
          <a:xfrm>
            <a:off x="1397000" y="3810000"/>
            <a:ext cx="21590000" cy="8255000"/>
          </a:xfrm>
          <a:prstGeom prst="roundRect">
            <a:avLst>
              <a:gd name="adj" fmla="val 2308"/>
            </a:avLst>
          </a:prstGeom>
          <a:solidFill>
            <a:schemeClr val="accent6">
              <a:hueOff val="-133706"/>
              <a:satOff val="8281"/>
              <a:lumOff val="-27269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defRPr sz="5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37" name="# Circuit…"/>
          <p:cNvSpPr txBox="1"/>
          <p:nvPr/>
        </p:nvSpPr>
        <p:spPr>
          <a:xfrm>
            <a:off x="1600952" y="3956768"/>
            <a:ext cx="10626994" cy="2616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0"/>
              </a:spcBef>
              <a:defRPr sz="2800">
                <a:solidFill>
                  <a:srgbClr val="F7F1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i="1">
                <a:solidFill>
                  <a:srgbClr val="69676C"/>
                </a:solidFill>
              </a:rPr>
              <a:t># Circuit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2800">
                <a:solidFill>
                  <a:srgbClr val="F7F1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qc</a:t>
            </a:r>
            <a:r>
              <a:rPr>
                <a:solidFill>
                  <a:srgbClr val="8B888F"/>
                </a:solidFill>
              </a:rPr>
              <a:t>:</a:t>
            </a:r>
            <a:r>
              <a:t> QuantumCircuit </a:t>
            </a:r>
            <a:r>
              <a:rPr i="1">
                <a:solidFill>
                  <a:srgbClr val="FC618D"/>
                </a:solidFill>
              </a:rPr>
              <a:t>=</a:t>
            </a:r>
            <a:r>
              <a:t> </a:t>
            </a:r>
            <a:r>
              <a:rPr>
                <a:solidFill>
                  <a:srgbClr val="7BD88F"/>
                </a:solidFill>
              </a:rPr>
              <a:t>QuantumCircuit</a:t>
            </a:r>
            <a:r>
              <a:rPr>
                <a:solidFill>
                  <a:srgbClr val="8B888F"/>
                </a:solidFill>
              </a:rPr>
              <a:t>(</a:t>
            </a:r>
            <a:r>
              <a:rPr>
                <a:solidFill>
                  <a:srgbClr val="948AE3"/>
                </a:solidFill>
              </a:rPr>
              <a:t>2</a:t>
            </a:r>
            <a:r>
              <a:rPr>
                <a:solidFill>
                  <a:srgbClr val="8B888F"/>
                </a:solidFill>
              </a:rPr>
              <a:t>)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2800" i="1">
                <a:solidFill>
                  <a:srgbClr val="69676C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i="0">
                <a:solidFill>
                  <a:srgbClr val="F7F1FF"/>
                </a:solidFill>
              </a:rPr>
              <a:t>qc</a:t>
            </a:r>
            <a:r>
              <a:rPr i="0">
                <a:solidFill>
                  <a:srgbClr val="8B888F"/>
                </a:solidFill>
              </a:rPr>
              <a:t>.</a:t>
            </a:r>
            <a:r>
              <a:rPr i="0">
                <a:solidFill>
                  <a:srgbClr val="7BD88F"/>
                </a:solidFill>
              </a:rPr>
              <a:t>h</a:t>
            </a:r>
            <a:r>
              <a:rPr i="0">
                <a:solidFill>
                  <a:srgbClr val="8B888F"/>
                </a:solidFill>
              </a:rPr>
              <a:t>(</a:t>
            </a:r>
            <a:r>
              <a:rPr i="0">
                <a:solidFill>
                  <a:srgbClr val="948AE3"/>
                </a:solidFill>
              </a:rPr>
              <a:t>0</a:t>
            </a:r>
            <a:r>
              <a:rPr i="0">
                <a:solidFill>
                  <a:srgbClr val="8B888F"/>
                </a:solidFill>
              </a:rPr>
              <a:t>)</a:t>
            </a:r>
            <a:r>
              <a:rPr i="0">
                <a:solidFill>
                  <a:srgbClr val="F7F1FF"/>
                </a:solidFill>
              </a:rPr>
              <a:t> </a:t>
            </a:r>
            <a:r>
              <a:t># Hadamard gate</a:t>
            </a:r>
            <a:endParaRPr i="0">
              <a:solidFill>
                <a:srgbClr val="F7F1FF"/>
              </a:solidFill>
            </a:endParaR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2800" i="1">
                <a:solidFill>
                  <a:srgbClr val="69676C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i="0">
                <a:solidFill>
                  <a:srgbClr val="F7F1FF"/>
                </a:solidFill>
              </a:rPr>
              <a:t>qc</a:t>
            </a:r>
            <a:r>
              <a:rPr i="0">
                <a:solidFill>
                  <a:srgbClr val="8B888F"/>
                </a:solidFill>
              </a:rPr>
              <a:t>.</a:t>
            </a:r>
            <a:r>
              <a:rPr i="0">
                <a:solidFill>
                  <a:srgbClr val="7BD88F"/>
                </a:solidFill>
              </a:rPr>
              <a:t>cx</a:t>
            </a:r>
            <a:r>
              <a:rPr i="0">
                <a:solidFill>
                  <a:srgbClr val="8B888F"/>
                </a:solidFill>
              </a:rPr>
              <a:t>(</a:t>
            </a:r>
            <a:r>
              <a:rPr i="0">
                <a:solidFill>
                  <a:srgbClr val="948AE3"/>
                </a:solidFill>
              </a:rPr>
              <a:t>0</a:t>
            </a:r>
            <a:r>
              <a:rPr i="0">
                <a:solidFill>
                  <a:srgbClr val="8B888F"/>
                </a:solidFill>
              </a:rPr>
              <a:t>,</a:t>
            </a:r>
            <a:r>
              <a:rPr i="0">
                <a:solidFill>
                  <a:srgbClr val="F7F1FF"/>
                </a:solidFill>
              </a:rPr>
              <a:t> </a:t>
            </a:r>
            <a:r>
              <a:rPr i="0">
                <a:solidFill>
                  <a:srgbClr val="948AE3"/>
                </a:solidFill>
              </a:rPr>
              <a:t>1</a:t>
            </a:r>
            <a:r>
              <a:rPr i="0">
                <a:solidFill>
                  <a:srgbClr val="8B888F"/>
                </a:solidFill>
              </a:rPr>
              <a:t>)</a:t>
            </a:r>
            <a:r>
              <a:rPr i="0">
                <a:solidFill>
                  <a:srgbClr val="F7F1FF"/>
                </a:solidFill>
              </a:rPr>
              <a:t> </a:t>
            </a:r>
            <a:r>
              <a:t># Controlled not gate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2800">
                <a:solidFill>
                  <a:srgbClr val="7BD88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F7F1FF"/>
                </a:solidFill>
              </a:rPr>
              <a:t>qc</a:t>
            </a:r>
            <a:r>
              <a:rPr>
                <a:solidFill>
                  <a:srgbClr val="8B888F"/>
                </a:solidFill>
              </a:rPr>
              <a:t>.</a:t>
            </a:r>
            <a:r>
              <a:t>measure_all</a:t>
            </a:r>
            <a:r>
              <a:rPr>
                <a:solidFill>
                  <a:srgbClr val="8B888F"/>
                </a:solidFill>
              </a:rPr>
              <a:t>()</a:t>
            </a:r>
            <a:endParaRPr>
              <a:solidFill>
                <a:srgbClr val="F7F1FF"/>
              </a:solidFill>
            </a:endParaRPr>
          </a:p>
        </p:txBody>
      </p:sp>
      <p:pic>
        <p:nvPicPr>
          <p:cNvPr id="238" name="output.png" descr="output.png"/>
          <p:cNvPicPr>
            <a:picLocks noChangeAspect="1"/>
          </p:cNvPicPr>
          <p:nvPr/>
        </p:nvPicPr>
        <p:blipFill>
          <a:blip r:embed="rId2"/>
          <a:srcRect l="9810" r="3978"/>
          <a:stretch>
            <a:fillRect/>
          </a:stretch>
        </p:blipFill>
        <p:spPr>
          <a:xfrm>
            <a:off x="2808646" y="6522153"/>
            <a:ext cx="8211606" cy="4864720"/>
          </a:xfrm>
          <a:prstGeom prst="rect">
            <a:avLst/>
          </a:prstGeom>
          <a:ln w="12700">
            <a:miter lim="400000"/>
          </a:ln>
        </p:spPr>
      </p:pic>
      <p:pic>
        <p:nvPicPr>
          <p:cNvPr id="239" name="qc_5.png" descr="qc_5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2299371" y="4032250"/>
            <a:ext cx="10469393" cy="7810500"/>
          </a:xfrm>
          <a:prstGeom prst="rect">
            <a:avLst/>
          </a:prstGeom>
          <a:ln w="12700">
            <a:miter lim="400000"/>
          </a:ln>
        </p:spPr>
      </p:pic>
      <p:sp>
        <p:nvSpPr>
          <p:cNvPr id="240" name="Line"/>
          <p:cNvSpPr/>
          <p:nvPr/>
        </p:nvSpPr>
        <p:spPr>
          <a:xfrm>
            <a:off x="10610141" y="9325965"/>
            <a:ext cx="4508366" cy="2223647"/>
          </a:xfrm>
          <a:prstGeom prst="line">
            <a:avLst/>
          </a:prstGeom>
          <a:ln w="63500">
            <a:solidFill>
              <a:srgbClr val="AB1802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defRPr sz="5000"/>
            </a:pPr>
            <a:endParaRPr/>
          </a:p>
        </p:txBody>
      </p:sp>
      <p:sp>
        <p:nvSpPr>
          <p:cNvPr id="241" name="Line"/>
          <p:cNvSpPr/>
          <p:nvPr/>
        </p:nvSpPr>
        <p:spPr>
          <a:xfrm>
            <a:off x="10669158" y="9002513"/>
            <a:ext cx="9939638" cy="2493127"/>
          </a:xfrm>
          <a:prstGeom prst="line">
            <a:avLst/>
          </a:prstGeom>
          <a:ln w="63500">
            <a:solidFill>
              <a:srgbClr val="AB1802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defRPr sz="5000"/>
            </a:pPr>
            <a:endParaRPr/>
          </a:p>
        </p:txBody>
      </p:sp>
    </p:spTree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Run on real hardwar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Run on real hardware</a:t>
            </a:r>
          </a:p>
        </p:txBody>
      </p:sp>
      <p:sp>
        <p:nvSpPr>
          <p:cNvPr id="244" name="Quantum hello world"/>
          <p:cNvSpPr txBox="1">
            <a:spLocks noGrp="1"/>
          </p:cNvSpPr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Quantum hello world</a:t>
            </a:r>
          </a:p>
        </p:txBody>
      </p:sp>
    </p:spTree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Find QPU"/>
          <p:cNvSpPr txBox="1">
            <a:spLocks noGrp="1"/>
          </p:cNvSpPr>
          <p:nvPr>
            <p:ph type="title"/>
          </p:nvPr>
        </p:nvSpPr>
        <p:spPr>
          <a:xfrm>
            <a:off x="673100" y="304800"/>
            <a:ext cx="23050500" cy="2921000"/>
          </a:xfrm>
          <a:prstGeom prst="rect">
            <a:avLst/>
          </a:prstGeom>
        </p:spPr>
        <p:txBody>
          <a:bodyPr/>
          <a:lstStyle/>
          <a:p>
            <a:r>
              <a:t>Find QPU</a:t>
            </a:r>
          </a:p>
        </p:txBody>
      </p:sp>
      <p:sp>
        <p:nvSpPr>
          <p:cNvPr id="247" name="Rounded Rectangle"/>
          <p:cNvSpPr/>
          <p:nvPr/>
        </p:nvSpPr>
        <p:spPr>
          <a:xfrm>
            <a:off x="1397000" y="3810000"/>
            <a:ext cx="21590000" cy="8255000"/>
          </a:xfrm>
          <a:prstGeom prst="roundRect">
            <a:avLst>
              <a:gd name="adj" fmla="val 2308"/>
            </a:avLst>
          </a:prstGeom>
          <a:solidFill>
            <a:schemeClr val="accent6">
              <a:hueOff val="-133706"/>
              <a:satOff val="8281"/>
              <a:lumOff val="-27269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defRPr sz="5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48" name="from qiskit_ibm_runtime import QiskitRuntimeService…"/>
          <p:cNvSpPr txBox="1"/>
          <p:nvPr/>
        </p:nvSpPr>
        <p:spPr>
          <a:xfrm>
            <a:off x="1791307" y="4076700"/>
            <a:ext cx="13625117" cy="7721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0"/>
              </a:spcBef>
              <a:defRPr sz="3400">
                <a:solidFill>
                  <a:srgbClr val="F7F1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i="1">
                <a:solidFill>
                  <a:srgbClr val="FC618D"/>
                </a:solidFill>
              </a:rPr>
              <a:t>from</a:t>
            </a:r>
            <a:r>
              <a:t> qiskit_ibm_runtime </a:t>
            </a:r>
            <a:r>
              <a:rPr i="1">
                <a:solidFill>
                  <a:srgbClr val="FC618D"/>
                </a:solidFill>
              </a:rPr>
              <a:t>import</a:t>
            </a:r>
            <a:r>
              <a:t> QiskitRuntimeService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3400">
                <a:solidFill>
                  <a:srgbClr val="F7F1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endParaRPr/>
          </a:p>
          <a:p>
            <a:pPr defTabSz="457200">
              <a:lnSpc>
                <a:spcPct val="100000"/>
              </a:lnSpc>
              <a:spcBef>
                <a:spcPts val="0"/>
              </a:spcBef>
              <a:defRPr sz="3400">
                <a:solidFill>
                  <a:srgbClr val="7BD88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F7F1FF"/>
                </a:solidFill>
              </a:rPr>
              <a:t>service </a:t>
            </a:r>
            <a:r>
              <a:rPr i="1">
                <a:solidFill>
                  <a:srgbClr val="FC618D"/>
                </a:solidFill>
              </a:rPr>
              <a:t>=</a:t>
            </a:r>
            <a:r>
              <a:rPr>
                <a:solidFill>
                  <a:srgbClr val="F7F1FF"/>
                </a:solidFill>
              </a:rPr>
              <a:t> </a:t>
            </a:r>
            <a:r>
              <a:t>QiskitRuntimeService</a:t>
            </a:r>
            <a:r>
              <a:rPr>
                <a:solidFill>
                  <a:srgbClr val="8B888F"/>
                </a:solidFill>
              </a:rPr>
              <a:t>(</a:t>
            </a:r>
            <a:endParaRPr>
              <a:solidFill>
                <a:srgbClr val="F7F1FF"/>
              </a:solidFill>
            </a:endParaR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3400">
                <a:solidFill>
                  <a:srgbClr val="FCE566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F7F1FF"/>
                </a:solidFill>
              </a:rPr>
              <a:t>    </a:t>
            </a:r>
            <a:r>
              <a:rPr i="1">
                <a:solidFill>
                  <a:srgbClr val="FD9353"/>
                </a:solidFill>
              </a:rPr>
              <a:t>channel</a:t>
            </a:r>
            <a:r>
              <a:rPr i="1">
                <a:solidFill>
                  <a:srgbClr val="FC618D"/>
                </a:solidFill>
              </a:rPr>
              <a:t>=</a:t>
            </a:r>
            <a:r>
              <a:rPr>
                <a:solidFill>
                  <a:srgbClr val="8B888F"/>
                </a:solidFill>
              </a:rPr>
              <a:t>"</a:t>
            </a:r>
            <a:r>
              <a:t>ibm_quantum_platform</a:t>
            </a:r>
            <a:r>
              <a:rPr>
                <a:solidFill>
                  <a:srgbClr val="8B888F"/>
                </a:solidFill>
              </a:rPr>
              <a:t>",</a:t>
            </a:r>
            <a:endParaRPr>
              <a:solidFill>
                <a:srgbClr val="F7F1FF"/>
              </a:solidFill>
            </a:endParaR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3400">
                <a:solidFill>
                  <a:srgbClr val="FD9353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F7F1FF"/>
                </a:solidFill>
              </a:rPr>
              <a:t>    </a:t>
            </a:r>
            <a:r>
              <a:rPr i="1"/>
              <a:t>token</a:t>
            </a:r>
            <a:r>
              <a:rPr i="1">
                <a:solidFill>
                  <a:srgbClr val="FC618D"/>
                </a:solidFill>
              </a:rPr>
              <a:t>=</a:t>
            </a:r>
            <a:r>
              <a:rPr>
                <a:solidFill>
                  <a:srgbClr val="948AE3"/>
                </a:solidFill>
              </a:rPr>
              <a:t>TOKEN</a:t>
            </a:r>
            <a:r>
              <a:rPr>
                <a:solidFill>
                  <a:srgbClr val="8B888F"/>
                </a:solidFill>
              </a:rPr>
              <a:t>,</a:t>
            </a:r>
            <a:endParaRPr>
              <a:solidFill>
                <a:srgbClr val="F7F1FF"/>
              </a:solidFill>
            </a:endParaR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3400" i="1">
                <a:solidFill>
                  <a:srgbClr val="FD9353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i="0">
                <a:solidFill>
                  <a:srgbClr val="F7F1FF"/>
                </a:solidFill>
              </a:rPr>
              <a:t>    </a:t>
            </a:r>
            <a:r>
              <a:t>instance</a:t>
            </a:r>
            <a:r>
              <a:rPr>
                <a:solidFill>
                  <a:srgbClr val="FC618D"/>
                </a:solidFill>
              </a:rPr>
              <a:t>=</a:t>
            </a:r>
            <a:r>
              <a:rPr i="0">
                <a:solidFill>
                  <a:srgbClr val="8B888F"/>
                </a:solidFill>
              </a:rPr>
              <a:t>'</a:t>
            </a:r>
            <a:r>
              <a:rPr i="0">
                <a:solidFill>
                  <a:srgbClr val="FCE566"/>
                </a:solidFill>
              </a:rPr>
              <a:t>auto</a:t>
            </a:r>
            <a:r>
              <a:rPr i="0">
                <a:solidFill>
                  <a:srgbClr val="8B888F"/>
                </a:solidFill>
              </a:rPr>
              <a:t>',</a:t>
            </a:r>
            <a:endParaRPr i="0">
              <a:solidFill>
                <a:srgbClr val="F7F1FF"/>
              </a:solidFill>
            </a:endParaR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3400">
                <a:solidFill>
                  <a:srgbClr val="8B888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)</a:t>
            </a:r>
            <a:endParaRPr>
              <a:solidFill>
                <a:srgbClr val="F7F1FF"/>
              </a:solidFill>
            </a:endParaR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3400">
                <a:solidFill>
                  <a:srgbClr val="F7F1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endParaRPr>
              <a:solidFill>
                <a:srgbClr val="F7F1FF"/>
              </a:solidFill>
            </a:endParaR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3400" i="1">
                <a:solidFill>
                  <a:srgbClr val="69676C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# 1. Select a real quantum processor</a:t>
            </a:r>
            <a:endParaRPr i="0">
              <a:solidFill>
                <a:srgbClr val="F7F1FF"/>
              </a:solidFill>
            </a:endParaR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3400">
                <a:solidFill>
                  <a:srgbClr val="7BD88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F7F1FF"/>
                </a:solidFill>
              </a:rPr>
              <a:t>backend </a:t>
            </a:r>
            <a:r>
              <a:rPr i="1">
                <a:solidFill>
                  <a:srgbClr val="FC618D"/>
                </a:solidFill>
              </a:rPr>
              <a:t>=</a:t>
            </a:r>
            <a:r>
              <a:rPr>
                <a:solidFill>
                  <a:srgbClr val="F7F1FF"/>
                </a:solidFill>
              </a:rPr>
              <a:t> service</a:t>
            </a:r>
            <a:r>
              <a:rPr>
                <a:solidFill>
                  <a:srgbClr val="8B888F"/>
                </a:solidFill>
              </a:rPr>
              <a:t>.</a:t>
            </a:r>
            <a:r>
              <a:t>least_busy</a:t>
            </a:r>
            <a:r>
              <a:rPr>
                <a:solidFill>
                  <a:srgbClr val="8B888F"/>
                </a:solidFill>
              </a:rPr>
              <a:t>(</a:t>
            </a:r>
            <a:endParaRPr>
              <a:solidFill>
                <a:srgbClr val="F7F1FF"/>
              </a:solidFill>
            </a:endParaR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3400" i="1">
                <a:solidFill>
                  <a:srgbClr val="FD9353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i="0">
                <a:solidFill>
                  <a:srgbClr val="F7F1FF"/>
                </a:solidFill>
              </a:rPr>
              <a:t>    </a:t>
            </a:r>
            <a:r>
              <a:t>operational</a:t>
            </a:r>
            <a:r>
              <a:rPr>
                <a:solidFill>
                  <a:srgbClr val="FC618D"/>
                </a:solidFill>
              </a:rPr>
              <a:t>=</a:t>
            </a:r>
            <a:r>
              <a:rPr i="0">
                <a:solidFill>
                  <a:srgbClr val="948AE3"/>
                </a:solidFill>
              </a:rPr>
              <a:t>True</a:t>
            </a:r>
            <a:r>
              <a:rPr i="0">
                <a:solidFill>
                  <a:srgbClr val="8B888F"/>
                </a:solidFill>
              </a:rPr>
              <a:t>,</a:t>
            </a:r>
            <a:endParaRPr i="0">
              <a:solidFill>
                <a:srgbClr val="F7F1FF"/>
              </a:solidFill>
            </a:endParaR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3400" i="1">
                <a:solidFill>
                  <a:srgbClr val="FD9353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i="0">
                <a:solidFill>
                  <a:srgbClr val="F7F1FF"/>
                </a:solidFill>
              </a:rPr>
              <a:t>    </a:t>
            </a:r>
            <a:r>
              <a:t>simulator</a:t>
            </a:r>
            <a:r>
              <a:rPr>
                <a:solidFill>
                  <a:srgbClr val="FC618D"/>
                </a:solidFill>
              </a:rPr>
              <a:t>=</a:t>
            </a:r>
            <a:r>
              <a:rPr i="0">
                <a:solidFill>
                  <a:srgbClr val="948AE3"/>
                </a:solidFill>
              </a:rPr>
              <a:t>False</a:t>
            </a:r>
            <a:r>
              <a:rPr i="0">
                <a:solidFill>
                  <a:srgbClr val="8B888F"/>
                </a:solidFill>
              </a:rPr>
              <a:t>,</a:t>
            </a:r>
            <a:endParaRPr i="0">
              <a:solidFill>
                <a:srgbClr val="F7F1FF"/>
              </a:solidFill>
            </a:endParaR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3400" i="1">
                <a:solidFill>
                  <a:srgbClr val="FD9353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i="0">
                <a:solidFill>
                  <a:srgbClr val="F7F1FF"/>
                </a:solidFill>
              </a:rPr>
              <a:t>    </a:t>
            </a:r>
            <a:r>
              <a:t>min_num_qubits</a:t>
            </a:r>
            <a:r>
              <a:rPr>
                <a:solidFill>
                  <a:srgbClr val="FC618D"/>
                </a:solidFill>
              </a:rPr>
              <a:t>=</a:t>
            </a:r>
            <a:r>
              <a:rPr i="0">
                <a:solidFill>
                  <a:srgbClr val="948AE3"/>
                </a:solidFill>
              </a:rPr>
              <a:t>2</a:t>
            </a:r>
            <a:r>
              <a:rPr i="0">
                <a:solidFill>
                  <a:srgbClr val="8B888F"/>
                </a:solidFill>
              </a:rPr>
              <a:t>,</a:t>
            </a:r>
            <a:endParaRPr i="0">
              <a:solidFill>
                <a:srgbClr val="F7F1FF"/>
              </a:solidFill>
            </a:endParaR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3400">
                <a:solidFill>
                  <a:srgbClr val="8B888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)</a:t>
            </a:r>
            <a:endParaRPr>
              <a:solidFill>
                <a:srgbClr val="F7F1FF"/>
              </a:solidFill>
            </a:endParaR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3400">
                <a:solidFill>
                  <a:srgbClr val="FCE566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7BD88F"/>
                </a:solidFill>
              </a:rPr>
              <a:t>print</a:t>
            </a:r>
            <a:r>
              <a:rPr>
                <a:solidFill>
                  <a:srgbClr val="8B888F"/>
                </a:solidFill>
              </a:rPr>
              <a:t>(</a:t>
            </a:r>
            <a:r>
              <a:rPr i="1">
                <a:solidFill>
                  <a:srgbClr val="5AD4E6"/>
                </a:solidFill>
              </a:rPr>
              <a:t>f</a:t>
            </a:r>
            <a:r>
              <a:t>"Selected QPU: </a:t>
            </a:r>
            <a:r>
              <a:rPr>
                <a:solidFill>
                  <a:srgbClr val="948AE3"/>
                </a:solidFill>
              </a:rPr>
              <a:t>{</a:t>
            </a:r>
            <a:r>
              <a:rPr>
                <a:solidFill>
                  <a:srgbClr val="F7F1FF"/>
                </a:solidFill>
              </a:rPr>
              <a:t>backend</a:t>
            </a:r>
            <a:r>
              <a:rPr>
                <a:solidFill>
                  <a:srgbClr val="8B888F"/>
                </a:solidFill>
              </a:rPr>
              <a:t>.</a:t>
            </a:r>
            <a:r>
              <a:rPr>
                <a:solidFill>
                  <a:srgbClr val="F7F1FF"/>
                </a:solidFill>
              </a:rPr>
              <a:t>name</a:t>
            </a:r>
            <a:r>
              <a:rPr>
                <a:solidFill>
                  <a:srgbClr val="948AE3"/>
                </a:solidFill>
              </a:rPr>
              <a:t>}</a:t>
            </a:r>
            <a:r>
              <a:t>"</a:t>
            </a:r>
            <a:r>
              <a:rPr>
                <a:solidFill>
                  <a:srgbClr val="8B888F"/>
                </a:solidFill>
              </a:rPr>
              <a:t>)</a:t>
            </a:r>
          </a:p>
        </p:txBody>
      </p:sp>
      <p:sp>
        <p:nvSpPr>
          <p:cNvPr id="249" name="Selected QPU: ibm_marrakesh"/>
          <p:cNvSpPr txBox="1"/>
          <p:nvPr/>
        </p:nvSpPr>
        <p:spPr>
          <a:xfrm>
            <a:off x="17968230" y="7327900"/>
            <a:ext cx="4509394" cy="1219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3800">
                <a:solidFill>
                  <a:srgbClr val="F7F1FF"/>
                </a:solidFill>
                <a:latin typeface="Menlo Regular"/>
                <a:ea typeface="Menlo Regular"/>
                <a:cs typeface="Menlo Regular"/>
                <a:sym typeface="Menlo Regular"/>
              </a:defRPr>
            </a:lvl1pPr>
          </a:lstStyle>
          <a:p>
            <a:r>
              <a:t>Selected QPU: ibm_marrakesh</a:t>
            </a:r>
          </a:p>
        </p:txBody>
      </p:sp>
      <p:sp>
        <p:nvSpPr>
          <p:cNvPr id="250" name="Line"/>
          <p:cNvSpPr/>
          <p:nvPr/>
        </p:nvSpPr>
        <p:spPr>
          <a:xfrm flipH="1">
            <a:off x="12462589" y="8814097"/>
            <a:ext cx="7361833" cy="2533254"/>
          </a:xfrm>
          <a:prstGeom prst="line">
            <a:avLst/>
          </a:prstGeom>
          <a:ln w="127000">
            <a:solidFill>
              <a:srgbClr val="AB1802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defRPr sz="5000"/>
            </a:pPr>
            <a:endParaRPr/>
          </a:p>
        </p:txBody>
      </p:sp>
    </p:spTree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Rounded Rectangle"/>
          <p:cNvSpPr/>
          <p:nvPr/>
        </p:nvSpPr>
        <p:spPr>
          <a:xfrm>
            <a:off x="76200" y="101600"/>
            <a:ext cx="21590000" cy="8255000"/>
          </a:xfrm>
          <a:prstGeom prst="roundRect">
            <a:avLst>
              <a:gd name="adj" fmla="val 2308"/>
            </a:avLst>
          </a:prstGeom>
          <a:solidFill>
            <a:schemeClr val="accent6">
              <a:hueOff val="-133706"/>
              <a:satOff val="8281"/>
              <a:lumOff val="-27269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defRPr sz="5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53" name="from qiskit.transpiler import generate_preset_pass_manager…"/>
          <p:cNvSpPr txBox="1"/>
          <p:nvPr/>
        </p:nvSpPr>
        <p:spPr>
          <a:xfrm>
            <a:off x="445107" y="203199"/>
            <a:ext cx="15794237" cy="805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0"/>
              </a:spcBef>
              <a:defRPr sz="3400">
                <a:solidFill>
                  <a:srgbClr val="F7F1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i="1">
                <a:solidFill>
                  <a:srgbClr val="FC618D"/>
                </a:solidFill>
              </a:rPr>
              <a:t>from</a:t>
            </a:r>
            <a:r>
              <a:t> qiskit</a:t>
            </a:r>
            <a:r>
              <a:rPr>
                <a:solidFill>
                  <a:srgbClr val="8B888F"/>
                </a:solidFill>
              </a:rPr>
              <a:t>.</a:t>
            </a:r>
            <a:r>
              <a:t>transpiler </a:t>
            </a:r>
            <a:r>
              <a:rPr i="1">
                <a:solidFill>
                  <a:srgbClr val="FC618D"/>
                </a:solidFill>
              </a:rPr>
              <a:t>import</a:t>
            </a:r>
            <a:r>
              <a:t> generate_preset_pass_manager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1200">
                <a:solidFill>
                  <a:srgbClr val="F7F1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endParaRPr/>
          </a:p>
          <a:p>
            <a:pPr defTabSz="457200">
              <a:lnSpc>
                <a:spcPct val="100000"/>
              </a:lnSpc>
              <a:spcBef>
                <a:spcPts val="0"/>
              </a:spcBef>
              <a:defRPr sz="3800" i="1">
                <a:solidFill>
                  <a:srgbClr val="69676C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# 2. Adapt the circuit to IBM hardware</a:t>
            </a:r>
            <a:endParaRPr i="0">
              <a:solidFill>
                <a:srgbClr val="F7F1FF"/>
              </a:solidFill>
            </a:endParaR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3800">
                <a:solidFill>
                  <a:srgbClr val="7BD88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F7F1FF"/>
                </a:solidFill>
              </a:rPr>
              <a:t>pm </a:t>
            </a:r>
            <a:r>
              <a:rPr i="1">
                <a:solidFill>
                  <a:srgbClr val="FC618D"/>
                </a:solidFill>
              </a:rPr>
              <a:t>=</a:t>
            </a:r>
            <a:r>
              <a:rPr>
                <a:solidFill>
                  <a:srgbClr val="F7F1FF"/>
                </a:solidFill>
              </a:rPr>
              <a:t> </a:t>
            </a:r>
            <a:r>
              <a:t>generate_preset_pass_manager</a:t>
            </a:r>
            <a:r>
              <a:rPr>
                <a:solidFill>
                  <a:srgbClr val="8B888F"/>
                </a:solidFill>
              </a:rPr>
              <a:t>(</a:t>
            </a:r>
            <a:endParaRPr>
              <a:solidFill>
                <a:srgbClr val="F7F1FF"/>
              </a:solidFill>
            </a:endParaR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3800">
                <a:solidFill>
                  <a:srgbClr val="FD9353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F7F1FF"/>
                </a:solidFill>
              </a:rPr>
              <a:t>    </a:t>
            </a:r>
            <a:r>
              <a:rPr i="1"/>
              <a:t>backend</a:t>
            </a:r>
            <a:r>
              <a:rPr i="1">
                <a:solidFill>
                  <a:srgbClr val="FC618D"/>
                </a:solidFill>
              </a:rPr>
              <a:t>=</a:t>
            </a:r>
            <a:r>
              <a:rPr>
                <a:solidFill>
                  <a:srgbClr val="F7F1FF"/>
                </a:solidFill>
              </a:rPr>
              <a:t>backend</a:t>
            </a:r>
            <a:r>
              <a:rPr>
                <a:solidFill>
                  <a:srgbClr val="8B888F"/>
                </a:solidFill>
              </a:rPr>
              <a:t>,</a:t>
            </a:r>
            <a:endParaRPr>
              <a:solidFill>
                <a:srgbClr val="F7F1FF"/>
              </a:solidFill>
            </a:endParaR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3800" i="1">
                <a:solidFill>
                  <a:srgbClr val="FD9353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i="0">
                <a:solidFill>
                  <a:srgbClr val="F7F1FF"/>
                </a:solidFill>
              </a:rPr>
              <a:t>    </a:t>
            </a:r>
            <a:r>
              <a:t>optimization_level</a:t>
            </a:r>
            <a:r>
              <a:rPr>
                <a:solidFill>
                  <a:srgbClr val="FC618D"/>
                </a:solidFill>
              </a:rPr>
              <a:t>=</a:t>
            </a:r>
            <a:r>
              <a:rPr i="0">
                <a:solidFill>
                  <a:srgbClr val="948AE3"/>
                </a:solidFill>
              </a:rPr>
              <a:t>1</a:t>
            </a:r>
            <a:r>
              <a:rPr i="0">
                <a:solidFill>
                  <a:srgbClr val="8B888F"/>
                </a:solidFill>
              </a:rPr>
              <a:t>,</a:t>
            </a:r>
            <a:endParaRPr i="0">
              <a:solidFill>
                <a:srgbClr val="F7F1FF"/>
              </a:solidFill>
            </a:endParaR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3800">
                <a:solidFill>
                  <a:srgbClr val="8B888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)</a:t>
            </a:r>
            <a:endParaRPr>
              <a:solidFill>
                <a:srgbClr val="F7F1FF"/>
              </a:solidFill>
            </a:endParaR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3800">
                <a:solidFill>
                  <a:srgbClr val="F7F1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isa_qc </a:t>
            </a:r>
            <a:r>
              <a:rPr i="1">
                <a:solidFill>
                  <a:srgbClr val="FC618D"/>
                </a:solidFill>
              </a:rPr>
              <a:t>=</a:t>
            </a:r>
            <a:r>
              <a:t> pm</a:t>
            </a:r>
            <a:r>
              <a:rPr>
                <a:solidFill>
                  <a:srgbClr val="8B888F"/>
                </a:solidFill>
              </a:rPr>
              <a:t>.</a:t>
            </a:r>
            <a:r>
              <a:rPr>
                <a:solidFill>
                  <a:srgbClr val="7BD88F"/>
                </a:solidFill>
              </a:rPr>
              <a:t>run</a:t>
            </a:r>
            <a:r>
              <a:rPr>
                <a:solidFill>
                  <a:srgbClr val="8B888F"/>
                </a:solidFill>
              </a:rPr>
              <a:t>(</a:t>
            </a:r>
            <a:r>
              <a:t>qc</a:t>
            </a:r>
            <a:r>
              <a:rPr>
                <a:solidFill>
                  <a:srgbClr val="8B888F"/>
                </a:solidFill>
              </a:rPr>
              <a:t>)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3800">
                <a:solidFill>
                  <a:srgbClr val="F7F1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endParaRPr>
              <a:solidFill>
                <a:srgbClr val="8B888F"/>
              </a:solidFill>
            </a:endParaR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3800">
                <a:solidFill>
                  <a:srgbClr val="F7F1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endParaRPr>
              <a:solidFill>
                <a:srgbClr val="8B888F"/>
              </a:solidFill>
            </a:endParaR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3800" i="1">
                <a:solidFill>
                  <a:srgbClr val="69676C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# 3. Execute on a real quantum computer</a:t>
            </a:r>
            <a:endParaRPr i="0">
              <a:solidFill>
                <a:srgbClr val="F7F1FF"/>
              </a:solidFill>
            </a:endParaR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3800">
                <a:solidFill>
                  <a:srgbClr val="7BD88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F7F1FF"/>
                </a:solidFill>
              </a:rPr>
              <a:t>sampler </a:t>
            </a:r>
            <a:r>
              <a:rPr i="1">
                <a:solidFill>
                  <a:srgbClr val="FC618D"/>
                </a:solidFill>
              </a:rPr>
              <a:t>=</a:t>
            </a:r>
            <a:r>
              <a:rPr>
                <a:solidFill>
                  <a:srgbClr val="F7F1FF"/>
                </a:solidFill>
              </a:rPr>
              <a:t> </a:t>
            </a:r>
            <a:r>
              <a:t>IBMSampler</a:t>
            </a:r>
            <a:r>
              <a:rPr>
                <a:solidFill>
                  <a:srgbClr val="8B888F"/>
                </a:solidFill>
              </a:rPr>
              <a:t>(</a:t>
            </a:r>
            <a:r>
              <a:rPr i="1">
                <a:solidFill>
                  <a:srgbClr val="FD9353"/>
                </a:solidFill>
              </a:rPr>
              <a:t>mode</a:t>
            </a:r>
            <a:r>
              <a:rPr i="1">
                <a:solidFill>
                  <a:srgbClr val="FC618D"/>
                </a:solidFill>
              </a:rPr>
              <a:t>=</a:t>
            </a:r>
            <a:r>
              <a:rPr>
                <a:solidFill>
                  <a:srgbClr val="F7F1FF"/>
                </a:solidFill>
              </a:rPr>
              <a:t>backend</a:t>
            </a:r>
            <a:r>
              <a:rPr>
                <a:solidFill>
                  <a:srgbClr val="8B888F"/>
                </a:solidFill>
              </a:rPr>
              <a:t>)</a:t>
            </a:r>
            <a:endParaRPr>
              <a:solidFill>
                <a:srgbClr val="F7F1FF"/>
              </a:solidFill>
            </a:endParaR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3800">
                <a:solidFill>
                  <a:srgbClr val="F7F1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job </a:t>
            </a:r>
            <a:r>
              <a:rPr i="1">
                <a:solidFill>
                  <a:srgbClr val="FC618D"/>
                </a:solidFill>
              </a:rPr>
              <a:t>=</a:t>
            </a:r>
            <a:r>
              <a:t> sampler</a:t>
            </a:r>
            <a:r>
              <a:rPr>
                <a:solidFill>
                  <a:srgbClr val="8B888F"/>
                </a:solidFill>
              </a:rPr>
              <a:t>.</a:t>
            </a:r>
            <a:r>
              <a:rPr>
                <a:solidFill>
                  <a:srgbClr val="7BD88F"/>
                </a:solidFill>
              </a:rPr>
              <a:t>run</a:t>
            </a:r>
            <a:r>
              <a:rPr>
                <a:solidFill>
                  <a:srgbClr val="8B888F"/>
                </a:solidFill>
              </a:rPr>
              <a:t>([</a:t>
            </a:r>
            <a:r>
              <a:t>isa_qc</a:t>
            </a:r>
            <a:r>
              <a:rPr>
                <a:solidFill>
                  <a:srgbClr val="8B888F"/>
                </a:solidFill>
              </a:rPr>
              <a:t>],</a:t>
            </a:r>
            <a:r>
              <a:t> </a:t>
            </a:r>
            <a:r>
              <a:rPr i="1">
                <a:solidFill>
                  <a:srgbClr val="FD9353"/>
                </a:solidFill>
              </a:rPr>
              <a:t>shots</a:t>
            </a:r>
            <a:r>
              <a:rPr i="1">
                <a:solidFill>
                  <a:srgbClr val="FC618D"/>
                </a:solidFill>
              </a:rPr>
              <a:t>=</a:t>
            </a:r>
            <a:r>
              <a:rPr>
                <a:solidFill>
                  <a:srgbClr val="948AE3"/>
                </a:solidFill>
              </a:rPr>
              <a:t>1024</a:t>
            </a:r>
            <a:r>
              <a:rPr>
                <a:solidFill>
                  <a:srgbClr val="8B888F"/>
                </a:solidFill>
              </a:rPr>
              <a:t>)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3800">
                <a:solidFill>
                  <a:srgbClr val="F7F1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endParaRPr>
              <a:solidFill>
                <a:srgbClr val="8B888F"/>
              </a:solidFill>
            </a:endParaR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3800">
                <a:solidFill>
                  <a:srgbClr val="FCE566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7BD88F"/>
                </a:solidFill>
              </a:rPr>
              <a:t>print</a:t>
            </a:r>
            <a:r>
              <a:rPr>
                <a:solidFill>
                  <a:srgbClr val="8B888F"/>
                </a:solidFill>
              </a:rPr>
              <a:t>(</a:t>
            </a:r>
            <a:r>
              <a:rPr i="1">
                <a:solidFill>
                  <a:srgbClr val="5AD4E6"/>
                </a:solidFill>
              </a:rPr>
              <a:t>f</a:t>
            </a:r>
            <a:r>
              <a:t>"Job ID: </a:t>
            </a:r>
            <a:r>
              <a:rPr>
                <a:solidFill>
                  <a:srgbClr val="948AE3"/>
                </a:solidFill>
              </a:rPr>
              <a:t>{</a:t>
            </a:r>
            <a:r>
              <a:rPr>
                <a:solidFill>
                  <a:srgbClr val="F7F1FF"/>
                </a:solidFill>
              </a:rPr>
              <a:t>job</a:t>
            </a:r>
            <a:r>
              <a:rPr>
                <a:solidFill>
                  <a:srgbClr val="8B888F"/>
                </a:solidFill>
              </a:rPr>
              <a:t>.</a:t>
            </a:r>
            <a:r>
              <a:rPr>
                <a:solidFill>
                  <a:srgbClr val="7BD88F"/>
                </a:solidFill>
              </a:rPr>
              <a:t>job_id</a:t>
            </a:r>
            <a:r>
              <a:rPr>
                <a:solidFill>
                  <a:srgbClr val="8B888F"/>
                </a:solidFill>
              </a:rPr>
              <a:t>()</a:t>
            </a:r>
            <a:r>
              <a:rPr>
                <a:solidFill>
                  <a:srgbClr val="948AE3"/>
                </a:solidFill>
              </a:rPr>
              <a:t>}</a:t>
            </a:r>
            <a:r>
              <a:t>"</a:t>
            </a:r>
            <a:r>
              <a:rPr>
                <a:solidFill>
                  <a:srgbClr val="8B888F"/>
                </a:solidFill>
              </a:rPr>
              <a:t>)</a:t>
            </a:r>
          </a:p>
        </p:txBody>
      </p:sp>
      <p:sp>
        <p:nvSpPr>
          <p:cNvPr id="254" name="Job ID: db75vbur6oqs7386r6tg"/>
          <p:cNvSpPr txBox="1"/>
          <p:nvPr/>
        </p:nvSpPr>
        <p:spPr>
          <a:xfrm>
            <a:off x="15291209" y="3619500"/>
            <a:ext cx="5967215" cy="1219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3800">
                <a:solidFill>
                  <a:srgbClr val="F7F1FF"/>
                </a:solidFill>
                <a:latin typeface="Menlo Regular"/>
                <a:ea typeface="Menlo Regular"/>
                <a:cs typeface="Menlo Regular"/>
                <a:sym typeface="Menlo Regular"/>
              </a:defRPr>
            </a:lvl1pPr>
          </a:lstStyle>
          <a:p>
            <a:r>
              <a:t>Job ID: db75vbur6oqs7386r6tg</a:t>
            </a:r>
          </a:p>
        </p:txBody>
      </p:sp>
      <p:sp>
        <p:nvSpPr>
          <p:cNvPr id="255" name="Line"/>
          <p:cNvSpPr/>
          <p:nvPr/>
        </p:nvSpPr>
        <p:spPr>
          <a:xfrm flipH="1">
            <a:off x="9846388" y="4930179"/>
            <a:ext cx="7405589" cy="2835773"/>
          </a:xfrm>
          <a:prstGeom prst="line">
            <a:avLst/>
          </a:prstGeom>
          <a:ln w="127000">
            <a:solidFill>
              <a:srgbClr val="AB1802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defRPr sz="5000"/>
            </a:pPr>
            <a:endParaRPr/>
          </a:p>
        </p:txBody>
      </p:sp>
      <p:pic>
        <p:nvPicPr>
          <p:cNvPr id="256" name="Screenshot 2026-10-14 at 00.04.02.png" descr="Screenshot 2026-10-14 at 00.04.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0316" y="8391626"/>
            <a:ext cx="20096017" cy="5292128"/>
          </a:xfrm>
          <a:prstGeom prst="rect">
            <a:avLst/>
          </a:prstGeom>
          <a:ln w="12700">
            <a:miter lim="400000"/>
          </a:ln>
        </p:spPr>
      </p:pic>
      <p:sp>
        <p:nvSpPr>
          <p:cNvPr id="257" name="Line"/>
          <p:cNvSpPr/>
          <p:nvPr/>
        </p:nvSpPr>
        <p:spPr>
          <a:xfrm flipH="1">
            <a:off x="6874589" y="4923192"/>
            <a:ext cx="10598828" cy="7160760"/>
          </a:xfrm>
          <a:prstGeom prst="line">
            <a:avLst/>
          </a:prstGeom>
          <a:ln w="127000">
            <a:solidFill>
              <a:srgbClr val="AB1802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defRPr sz="5000"/>
            </a:pPr>
            <a:endParaRPr/>
          </a:p>
        </p:txBody>
      </p:sp>
    </p:spTree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Rounded Rectangle"/>
          <p:cNvSpPr/>
          <p:nvPr/>
        </p:nvSpPr>
        <p:spPr>
          <a:xfrm>
            <a:off x="304800" y="254000"/>
            <a:ext cx="23774400" cy="13208000"/>
          </a:xfrm>
          <a:prstGeom prst="roundRect">
            <a:avLst>
              <a:gd name="adj" fmla="val 1588"/>
            </a:avLst>
          </a:prstGeom>
          <a:solidFill>
            <a:schemeClr val="accent6">
              <a:hueOff val="-133706"/>
              <a:satOff val="8281"/>
              <a:lumOff val="-27269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defRPr sz="5000"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260" name="sim_vs_real.png" descr="sim_vs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1894" y="409432"/>
            <a:ext cx="17260212" cy="1289713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VQ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VQE</a:t>
            </a:r>
          </a:p>
        </p:txBody>
      </p:sp>
    </p:spTree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Variational Quantum Eigensolver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Variational Quantum Eigensolver</a:t>
            </a:r>
          </a:p>
        </p:txBody>
      </p:sp>
      <p:sp>
        <p:nvSpPr>
          <p:cNvPr id="265" name="A hybrid quantum-classical algorithm for finding minimum-energy states.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5300"/>
              </a:spcBef>
              <a:buSzTx/>
              <a:buNone/>
              <a:defRPr sz="5200"/>
            </a:pPr>
            <a:r>
              <a:t>A hybrid quantum-classical algorithm for finding minimum-energy states.</a:t>
            </a:r>
            <a:br/>
            <a:br/>
            <a:endParaRPr/>
          </a:p>
          <a:p>
            <a:pPr marL="1515533" indent="-1375833">
              <a:lnSpc>
                <a:spcPct val="100000"/>
              </a:lnSpc>
              <a:spcBef>
                <a:spcPts val="5300"/>
              </a:spcBef>
              <a:buClr>
                <a:srgbClr val="535353"/>
              </a:buClr>
              <a:buFont typeface="Times Roman"/>
              <a:defRPr sz="5200"/>
            </a:pPr>
            <a:r>
              <a:t>Quantum part: Prepares quantum states and measures their energy.</a:t>
            </a:r>
          </a:p>
          <a:p>
            <a:pPr marL="1515533" indent="-1375833">
              <a:lnSpc>
                <a:spcPct val="100000"/>
              </a:lnSpc>
              <a:spcBef>
                <a:spcPts val="5300"/>
              </a:spcBef>
              <a:buClr>
                <a:srgbClr val="535353"/>
              </a:buClr>
              <a:buFont typeface="Times Roman"/>
              <a:defRPr sz="5200"/>
            </a:pPr>
            <a:r>
              <a:t>Classical part: Optimizes the quantum circuit parameters to minimize energy.</a:t>
            </a:r>
          </a:p>
          <a:p>
            <a:pPr marL="0" indent="0">
              <a:lnSpc>
                <a:spcPct val="100000"/>
              </a:lnSpc>
              <a:spcBef>
                <a:spcPts val="5300"/>
              </a:spcBef>
              <a:buSzTx/>
              <a:buNone/>
              <a:defRPr sz="5200"/>
            </a:pPr>
            <a:endParaRPr/>
          </a:p>
          <a:p>
            <a:pPr marL="0" indent="0">
              <a:lnSpc>
                <a:spcPct val="100000"/>
              </a:lnSpc>
              <a:spcBef>
                <a:spcPts val="5300"/>
              </a:spcBef>
              <a:buSzTx/>
              <a:buNone/>
              <a:defRPr sz="5200"/>
            </a:pPr>
            <a:r>
              <a:t>Applications: Optimization problems</a:t>
            </a:r>
          </a:p>
        </p:txBody>
      </p:sp>
    </p:spTree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Step-by-Step"/>
          <p:cNvSpPr txBox="1">
            <a:spLocks noGrp="1"/>
          </p:cNvSpPr>
          <p:nvPr>
            <p:ph type="body" idx="21"/>
          </p:nvPr>
        </p:nvSpPr>
        <p:spPr>
          <a:xfrm>
            <a:off x="2387600" y="8001000"/>
            <a:ext cx="19621500" cy="1016000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spcBef>
                <a:spcPts val="6500"/>
              </a:spcBef>
              <a:defRPr sz="6400"/>
            </a:lvl1pPr>
          </a:lstStyle>
          <a:p>
            <a:r>
              <a:t>Step-by-Step</a:t>
            </a:r>
          </a:p>
        </p:txBody>
      </p:sp>
      <p:sp>
        <p:nvSpPr>
          <p:cNvPr id="268" name="VQE"/>
          <p:cNvSpPr txBox="1">
            <a:spLocks noGrp="1"/>
          </p:cNvSpPr>
          <p:nvPr>
            <p:ph type="body" idx="22"/>
          </p:nvPr>
        </p:nvSpPr>
        <p:spPr>
          <a:xfrm>
            <a:off x="2374900" y="5543549"/>
            <a:ext cx="19621500" cy="1549401"/>
          </a:xfrm>
          <a:prstGeom prst="rect">
            <a:avLst/>
          </a:prstGeom>
        </p:spPr>
        <p:txBody>
          <a:bodyPr/>
          <a:lstStyle>
            <a:lvl1pPr>
              <a:defRPr sz="10000" cap="all"/>
            </a:lvl1pPr>
          </a:lstStyle>
          <a:p>
            <a:r>
              <a:t>VQE</a:t>
            </a:r>
          </a:p>
        </p:txBody>
      </p:sp>
    </p:spTree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VQE step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VQE step 1</a:t>
            </a:r>
          </a:p>
        </p:txBody>
      </p:sp>
      <p:sp>
        <p:nvSpPr>
          <p:cNvPr id="271" name="Define the Problem"/>
          <p:cNvSpPr txBox="1">
            <a:spLocks noGrp="1"/>
          </p:cNvSpPr>
          <p:nvPr>
            <p:ph type="body" sz="quarter" idx="1"/>
          </p:nvPr>
        </p:nvSpPr>
        <p:spPr>
          <a:xfrm>
            <a:off x="2282622" y="7124598"/>
            <a:ext cx="7829956" cy="22862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Bef>
                <a:spcPts val="6500"/>
              </a:spcBef>
              <a:buSzTx/>
              <a:buNone/>
              <a:defRPr sz="6400"/>
            </a:lvl1pPr>
          </a:lstStyle>
          <a:p>
            <a:r>
              <a:t>Define the Problem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2" name="Equation"/>
              <p:cNvSpPr txBox="1"/>
              <p:nvPr/>
            </p:nvSpPr>
            <p:spPr>
              <a:xfrm>
                <a:off x="13267024" y="6496303"/>
                <a:ext cx="9127552" cy="723393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914400" latinLnBrk="1">
                  <a:lnSpc>
                    <a:spcPct val="100000"/>
                  </a:lnSpc>
                  <a:spcBef>
                    <a:spcPts val="0"/>
                  </a:spcBef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 sz="6400" i="1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</a:rPr>
                        <m:t>𝑚𝑎𝑥𝑓</m:t>
                      </m:r>
                      <m:r>
                        <a:rPr sz="6400" i="1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6400" i="1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sz="6400" i="1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sz="6400" i="1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sz="6400" i="1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</a:rPr>
                        <m:t>)=3</m:t>
                      </m:r>
                      <m:r>
                        <a:rPr sz="6400" i="1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sz="6400" i="1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sz="6400" i="1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sz="6400" i="1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</a:rPr>
                        <m:t>−4</m:t>
                      </m:r>
                      <m:r>
                        <a:rPr sz="6400" i="1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</a:rPr>
                        <m:t>𝑎𝑏</m:t>
                      </m:r>
                    </m:oMath>
                  </m:oMathPara>
                </a14:m>
                <a:endParaRPr sz="6400">
                  <a:solidFill>
                    <a:srgbClr val="535353"/>
                  </a:solidFill>
                </a:endParaRPr>
              </a:p>
            </p:txBody>
          </p:sp>
        </mc:Choice>
        <mc:Fallback>
          <p:sp>
            <p:nvSpPr>
              <p:cNvPr id="272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67024" y="6496303"/>
                <a:ext cx="9127552" cy="723393"/>
              </a:xfrm>
              <a:prstGeom prst="rect">
                <a:avLst/>
              </a:prstGeom>
              <a:blipFill>
                <a:blip r:embed="rId2"/>
                <a:stretch>
                  <a:fillRect l="-4167" r="-13889" b="-82759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3" name="Equation"/>
              <p:cNvSpPr txBox="1"/>
              <p:nvPr/>
            </p:nvSpPr>
            <p:spPr>
              <a:xfrm>
                <a:off x="16292486" y="9550292"/>
                <a:ext cx="3076629" cy="669748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914400" latinLnBrk="1">
                  <a:lnSpc>
                    <a:spcPct val="100000"/>
                  </a:lnSpc>
                  <a:spcBef>
                    <a:spcPts val="0"/>
                  </a:spcBef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 sz="6400" i="1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sz="6400" i="1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sz="6400" i="1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sz="6400" i="1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</a:rPr>
                        <m:t>∈0,1</m:t>
                      </m:r>
                    </m:oMath>
                  </m:oMathPara>
                </a14:m>
                <a:endParaRPr sz="6400">
                  <a:solidFill>
                    <a:srgbClr val="535353"/>
                  </a:solidFill>
                </a:endParaRPr>
              </a:p>
            </p:txBody>
          </p:sp>
        </mc:Choice>
        <mc:Fallback>
          <p:sp>
            <p:nvSpPr>
              <p:cNvPr id="273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92486" y="9550292"/>
                <a:ext cx="3076629" cy="669748"/>
              </a:xfrm>
              <a:prstGeom prst="rect">
                <a:avLst/>
              </a:prstGeom>
              <a:blipFill>
                <a:blip r:embed="rId3"/>
                <a:stretch>
                  <a:fillRect l="-6612" r="-14876" b="-58491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VQE step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VQE step 2</a:t>
            </a:r>
          </a:p>
        </p:txBody>
      </p:sp>
      <p:sp>
        <p:nvSpPr>
          <p:cNvPr id="276" name="Build a Quadratic Program…"/>
          <p:cNvSpPr txBox="1">
            <a:spLocks noGrp="1"/>
          </p:cNvSpPr>
          <p:nvPr>
            <p:ph type="body" sz="half" idx="1"/>
          </p:nvPr>
        </p:nvSpPr>
        <p:spPr>
          <a:xfrm>
            <a:off x="593864" y="5196708"/>
            <a:ext cx="11207472" cy="6141984"/>
          </a:xfrm>
          <a:prstGeom prst="rect">
            <a:avLst/>
          </a:prstGeom>
        </p:spPr>
        <p:txBody>
          <a:bodyPr/>
          <a:lstStyle/>
          <a:p>
            <a:pPr marL="0" indent="0">
              <a:lnSpc>
                <a:spcPct val="120000"/>
              </a:lnSpc>
              <a:spcBef>
                <a:spcPts val="6500"/>
              </a:spcBef>
              <a:buSzTx/>
              <a:buNone/>
              <a:defRPr sz="6400"/>
            </a:pPr>
            <a:r>
              <a:t>Build a Quadratic Program</a:t>
            </a:r>
          </a:p>
          <a:p>
            <a:pPr marL="0" indent="0">
              <a:buSzTx/>
              <a:buNone/>
            </a:pPr>
            <a:r>
              <a:t>Describe the variables and the objective function in a structured mathematical model that would be converted into Qiskit.</a:t>
            </a:r>
          </a:p>
        </p:txBody>
      </p:sp>
      <p:sp>
        <p:nvSpPr>
          <p:cNvPr id="277" name="Rounded Rectangle"/>
          <p:cNvSpPr/>
          <p:nvPr/>
        </p:nvSpPr>
        <p:spPr>
          <a:xfrm>
            <a:off x="11600740" y="3174363"/>
            <a:ext cx="12460119" cy="10186674"/>
          </a:xfrm>
          <a:prstGeom prst="roundRect">
            <a:avLst>
              <a:gd name="adj" fmla="val 1870"/>
            </a:avLst>
          </a:prstGeom>
          <a:solidFill>
            <a:schemeClr val="accent6">
              <a:hueOff val="-133706"/>
              <a:satOff val="8281"/>
              <a:lumOff val="-27269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defRPr sz="5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78" name="from qiskit_optimization import QuadraticProgram…"/>
          <p:cNvSpPr txBox="1"/>
          <p:nvPr/>
        </p:nvSpPr>
        <p:spPr>
          <a:xfrm>
            <a:off x="11991728" y="3502133"/>
            <a:ext cx="11678143" cy="543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0"/>
              </a:spcBef>
              <a:defRPr sz="3000">
                <a:solidFill>
                  <a:srgbClr val="F7F1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i="1">
                <a:solidFill>
                  <a:srgbClr val="FC618D"/>
                </a:solidFill>
              </a:rPr>
              <a:t>from</a:t>
            </a:r>
            <a:r>
              <a:t> qiskit_optimization </a:t>
            </a:r>
            <a:r>
              <a:rPr i="1">
                <a:solidFill>
                  <a:srgbClr val="FC618D"/>
                </a:solidFill>
              </a:rPr>
              <a:t>import</a:t>
            </a:r>
            <a:r>
              <a:t> QuadraticProgram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3000">
                <a:solidFill>
                  <a:srgbClr val="F7F1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endParaRPr/>
          </a:p>
          <a:p>
            <a:pPr defTabSz="457200">
              <a:lnSpc>
                <a:spcPct val="100000"/>
              </a:lnSpc>
              <a:spcBef>
                <a:spcPts val="0"/>
              </a:spcBef>
              <a:defRPr sz="3000">
                <a:solidFill>
                  <a:srgbClr val="7BD88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F7F1FF"/>
                </a:solidFill>
              </a:rPr>
              <a:t>small_problem </a:t>
            </a:r>
            <a:r>
              <a:rPr i="1">
                <a:solidFill>
                  <a:srgbClr val="FC618D"/>
                </a:solidFill>
              </a:rPr>
              <a:t>=</a:t>
            </a:r>
            <a:r>
              <a:rPr>
                <a:solidFill>
                  <a:srgbClr val="F7F1FF"/>
                </a:solidFill>
              </a:rPr>
              <a:t> </a:t>
            </a:r>
            <a:r>
              <a:t>QuadraticProgram</a:t>
            </a:r>
            <a:r>
              <a:rPr>
                <a:solidFill>
                  <a:srgbClr val="8B888F"/>
                </a:solidFill>
              </a:rPr>
              <a:t>("</a:t>
            </a:r>
            <a:r>
              <a:rPr>
                <a:solidFill>
                  <a:srgbClr val="FCE566"/>
                </a:solidFill>
              </a:rPr>
              <a:t>Two-qubit VQE</a:t>
            </a:r>
            <a:r>
              <a:rPr>
                <a:solidFill>
                  <a:srgbClr val="8B888F"/>
                </a:solidFill>
              </a:rPr>
              <a:t>")</a:t>
            </a:r>
            <a:endParaRPr>
              <a:solidFill>
                <a:srgbClr val="F7F1FF"/>
              </a:solidFill>
            </a:endParaR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3000">
                <a:solidFill>
                  <a:srgbClr val="F7F1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small_problem</a:t>
            </a:r>
            <a:r>
              <a:rPr>
                <a:solidFill>
                  <a:srgbClr val="8B888F"/>
                </a:solidFill>
              </a:rPr>
              <a:t>.</a:t>
            </a:r>
            <a:r>
              <a:rPr>
                <a:solidFill>
                  <a:srgbClr val="7BD88F"/>
                </a:solidFill>
              </a:rPr>
              <a:t>binary_var</a:t>
            </a:r>
            <a:r>
              <a:rPr>
                <a:solidFill>
                  <a:srgbClr val="8B888F"/>
                </a:solidFill>
              </a:rPr>
              <a:t>("</a:t>
            </a:r>
            <a:r>
              <a:rPr>
                <a:solidFill>
                  <a:srgbClr val="FCE566"/>
                </a:solidFill>
              </a:rPr>
              <a:t>a</a:t>
            </a:r>
            <a:r>
              <a:rPr>
                <a:solidFill>
                  <a:srgbClr val="8B888F"/>
                </a:solidFill>
              </a:rPr>
              <a:t>")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3000">
                <a:solidFill>
                  <a:srgbClr val="F7F1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small_problem</a:t>
            </a:r>
            <a:r>
              <a:rPr>
                <a:solidFill>
                  <a:srgbClr val="8B888F"/>
                </a:solidFill>
              </a:rPr>
              <a:t>.</a:t>
            </a:r>
            <a:r>
              <a:rPr>
                <a:solidFill>
                  <a:srgbClr val="7BD88F"/>
                </a:solidFill>
              </a:rPr>
              <a:t>binary_var</a:t>
            </a:r>
            <a:r>
              <a:rPr>
                <a:solidFill>
                  <a:srgbClr val="8B888F"/>
                </a:solidFill>
              </a:rPr>
              <a:t>("</a:t>
            </a:r>
            <a:r>
              <a:rPr>
                <a:solidFill>
                  <a:srgbClr val="FCE566"/>
                </a:solidFill>
              </a:rPr>
              <a:t>b</a:t>
            </a:r>
            <a:r>
              <a:rPr>
                <a:solidFill>
                  <a:srgbClr val="8B888F"/>
                </a:solidFill>
              </a:rPr>
              <a:t>")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3000">
                <a:solidFill>
                  <a:srgbClr val="F7F1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small_problem</a:t>
            </a:r>
            <a:r>
              <a:rPr>
                <a:solidFill>
                  <a:srgbClr val="8B888F"/>
                </a:solidFill>
              </a:rPr>
              <a:t>.</a:t>
            </a:r>
            <a:r>
              <a:rPr>
                <a:solidFill>
                  <a:srgbClr val="7BD88F"/>
                </a:solidFill>
              </a:rPr>
              <a:t>maximize</a:t>
            </a:r>
            <a:r>
              <a:rPr>
                <a:solidFill>
                  <a:srgbClr val="8B888F"/>
                </a:solidFill>
              </a:rPr>
              <a:t>(</a:t>
            </a:r>
          </a:p>
          <a:p>
            <a:pPr lvl="1" defTabSz="457200">
              <a:lnSpc>
                <a:spcPct val="100000"/>
              </a:lnSpc>
              <a:spcBef>
                <a:spcPts val="0"/>
              </a:spcBef>
              <a:defRPr sz="3000">
                <a:solidFill>
                  <a:srgbClr val="F7F1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8B888F"/>
                </a:solidFill>
              </a:rPr>
              <a:t>   </a:t>
            </a:r>
            <a:r>
              <a:rPr i="1">
                <a:solidFill>
                  <a:srgbClr val="FD9353"/>
                </a:solidFill>
              </a:rPr>
              <a:t>linear</a:t>
            </a:r>
            <a:r>
              <a:rPr i="1">
                <a:solidFill>
                  <a:srgbClr val="FC618D"/>
                </a:solidFill>
              </a:rPr>
              <a:t>=</a:t>
            </a:r>
            <a:r>
              <a:rPr>
                <a:solidFill>
                  <a:srgbClr val="8B888F"/>
                </a:solidFill>
              </a:rPr>
              <a:t>{"</a:t>
            </a:r>
            <a:r>
              <a:rPr>
                <a:solidFill>
                  <a:srgbClr val="FCE566"/>
                </a:solidFill>
              </a:rPr>
              <a:t>a</a:t>
            </a:r>
            <a:r>
              <a:rPr>
                <a:solidFill>
                  <a:srgbClr val="8B888F"/>
                </a:solidFill>
              </a:rPr>
              <a:t>":</a:t>
            </a:r>
            <a:r>
              <a:t> </a:t>
            </a:r>
            <a:r>
              <a:rPr>
                <a:solidFill>
                  <a:srgbClr val="948AE3"/>
                </a:solidFill>
              </a:rPr>
              <a:t>3</a:t>
            </a:r>
            <a:r>
              <a:rPr>
                <a:solidFill>
                  <a:srgbClr val="8B888F"/>
                </a:solidFill>
              </a:rPr>
              <a:t>,</a:t>
            </a:r>
            <a:r>
              <a:t> </a:t>
            </a:r>
            <a:r>
              <a:rPr>
                <a:solidFill>
                  <a:srgbClr val="8B888F"/>
                </a:solidFill>
              </a:rPr>
              <a:t>"</a:t>
            </a:r>
            <a:r>
              <a:rPr>
                <a:solidFill>
                  <a:srgbClr val="FCE566"/>
                </a:solidFill>
              </a:rPr>
              <a:t>b</a:t>
            </a:r>
            <a:r>
              <a:rPr>
                <a:solidFill>
                  <a:srgbClr val="8B888F"/>
                </a:solidFill>
              </a:rPr>
              <a:t>":</a:t>
            </a:r>
            <a:r>
              <a:t> </a:t>
            </a:r>
            <a:r>
              <a:rPr>
                <a:solidFill>
                  <a:srgbClr val="948AE3"/>
                </a:solidFill>
              </a:rPr>
              <a:t>2</a:t>
            </a:r>
            <a:r>
              <a:rPr>
                <a:solidFill>
                  <a:srgbClr val="8B888F"/>
                </a:solidFill>
              </a:rPr>
              <a:t>},</a:t>
            </a:r>
            <a:r>
              <a:t> </a:t>
            </a:r>
          </a:p>
          <a:p>
            <a:pPr lvl="1" defTabSz="457200">
              <a:lnSpc>
                <a:spcPct val="100000"/>
              </a:lnSpc>
              <a:spcBef>
                <a:spcPts val="0"/>
              </a:spcBef>
              <a:defRPr sz="3000">
                <a:solidFill>
                  <a:srgbClr val="F7F1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</a:t>
            </a:r>
            <a:r>
              <a:rPr i="1">
                <a:solidFill>
                  <a:srgbClr val="FD9353"/>
                </a:solidFill>
              </a:rPr>
              <a:t>quadratic</a:t>
            </a:r>
            <a:r>
              <a:rPr i="1">
                <a:solidFill>
                  <a:srgbClr val="FC618D"/>
                </a:solidFill>
              </a:rPr>
              <a:t>=</a:t>
            </a:r>
            <a:r>
              <a:rPr>
                <a:solidFill>
                  <a:srgbClr val="8B888F"/>
                </a:solidFill>
              </a:rPr>
              <a:t>{("</a:t>
            </a:r>
            <a:r>
              <a:rPr>
                <a:solidFill>
                  <a:srgbClr val="FCE566"/>
                </a:solidFill>
              </a:rPr>
              <a:t>a</a:t>
            </a:r>
            <a:r>
              <a:rPr>
                <a:solidFill>
                  <a:srgbClr val="8B888F"/>
                </a:solidFill>
              </a:rPr>
              <a:t>",</a:t>
            </a:r>
            <a:r>
              <a:t> </a:t>
            </a:r>
            <a:r>
              <a:rPr>
                <a:solidFill>
                  <a:srgbClr val="8B888F"/>
                </a:solidFill>
              </a:rPr>
              <a:t>"</a:t>
            </a:r>
            <a:r>
              <a:rPr>
                <a:solidFill>
                  <a:srgbClr val="FCE566"/>
                </a:solidFill>
              </a:rPr>
              <a:t>b</a:t>
            </a:r>
            <a:r>
              <a:rPr>
                <a:solidFill>
                  <a:srgbClr val="8B888F"/>
                </a:solidFill>
              </a:rPr>
              <a:t>"):</a:t>
            </a:r>
            <a:r>
              <a:t> </a:t>
            </a:r>
            <a:r>
              <a:rPr>
                <a:solidFill>
                  <a:srgbClr val="948AE3"/>
                </a:solidFill>
              </a:rPr>
              <a:t>-4</a:t>
            </a:r>
            <a:r>
              <a:rPr>
                <a:solidFill>
                  <a:srgbClr val="8B888F"/>
                </a:solidFill>
              </a:rPr>
              <a:t>}</a:t>
            </a:r>
          </a:p>
          <a:p>
            <a:pPr lvl="1" defTabSz="457200">
              <a:lnSpc>
                <a:spcPct val="100000"/>
              </a:lnSpc>
              <a:spcBef>
                <a:spcPts val="0"/>
              </a:spcBef>
              <a:defRPr sz="3000">
                <a:solidFill>
                  <a:srgbClr val="F7F1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8B888F"/>
                </a:solidFill>
              </a:rPr>
              <a:t>)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3000">
                <a:solidFill>
                  <a:srgbClr val="F7F1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endParaRPr>
              <a:solidFill>
                <a:srgbClr val="8B888F"/>
              </a:solidFill>
            </a:endParaR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3000">
                <a:solidFill>
                  <a:srgbClr val="F7F1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7BD88F"/>
                </a:solidFill>
              </a:rPr>
              <a:t>print</a:t>
            </a:r>
            <a:r>
              <a:rPr>
                <a:solidFill>
                  <a:srgbClr val="8B888F"/>
                </a:solidFill>
              </a:rPr>
              <a:t>(</a:t>
            </a:r>
            <a:r>
              <a:t>small_problem</a:t>
            </a:r>
            <a:r>
              <a:rPr>
                <a:solidFill>
                  <a:srgbClr val="8B888F"/>
                </a:solidFill>
              </a:rPr>
              <a:t>.</a:t>
            </a:r>
            <a:r>
              <a:rPr>
                <a:solidFill>
                  <a:srgbClr val="7BD88F"/>
                </a:solidFill>
              </a:rPr>
              <a:t>prettyprint</a:t>
            </a:r>
            <a:r>
              <a:rPr>
                <a:solidFill>
                  <a:srgbClr val="8B888F"/>
                </a:solidFill>
              </a:rPr>
              <a:t>())</a:t>
            </a:r>
          </a:p>
        </p:txBody>
      </p:sp>
      <p:pic>
        <p:nvPicPr>
          <p:cNvPr id="279" name="pasted-movie.png" descr="pasted-mov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11346" y="8649389"/>
            <a:ext cx="4838909" cy="452006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VQE step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VQE step 3</a:t>
            </a:r>
          </a:p>
        </p:txBody>
      </p:sp>
      <p:sp>
        <p:nvSpPr>
          <p:cNvPr id="282" name="Convert to Ising…"/>
          <p:cNvSpPr txBox="1">
            <a:spLocks noGrp="1"/>
          </p:cNvSpPr>
          <p:nvPr>
            <p:ph type="body" sz="half" idx="1"/>
          </p:nvPr>
        </p:nvSpPr>
        <p:spPr>
          <a:xfrm>
            <a:off x="593864" y="5196708"/>
            <a:ext cx="11207472" cy="6141984"/>
          </a:xfrm>
          <a:prstGeom prst="rect">
            <a:avLst/>
          </a:prstGeom>
        </p:spPr>
        <p:txBody>
          <a:bodyPr/>
          <a:lstStyle/>
          <a:p>
            <a:pPr marL="0" indent="0">
              <a:lnSpc>
                <a:spcPct val="120000"/>
              </a:lnSpc>
              <a:spcBef>
                <a:spcPts val="6500"/>
              </a:spcBef>
              <a:buSzTx/>
              <a:buNone/>
              <a:defRPr sz="6400"/>
            </a:pPr>
            <a:r>
              <a:t>Convert to Ising</a:t>
            </a:r>
          </a:p>
          <a:p>
            <a:pPr marL="0" indent="0">
              <a:buSzTx/>
              <a:buNone/>
            </a:pPr>
            <a:r>
              <a:t>Transform the optimization problem into an energy-minimization problem represented by a Hamiltonian.</a:t>
            </a:r>
          </a:p>
        </p:txBody>
      </p:sp>
      <p:sp>
        <p:nvSpPr>
          <p:cNvPr id="283" name="Rounded Rectangle"/>
          <p:cNvSpPr/>
          <p:nvPr/>
        </p:nvSpPr>
        <p:spPr>
          <a:xfrm>
            <a:off x="11600740" y="3174363"/>
            <a:ext cx="12460119" cy="10186674"/>
          </a:xfrm>
          <a:prstGeom prst="roundRect">
            <a:avLst>
              <a:gd name="adj" fmla="val 1870"/>
            </a:avLst>
          </a:prstGeom>
          <a:solidFill>
            <a:schemeClr val="accent6">
              <a:hueOff val="-133706"/>
              <a:satOff val="8281"/>
              <a:lumOff val="-27269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defRPr sz="5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84" name="cost_operator, _ = small_problem.to_ising()"/>
          <p:cNvSpPr txBox="1"/>
          <p:nvPr/>
        </p:nvSpPr>
        <p:spPr>
          <a:xfrm>
            <a:off x="11991728" y="7962900"/>
            <a:ext cx="11678143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0"/>
              </a:spcBef>
              <a:defRPr sz="3500">
                <a:solidFill>
                  <a:srgbClr val="F7F1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cost_operator</a:t>
            </a:r>
            <a:r>
              <a:rPr>
                <a:solidFill>
                  <a:srgbClr val="8B888F"/>
                </a:solidFill>
              </a:rPr>
              <a:t>,</a:t>
            </a:r>
            <a:r>
              <a:t> _ </a:t>
            </a:r>
            <a:r>
              <a:rPr i="1">
                <a:solidFill>
                  <a:srgbClr val="FC618D"/>
                </a:solidFill>
              </a:rPr>
              <a:t>=</a:t>
            </a:r>
            <a:r>
              <a:t> small_problem</a:t>
            </a:r>
            <a:r>
              <a:rPr>
                <a:solidFill>
                  <a:srgbClr val="8B888F"/>
                </a:solidFill>
              </a:rPr>
              <a:t>.</a:t>
            </a:r>
            <a:r>
              <a:rPr>
                <a:solidFill>
                  <a:srgbClr val="7BD88F"/>
                </a:solidFill>
              </a:rPr>
              <a:t>to_ising</a:t>
            </a:r>
            <a:r>
              <a:rPr>
                <a:solidFill>
                  <a:srgbClr val="8B888F"/>
                </a:solidFill>
              </a:rPr>
              <a:t>()</a:t>
            </a:r>
          </a:p>
        </p:txBody>
      </p:sp>
    </p:spTree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VQE step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VQE step 4</a:t>
            </a:r>
          </a:p>
        </p:txBody>
      </p:sp>
      <p:sp>
        <p:nvSpPr>
          <p:cNvPr id="287" name="Create a Quantum Circuit…"/>
          <p:cNvSpPr txBox="1">
            <a:spLocks noGrp="1"/>
          </p:cNvSpPr>
          <p:nvPr>
            <p:ph type="body" sz="half" idx="1"/>
          </p:nvPr>
        </p:nvSpPr>
        <p:spPr>
          <a:xfrm>
            <a:off x="593864" y="5196708"/>
            <a:ext cx="11207472" cy="6141984"/>
          </a:xfrm>
          <a:prstGeom prst="rect">
            <a:avLst/>
          </a:prstGeom>
        </p:spPr>
        <p:txBody>
          <a:bodyPr/>
          <a:lstStyle/>
          <a:p>
            <a:pPr marL="0" indent="0">
              <a:lnSpc>
                <a:spcPct val="120000"/>
              </a:lnSpc>
              <a:spcBef>
                <a:spcPts val="6500"/>
              </a:spcBef>
              <a:buSzTx/>
              <a:buNone/>
              <a:defRPr sz="6400"/>
            </a:pPr>
            <a:r>
              <a:t>Create a Quantum Circuit</a:t>
            </a:r>
          </a:p>
          <a:p>
            <a:pPr marL="0" indent="0">
              <a:lnSpc>
                <a:spcPct val="120000"/>
              </a:lnSpc>
              <a:spcBef>
                <a:spcPts val="6500"/>
              </a:spcBef>
              <a:buSzTx/>
              <a:buNone/>
              <a:defRPr sz="6400"/>
            </a:pPr>
            <a:r>
              <a:t>Build a parameterized circuit (ansatz) that prepares candidate quantum states.</a:t>
            </a:r>
          </a:p>
        </p:txBody>
      </p:sp>
      <p:sp>
        <p:nvSpPr>
          <p:cNvPr id="288" name="Rounded Rectangle"/>
          <p:cNvSpPr/>
          <p:nvPr/>
        </p:nvSpPr>
        <p:spPr>
          <a:xfrm>
            <a:off x="11600740" y="3174363"/>
            <a:ext cx="12460119" cy="10186674"/>
          </a:xfrm>
          <a:prstGeom prst="roundRect">
            <a:avLst>
              <a:gd name="adj" fmla="val 1870"/>
            </a:avLst>
          </a:prstGeom>
          <a:solidFill>
            <a:schemeClr val="accent6">
              <a:hueOff val="-133706"/>
              <a:satOff val="8281"/>
              <a:lumOff val="-27269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defRPr sz="5000"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289" name="anzats.png" descr="anza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81779" y="8424149"/>
            <a:ext cx="11498042" cy="4575011"/>
          </a:xfrm>
          <a:prstGeom prst="rect">
            <a:avLst/>
          </a:prstGeom>
          <a:ln w="12700">
            <a:miter lim="400000"/>
          </a:ln>
        </p:spPr>
      </p:pic>
      <p:sp>
        <p:nvSpPr>
          <p:cNvPr id="290" name="from qiskit.circuit.library import n_local…"/>
          <p:cNvSpPr txBox="1"/>
          <p:nvPr/>
        </p:nvSpPr>
        <p:spPr>
          <a:xfrm>
            <a:off x="11950079" y="3932674"/>
            <a:ext cx="11498042" cy="434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0"/>
              </a:spcBef>
              <a:defRPr sz="3400">
                <a:solidFill>
                  <a:srgbClr val="F7F1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i="1">
                <a:solidFill>
                  <a:srgbClr val="FC618D"/>
                </a:solidFill>
              </a:rPr>
              <a:t>from</a:t>
            </a:r>
            <a:r>
              <a:t> qiskit</a:t>
            </a:r>
            <a:r>
              <a:rPr>
                <a:solidFill>
                  <a:srgbClr val="8B888F"/>
                </a:solidFill>
              </a:rPr>
              <a:t>.</a:t>
            </a:r>
            <a:r>
              <a:t>circuit</a:t>
            </a:r>
            <a:r>
              <a:rPr>
                <a:solidFill>
                  <a:srgbClr val="8B888F"/>
                </a:solidFill>
              </a:rPr>
              <a:t>.</a:t>
            </a:r>
            <a:r>
              <a:t>library </a:t>
            </a:r>
            <a:r>
              <a:rPr i="1">
                <a:solidFill>
                  <a:srgbClr val="FC618D"/>
                </a:solidFill>
              </a:rPr>
              <a:t>import</a:t>
            </a:r>
            <a:r>
              <a:t> n_local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1200">
                <a:solidFill>
                  <a:srgbClr val="F7F1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endParaRPr/>
          </a:p>
          <a:p>
            <a:pPr defTabSz="457200">
              <a:lnSpc>
                <a:spcPct val="100000"/>
              </a:lnSpc>
              <a:spcBef>
                <a:spcPts val="0"/>
              </a:spcBef>
              <a:defRPr sz="3400">
                <a:solidFill>
                  <a:srgbClr val="F7F1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small_ansatz </a:t>
            </a:r>
            <a:r>
              <a:rPr i="1">
                <a:solidFill>
                  <a:srgbClr val="FC618D"/>
                </a:solidFill>
              </a:rPr>
              <a:t>=</a:t>
            </a:r>
            <a:r>
              <a:t> </a:t>
            </a:r>
            <a:r>
              <a:rPr>
                <a:solidFill>
                  <a:srgbClr val="7BD88F"/>
                </a:solidFill>
              </a:rPr>
              <a:t>n_local</a:t>
            </a:r>
            <a:r>
              <a:rPr>
                <a:solidFill>
                  <a:srgbClr val="8B888F"/>
                </a:solidFill>
              </a:rPr>
              <a:t>(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3400">
                <a:solidFill>
                  <a:srgbClr val="F7F1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8B888F"/>
                </a:solidFill>
              </a:rPr>
              <a:t>  </a:t>
            </a:r>
            <a:r>
              <a:rPr>
                <a:solidFill>
                  <a:srgbClr val="948AE3"/>
                </a:solidFill>
              </a:rPr>
              <a:t>2</a:t>
            </a:r>
            <a:r>
              <a:rPr>
                <a:solidFill>
                  <a:srgbClr val="8B888F"/>
                </a:solidFill>
              </a:rPr>
              <a:t>,</a:t>
            </a:r>
            <a:r>
              <a:t> </a:t>
            </a:r>
            <a:r>
              <a:rPr>
                <a:solidFill>
                  <a:srgbClr val="8B888F"/>
                </a:solidFill>
              </a:rPr>
              <a:t>"</a:t>
            </a:r>
            <a:r>
              <a:rPr>
                <a:solidFill>
                  <a:srgbClr val="FCE566"/>
                </a:solidFill>
              </a:rPr>
              <a:t>ry</a:t>
            </a:r>
            <a:r>
              <a:rPr>
                <a:solidFill>
                  <a:srgbClr val="8B888F"/>
                </a:solidFill>
              </a:rPr>
              <a:t>",</a:t>
            </a:r>
            <a:r>
              <a:t> </a:t>
            </a:r>
            <a:r>
              <a:rPr>
                <a:solidFill>
                  <a:srgbClr val="8B888F"/>
                </a:solidFill>
              </a:rPr>
              <a:t>"</a:t>
            </a:r>
            <a:r>
              <a:rPr>
                <a:solidFill>
                  <a:srgbClr val="FCE566"/>
                </a:solidFill>
              </a:rPr>
              <a:t>cz</a:t>
            </a:r>
            <a:r>
              <a:rPr>
                <a:solidFill>
                  <a:srgbClr val="8B888F"/>
                </a:solidFill>
              </a:rPr>
              <a:t>",</a:t>
            </a:r>
            <a:r>
              <a:t> </a:t>
            </a:r>
            <a:r>
              <a:rPr i="1">
                <a:solidFill>
                  <a:srgbClr val="FD9353"/>
                </a:solidFill>
              </a:rPr>
              <a:t>reps</a:t>
            </a:r>
            <a:r>
              <a:rPr i="1">
                <a:solidFill>
                  <a:srgbClr val="FC618D"/>
                </a:solidFill>
              </a:rPr>
              <a:t>=</a:t>
            </a:r>
            <a:r>
              <a:rPr>
                <a:solidFill>
                  <a:srgbClr val="948AE3"/>
                </a:solidFill>
              </a:rPr>
              <a:t>2</a:t>
            </a:r>
            <a:r>
              <a:rPr>
                <a:solidFill>
                  <a:srgbClr val="8B888F"/>
                </a:solidFill>
              </a:rPr>
              <a:t>,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3400">
                <a:solidFill>
                  <a:srgbClr val="F7F1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8B888F"/>
                </a:solidFill>
              </a:rPr>
              <a:t>  </a:t>
            </a:r>
            <a:r>
              <a:rPr i="1">
                <a:solidFill>
                  <a:srgbClr val="FD9353"/>
                </a:solidFill>
              </a:rPr>
              <a:t>entanglement</a:t>
            </a:r>
            <a:r>
              <a:rPr i="1">
                <a:solidFill>
                  <a:srgbClr val="FC618D"/>
                </a:solidFill>
              </a:rPr>
              <a:t>=</a:t>
            </a:r>
            <a:r>
              <a:rPr>
                <a:solidFill>
                  <a:srgbClr val="8B888F"/>
                </a:solidFill>
              </a:rPr>
              <a:t>“</a:t>
            </a:r>
            <a:r>
              <a:rPr>
                <a:solidFill>
                  <a:srgbClr val="FCE566"/>
                </a:solidFill>
              </a:rPr>
              <a:t>full</a:t>
            </a:r>
            <a:r>
              <a:rPr>
                <a:solidFill>
                  <a:srgbClr val="8B888F"/>
                </a:solidFill>
              </a:rPr>
              <a:t>”,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3400">
                <a:solidFill>
                  <a:srgbClr val="F7F1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8B888F"/>
                </a:solidFill>
              </a:rPr>
              <a:t>)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3400">
                <a:solidFill>
                  <a:srgbClr val="F7F1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endParaRPr>
              <a:solidFill>
                <a:srgbClr val="8B888F"/>
              </a:solidFill>
            </a:endParaR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3400">
                <a:solidFill>
                  <a:srgbClr val="F7F1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small_ansatz</a:t>
            </a:r>
            <a:r>
              <a:rPr>
                <a:solidFill>
                  <a:srgbClr val="8B888F"/>
                </a:solidFill>
              </a:rPr>
              <a:t>.</a:t>
            </a:r>
            <a:r>
              <a:rPr>
                <a:solidFill>
                  <a:srgbClr val="7BD88F"/>
                </a:solidFill>
              </a:rPr>
              <a:t>draw</a:t>
            </a:r>
            <a:r>
              <a:rPr>
                <a:solidFill>
                  <a:srgbClr val="8B888F"/>
                </a:solidFill>
              </a:rPr>
              <a:t>(</a:t>
            </a:r>
            <a:r>
              <a:rPr i="1">
                <a:solidFill>
                  <a:srgbClr val="FD9353"/>
                </a:solidFill>
              </a:rPr>
              <a:t>output</a:t>
            </a:r>
            <a:r>
              <a:rPr i="1">
                <a:solidFill>
                  <a:srgbClr val="FC618D"/>
                </a:solidFill>
              </a:rPr>
              <a:t>=</a:t>
            </a:r>
            <a:r>
              <a:rPr>
                <a:solidFill>
                  <a:srgbClr val="8B888F"/>
                </a:solidFill>
              </a:rPr>
              <a:t>"</a:t>
            </a:r>
            <a:r>
              <a:rPr>
                <a:solidFill>
                  <a:srgbClr val="FCE566"/>
                </a:solidFill>
              </a:rPr>
              <a:t>mpl</a:t>
            </a:r>
            <a:r>
              <a:rPr>
                <a:solidFill>
                  <a:srgbClr val="8B888F"/>
                </a:solidFill>
              </a:rPr>
              <a:t>",</a:t>
            </a:r>
            <a:r>
              <a:t> </a:t>
            </a:r>
            <a:r>
              <a:rPr i="1">
                <a:solidFill>
                  <a:srgbClr val="FD9353"/>
                </a:solidFill>
              </a:rPr>
              <a:t>scale</a:t>
            </a:r>
            <a:r>
              <a:rPr i="1">
                <a:solidFill>
                  <a:srgbClr val="FC618D"/>
                </a:solidFill>
              </a:rPr>
              <a:t>=</a:t>
            </a:r>
            <a:r>
              <a:rPr>
                <a:solidFill>
                  <a:srgbClr val="948AE3"/>
                </a:solidFill>
              </a:rPr>
              <a:t>1.1</a:t>
            </a:r>
            <a:r>
              <a:rPr>
                <a:solidFill>
                  <a:srgbClr val="8B888F"/>
                </a:solidFill>
              </a:rPr>
              <a:t>)</a:t>
            </a:r>
          </a:p>
        </p:txBody>
      </p:sp>
    </p:spTree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VQE step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VQE step 5</a:t>
            </a:r>
          </a:p>
        </p:txBody>
      </p:sp>
      <p:sp>
        <p:nvSpPr>
          <p:cNvPr id="293" name="Run Hybrid Optimization…"/>
          <p:cNvSpPr txBox="1">
            <a:spLocks noGrp="1"/>
          </p:cNvSpPr>
          <p:nvPr>
            <p:ph type="body" sz="half" idx="1"/>
          </p:nvPr>
        </p:nvSpPr>
        <p:spPr>
          <a:xfrm>
            <a:off x="593864" y="5196708"/>
            <a:ext cx="11207472" cy="6141984"/>
          </a:xfrm>
          <a:prstGeom prst="rect">
            <a:avLst/>
          </a:prstGeom>
        </p:spPr>
        <p:txBody>
          <a:bodyPr/>
          <a:lstStyle/>
          <a:p>
            <a:pPr marL="0" indent="0">
              <a:lnSpc>
                <a:spcPct val="120000"/>
              </a:lnSpc>
              <a:spcBef>
                <a:spcPts val="6500"/>
              </a:spcBef>
              <a:buSzTx/>
              <a:buNone/>
              <a:defRPr sz="6400"/>
            </a:pPr>
            <a:r>
              <a:t>Run Hybrid Optimization</a:t>
            </a:r>
          </a:p>
          <a:p>
            <a:pPr marL="0" indent="0">
              <a:lnSpc>
                <a:spcPct val="120000"/>
              </a:lnSpc>
              <a:spcBef>
                <a:spcPts val="6500"/>
              </a:spcBef>
              <a:buSzTx/>
              <a:buNone/>
              <a:defRPr sz="6400"/>
            </a:pPr>
            <a:r>
              <a:t>Quantum measurements estimate energy. COBYLA updates circuit parameters to minimize it.</a:t>
            </a:r>
          </a:p>
        </p:txBody>
      </p:sp>
      <p:sp>
        <p:nvSpPr>
          <p:cNvPr id="294" name="Rounded Rectangle"/>
          <p:cNvSpPr/>
          <p:nvPr/>
        </p:nvSpPr>
        <p:spPr>
          <a:xfrm>
            <a:off x="11600740" y="3174363"/>
            <a:ext cx="12460119" cy="10186674"/>
          </a:xfrm>
          <a:prstGeom prst="roundRect">
            <a:avLst>
              <a:gd name="adj" fmla="val 1870"/>
            </a:avLst>
          </a:prstGeom>
          <a:solidFill>
            <a:schemeClr val="accent6">
              <a:hueOff val="-133706"/>
              <a:satOff val="8281"/>
              <a:lumOff val="-27269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defRPr sz="5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95" name="from qiskit.primitives import StatevectorSampler…"/>
          <p:cNvSpPr txBox="1"/>
          <p:nvPr/>
        </p:nvSpPr>
        <p:spPr>
          <a:xfrm>
            <a:off x="12081778" y="4152899"/>
            <a:ext cx="11498042" cy="822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0"/>
              </a:spcBef>
              <a:defRPr sz="3500">
                <a:solidFill>
                  <a:srgbClr val="F7F1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i="1">
                <a:solidFill>
                  <a:srgbClr val="FC618D"/>
                </a:solidFill>
              </a:rPr>
              <a:t>from</a:t>
            </a:r>
            <a:r>
              <a:t> qiskit</a:t>
            </a:r>
            <a:r>
              <a:rPr>
                <a:solidFill>
                  <a:srgbClr val="8B888F"/>
                </a:solidFill>
              </a:rPr>
              <a:t>.</a:t>
            </a:r>
            <a:r>
              <a:t>primitives </a:t>
            </a:r>
            <a:r>
              <a:rPr i="1">
                <a:solidFill>
                  <a:srgbClr val="FC618D"/>
                </a:solidFill>
              </a:rPr>
              <a:t>import</a:t>
            </a:r>
            <a:r>
              <a:t> StatevectorSampler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3500">
                <a:solidFill>
                  <a:srgbClr val="F7F1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i="1">
                <a:solidFill>
                  <a:srgbClr val="FC618D"/>
                </a:solidFill>
              </a:rPr>
              <a:t>from</a:t>
            </a:r>
            <a:r>
              <a:t> qiskit_algorithms </a:t>
            </a:r>
            <a:r>
              <a:rPr i="1">
                <a:solidFill>
                  <a:srgbClr val="FC618D"/>
                </a:solidFill>
              </a:rPr>
              <a:t>import</a:t>
            </a:r>
            <a:r>
              <a:t> SamplingVQE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3500">
                <a:solidFill>
                  <a:srgbClr val="F7F1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endParaRPr/>
          </a:p>
          <a:p>
            <a:pPr defTabSz="457200">
              <a:lnSpc>
                <a:spcPct val="100000"/>
              </a:lnSpc>
              <a:spcBef>
                <a:spcPts val="0"/>
              </a:spcBef>
              <a:defRPr sz="3500">
                <a:solidFill>
                  <a:srgbClr val="7BD88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endParaRPr/>
          </a:p>
          <a:p>
            <a:pPr defTabSz="457200">
              <a:lnSpc>
                <a:spcPct val="100000"/>
              </a:lnSpc>
              <a:spcBef>
                <a:spcPts val="0"/>
              </a:spcBef>
              <a:defRPr sz="3500">
                <a:solidFill>
                  <a:srgbClr val="7BD88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F7F1FF"/>
                </a:solidFill>
              </a:rPr>
              <a:t>small_vqe </a:t>
            </a:r>
            <a:r>
              <a:rPr i="1">
                <a:solidFill>
                  <a:srgbClr val="FC618D"/>
                </a:solidFill>
              </a:rPr>
              <a:t>=</a:t>
            </a:r>
            <a:r>
              <a:rPr>
                <a:solidFill>
                  <a:srgbClr val="F7F1FF"/>
                </a:solidFill>
              </a:rPr>
              <a:t> </a:t>
            </a:r>
            <a:r>
              <a:t>SamplingVQE</a:t>
            </a:r>
            <a:r>
              <a:rPr>
                <a:solidFill>
                  <a:srgbClr val="8B888F"/>
                </a:solidFill>
              </a:rPr>
              <a:t>(</a:t>
            </a:r>
            <a:endParaRPr>
              <a:solidFill>
                <a:srgbClr val="F7F1FF"/>
              </a:solidFill>
            </a:endParaR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3500">
                <a:solidFill>
                  <a:srgbClr val="7BD88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F7F1FF"/>
                </a:solidFill>
              </a:rPr>
              <a:t>    </a:t>
            </a:r>
            <a:r>
              <a:rPr i="1">
                <a:solidFill>
                  <a:srgbClr val="FD9353"/>
                </a:solidFill>
              </a:rPr>
              <a:t>sampler</a:t>
            </a:r>
            <a:r>
              <a:rPr i="1">
                <a:solidFill>
                  <a:srgbClr val="FC618D"/>
                </a:solidFill>
              </a:rPr>
              <a:t>=</a:t>
            </a:r>
            <a:r>
              <a:t>StatevectorSampler</a:t>
            </a:r>
            <a:r>
              <a:rPr>
                <a:solidFill>
                  <a:srgbClr val="8B888F"/>
                </a:solidFill>
              </a:rPr>
              <a:t>(</a:t>
            </a:r>
          </a:p>
          <a:p>
            <a:pPr lvl="1" defTabSz="457200">
              <a:lnSpc>
                <a:spcPct val="100000"/>
              </a:lnSpc>
              <a:spcBef>
                <a:spcPts val="0"/>
              </a:spcBef>
              <a:defRPr sz="3500">
                <a:solidFill>
                  <a:srgbClr val="7BD88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8B888F"/>
                </a:solidFill>
              </a:rPr>
              <a:t>       </a:t>
            </a:r>
            <a:r>
              <a:rPr i="1">
                <a:solidFill>
                  <a:srgbClr val="FD9353"/>
                </a:solidFill>
              </a:rPr>
              <a:t>default_shots</a:t>
            </a:r>
            <a:r>
              <a:rPr i="1">
                <a:solidFill>
                  <a:srgbClr val="FC618D"/>
                </a:solidFill>
              </a:rPr>
              <a:t>=</a:t>
            </a:r>
            <a:r>
              <a:rPr>
                <a:solidFill>
                  <a:srgbClr val="948AE3"/>
                </a:solidFill>
              </a:rPr>
              <a:t>1024</a:t>
            </a:r>
            <a:r>
              <a:rPr>
                <a:solidFill>
                  <a:srgbClr val="8B888F"/>
                </a:solidFill>
              </a:rPr>
              <a:t>,</a:t>
            </a:r>
            <a:r>
              <a:rPr>
                <a:solidFill>
                  <a:srgbClr val="F7F1FF"/>
                </a:solidFill>
              </a:rPr>
              <a:t> </a:t>
            </a:r>
            <a:r>
              <a:rPr i="1">
                <a:solidFill>
                  <a:srgbClr val="FD9353"/>
                </a:solidFill>
              </a:rPr>
              <a:t>seed</a:t>
            </a:r>
            <a:r>
              <a:rPr i="1">
                <a:solidFill>
                  <a:srgbClr val="FC618D"/>
                </a:solidFill>
              </a:rPr>
              <a:t>=</a:t>
            </a:r>
            <a:r>
              <a:rPr>
                <a:solidFill>
                  <a:srgbClr val="948AE3"/>
                </a:solidFill>
              </a:rPr>
              <a:t>42,</a:t>
            </a:r>
          </a:p>
          <a:p>
            <a:pPr lvl="3" defTabSz="457200">
              <a:lnSpc>
                <a:spcPct val="100000"/>
              </a:lnSpc>
              <a:spcBef>
                <a:spcPts val="0"/>
              </a:spcBef>
              <a:defRPr sz="3500">
                <a:solidFill>
                  <a:srgbClr val="7BD88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948AE3"/>
                </a:solidFill>
              </a:rPr>
              <a:t>    </a:t>
            </a:r>
            <a:r>
              <a:rPr>
                <a:solidFill>
                  <a:srgbClr val="8B888F"/>
                </a:solidFill>
              </a:rPr>
              <a:t>),</a:t>
            </a:r>
            <a:endParaRPr>
              <a:solidFill>
                <a:srgbClr val="F7F1FF"/>
              </a:solidFill>
            </a:endParaR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3500">
                <a:solidFill>
                  <a:srgbClr val="F7F1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</a:t>
            </a:r>
            <a:r>
              <a:rPr i="1">
                <a:solidFill>
                  <a:srgbClr val="FD9353"/>
                </a:solidFill>
              </a:rPr>
              <a:t>ansatz</a:t>
            </a:r>
            <a:r>
              <a:rPr i="1">
                <a:solidFill>
                  <a:srgbClr val="FC618D"/>
                </a:solidFill>
              </a:rPr>
              <a:t>=</a:t>
            </a:r>
            <a:r>
              <a:t>small_ansatz</a:t>
            </a:r>
            <a:r>
              <a:rPr>
                <a:solidFill>
                  <a:srgbClr val="8B888F"/>
                </a:solidFill>
              </a:rPr>
              <a:t>,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3500" i="1">
                <a:solidFill>
                  <a:srgbClr val="FD9353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i="0">
                <a:solidFill>
                  <a:srgbClr val="F7F1FF"/>
                </a:solidFill>
              </a:rPr>
              <a:t>    </a:t>
            </a:r>
            <a:r>
              <a:t>optimizer</a:t>
            </a:r>
            <a:r>
              <a:rPr>
                <a:solidFill>
                  <a:srgbClr val="FC618D"/>
                </a:solidFill>
              </a:rPr>
              <a:t>=</a:t>
            </a:r>
            <a:r>
              <a:rPr i="0">
                <a:solidFill>
                  <a:srgbClr val="7BD88F"/>
                </a:solidFill>
              </a:rPr>
              <a:t>COBYLA</a:t>
            </a:r>
            <a:r>
              <a:rPr i="0">
                <a:solidFill>
                  <a:srgbClr val="8B888F"/>
                </a:solidFill>
              </a:rPr>
              <a:t>(</a:t>
            </a:r>
            <a:r>
              <a:t>maxiter</a:t>
            </a:r>
            <a:r>
              <a:rPr>
                <a:solidFill>
                  <a:srgbClr val="FC618D"/>
                </a:solidFill>
              </a:rPr>
              <a:t>=</a:t>
            </a:r>
            <a:r>
              <a:rPr i="0">
                <a:solidFill>
                  <a:srgbClr val="948AE3"/>
                </a:solidFill>
              </a:rPr>
              <a:t>20</a:t>
            </a:r>
            <a:r>
              <a:rPr i="0">
                <a:solidFill>
                  <a:srgbClr val="8B888F"/>
                </a:solidFill>
              </a:rPr>
              <a:t>),</a:t>
            </a:r>
            <a:endParaRPr i="0">
              <a:solidFill>
                <a:srgbClr val="F7F1FF"/>
              </a:solidFill>
            </a:endParaR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3500">
                <a:solidFill>
                  <a:srgbClr val="F7F1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</a:t>
            </a:r>
            <a:r>
              <a:rPr i="1">
                <a:solidFill>
                  <a:srgbClr val="FD9353"/>
                </a:solidFill>
              </a:rPr>
              <a:t>callback</a:t>
            </a:r>
            <a:r>
              <a:rPr i="1">
                <a:solidFill>
                  <a:srgbClr val="FC618D"/>
                </a:solidFill>
              </a:rPr>
              <a:t>=</a:t>
            </a:r>
            <a:r>
              <a:t>record_small_energy</a:t>
            </a:r>
            <a:r>
              <a:rPr>
                <a:solidFill>
                  <a:srgbClr val="8B888F"/>
                </a:solidFill>
              </a:rPr>
              <a:t>,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3500">
                <a:solidFill>
                  <a:srgbClr val="8B888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)</a:t>
            </a:r>
            <a:endParaRPr>
              <a:solidFill>
                <a:srgbClr val="F7F1FF"/>
              </a:solidFill>
            </a:endParaR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3500">
                <a:solidFill>
                  <a:srgbClr val="7BD88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F7F1FF"/>
                </a:solidFill>
              </a:rPr>
              <a:t>small_result </a:t>
            </a:r>
            <a:r>
              <a:rPr i="1">
                <a:solidFill>
                  <a:srgbClr val="FC618D"/>
                </a:solidFill>
              </a:rPr>
              <a:t>=</a:t>
            </a:r>
            <a:r>
              <a:rPr>
                <a:solidFill>
                  <a:srgbClr val="F7F1FF"/>
                </a:solidFill>
              </a:rPr>
              <a:t> small_vqe</a:t>
            </a:r>
            <a:r>
              <a:rPr>
                <a:solidFill>
                  <a:srgbClr val="8B888F"/>
                </a:solidFill>
              </a:rPr>
              <a:t>.</a:t>
            </a:r>
            <a:r>
              <a:t>compute_minimum_eigenvalue</a:t>
            </a:r>
            <a:r>
              <a:rPr>
                <a:solidFill>
                  <a:srgbClr val="8B888F"/>
                </a:solidFill>
              </a:rPr>
              <a:t>(</a:t>
            </a:r>
            <a:r>
              <a:rPr>
                <a:solidFill>
                  <a:srgbClr val="F7F1FF"/>
                </a:solidFill>
              </a:rPr>
              <a:t>cost_operator</a:t>
            </a:r>
            <a:r>
              <a:rPr>
                <a:solidFill>
                  <a:srgbClr val="8B888F"/>
                </a:solidFill>
              </a:rPr>
              <a:t>)</a:t>
            </a:r>
          </a:p>
        </p:txBody>
      </p:sp>
    </p:spTree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VQE step 5.1…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5000"/>
            </a:pPr>
            <a:r>
              <a:t>VQE step 5.1 </a:t>
            </a:r>
          </a:p>
          <a:p>
            <a:r>
              <a:t>Initialize Parameters</a:t>
            </a:r>
          </a:p>
        </p:txBody>
      </p:sp>
      <p:sp>
        <p:nvSpPr>
          <p:cNvPr id="298" name="Rounded Rectangle"/>
          <p:cNvSpPr/>
          <p:nvPr/>
        </p:nvSpPr>
        <p:spPr>
          <a:xfrm>
            <a:off x="11600740" y="3174363"/>
            <a:ext cx="12460119" cy="10186674"/>
          </a:xfrm>
          <a:prstGeom prst="roundRect">
            <a:avLst>
              <a:gd name="adj" fmla="val 1870"/>
            </a:avLst>
          </a:prstGeom>
          <a:solidFill>
            <a:schemeClr val="accent6">
              <a:hueOff val="-133706"/>
              <a:satOff val="8281"/>
              <a:lumOff val="-27269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defRPr sz="5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99" name="Start with an initial rotation angles θ."/>
          <p:cNvSpPr txBox="1">
            <a:spLocks noGrp="1"/>
          </p:cNvSpPr>
          <p:nvPr>
            <p:ph type="body" sz="half" idx="1"/>
          </p:nvPr>
        </p:nvSpPr>
        <p:spPr>
          <a:xfrm>
            <a:off x="593864" y="5209408"/>
            <a:ext cx="11207472" cy="614198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Bef>
                <a:spcPts val="6500"/>
              </a:spcBef>
              <a:buSzTx/>
              <a:buNone/>
              <a:defRPr sz="6000"/>
            </a:lvl1pPr>
          </a:lstStyle>
          <a:p>
            <a:r>
              <a:t>Start with an initial rotation angles θ.</a:t>
            </a:r>
          </a:p>
        </p:txBody>
      </p:sp>
      <p:pic>
        <p:nvPicPr>
          <p:cNvPr id="300" name="Screenshot 2026-10-13 at 17.31.58.png" descr="Screenshot 2026-10-13 at 17.31.5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13614" y="4464050"/>
            <a:ext cx="7634373" cy="76073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VQE step 5.2…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5000"/>
            </a:pPr>
            <a:r>
              <a:t>VQE step 5.2 </a:t>
            </a:r>
          </a:p>
          <a:p>
            <a:r>
              <a:t>Prepare Quantum State</a:t>
            </a:r>
          </a:p>
        </p:txBody>
      </p:sp>
      <p:sp>
        <p:nvSpPr>
          <p:cNvPr id="303" name="Apply the parameterized gates to prepare a candidate quantum state."/>
          <p:cNvSpPr txBox="1">
            <a:spLocks noGrp="1"/>
          </p:cNvSpPr>
          <p:nvPr>
            <p:ph type="body" sz="half" idx="1"/>
          </p:nvPr>
        </p:nvSpPr>
        <p:spPr>
          <a:xfrm>
            <a:off x="593864" y="5196708"/>
            <a:ext cx="11207472" cy="614198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Bef>
                <a:spcPts val="6500"/>
              </a:spcBef>
              <a:buSzTx/>
              <a:buNone/>
              <a:defRPr sz="6400"/>
            </a:lvl1pPr>
          </a:lstStyle>
          <a:p>
            <a:r>
              <a:t>Apply the parameterized gates to prepare a candidate quantum state.</a:t>
            </a:r>
          </a:p>
        </p:txBody>
      </p:sp>
      <p:sp>
        <p:nvSpPr>
          <p:cNvPr id="304" name="Rounded Rectangle"/>
          <p:cNvSpPr/>
          <p:nvPr/>
        </p:nvSpPr>
        <p:spPr>
          <a:xfrm>
            <a:off x="11600740" y="3174363"/>
            <a:ext cx="12460119" cy="10186674"/>
          </a:xfrm>
          <a:prstGeom prst="roundRect">
            <a:avLst>
              <a:gd name="adj" fmla="val 1870"/>
            </a:avLst>
          </a:prstGeom>
          <a:solidFill>
            <a:schemeClr val="accent6">
              <a:hueOff val="-133706"/>
              <a:satOff val="8281"/>
              <a:lumOff val="-27269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defRPr sz="5000"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305" name="anzats.png" descr="anza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81778" y="5980195"/>
            <a:ext cx="11498042" cy="457501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VQE step 5.3…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5000"/>
            </a:pPr>
            <a:r>
              <a:t>VQE step 5.3 </a:t>
            </a:r>
          </a:p>
          <a:p>
            <a:r>
              <a:t>Measure</a:t>
            </a:r>
          </a:p>
        </p:txBody>
      </p:sp>
      <p:sp>
        <p:nvSpPr>
          <p:cNvPr id="308" name="Apply the parameterized gates to prepare a candidate quantum state."/>
          <p:cNvSpPr txBox="1">
            <a:spLocks noGrp="1"/>
          </p:cNvSpPr>
          <p:nvPr>
            <p:ph type="body" sz="half" idx="1"/>
          </p:nvPr>
        </p:nvSpPr>
        <p:spPr>
          <a:xfrm>
            <a:off x="593864" y="5196708"/>
            <a:ext cx="11207472" cy="614198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Bef>
                <a:spcPts val="6500"/>
              </a:spcBef>
              <a:buSzTx/>
              <a:buNone/>
              <a:defRPr sz="6400"/>
            </a:lvl1pPr>
          </a:lstStyle>
          <a:p>
            <a:r>
              <a:t>Apply the parameterized gates to prepare a candidate quantum state.</a:t>
            </a:r>
          </a:p>
        </p:txBody>
      </p:sp>
      <p:sp>
        <p:nvSpPr>
          <p:cNvPr id="309" name="Rounded Rectangle"/>
          <p:cNvSpPr/>
          <p:nvPr/>
        </p:nvSpPr>
        <p:spPr>
          <a:xfrm>
            <a:off x="11600740" y="3174363"/>
            <a:ext cx="12460119" cy="10186674"/>
          </a:xfrm>
          <a:prstGeom prst="roundRect">
            <a:avLst>
              <a:gd name="adj" fmla="val 1870"/>
            </a:avLst>
          </a:prstGeom>
          <a:solidFill>
            <a:schemeClr val="accent6">
              <a:hueOff val="-133706"/>
              <a:satOff val="8281"/>
              <a:lumOff val="-27269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defRPr sz="5000"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310" name="result.png" descr="result.png"/>
          <p:cNvPicPr>
            <a:picLocks noChangeAspect="1"/>
          </p:cNvPicPr>
          <p:nvPr/>
        </p:nvPicPr>
        <p:blipFill>
          <a:blip r:embed="rId2"/>
          <a:srcRect l="50113"/>
          <a:stretch>
            <a:fillRect/>
          </a:stretch>
        </p:blipFill>
        <p:spPr>
          <a:xfrm>
            <a:off x="12471994" y="4036020"/>
            <a:ext cx="10717478" cy="846327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VQE step 5.4…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5000"/>
            </a:pPr>
            <a:r>
              <a:t>VQE step 5.4</a:t>
            </a:r>
          </a:p>
          <a:p>
            <a:r>
              <a:t>Estimate Ising Energy</a:t>
            </a:r>
          </a:p>
        </p:txBody>
      </p:sp>
      <p:sp>
        <p:nvSpPr>
          <p:cNvPr id="313" name="Calculate the expected energy from the measured probabilities and Hamiltonian."/>
          <p:cNvSpPr txBox="1">
            <a:spLocks noGrp="1"/>
          </p:cNvSpPr>
          <p:nvPr>
            <p:ph type="body" sz="half" idx="1"/>
          </p:nvPr>
        </p:nvSpPr>
        <p:spPr>
          <a:xfrm>
            <a:off x="593864" y="5196708"/>
            <a:ext cx="11207472" cy="614198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Bef>
                <a:spcPts val="6500"/>
              </a:spcBef>
              <a:buSzTx/>
              <a:buNone/>
              <a:defRPr sz="6400"/>
            </a:lvl1pPr>
          </a:lstStyle>
          <a:p>
            <a:r>
              <a:t>Calculate the expected energy from the measured probabilities and Hamiltonian.</a:t>
            </a:r>
          </a:p>
        </p:txBody>
      </p:sp>
      <p:sp>
        <p:nvSpPr>
          <p:cNvPr id="314" name="Rounded Rectangle"/>
          <p:cNvSpPr/>
          <p:nvPr/>
        </p:nvSpPr>
        <p:spPr>
          <a:xfrm>
            <a:off x="11600740" y="3174363"/>
            <a:ext cx="12460119" cy="10186674"/>
          </a:xfrm>
          <a:prstGeom prst="roundRect">
            <a:avLst>
              <a:gd name="adj" fmla="val 1870"/>
            </a:avLst>
          </a:prstGeom>
          <a:solidFill>
            <a:schemeClr val="accent6">
              <a:hueOff val="-133706"/>
              <a:satOff val="8281"/>
              <a:lumOff val="-27269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defRPr sz="5000">
                <a:solidFill>
                  <a:srgbClr val="FFFFFF"/>
                </a:solidFill>
              </a:defRPr>
            </a:pPr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5" name="Equation"/>
              <p:cNvSpPr txBox="1"/>
              <p:nvPr/>
            </p:nvSpPr>
            <p:spPr>
              <a:xfrm>
                <a:off x="14030177" y="7370446"/>
                <a:ext cx="7601245" cy="1794509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914400" latinLnBrk="1">
                  <a:lnSpc>
                    <a:spcPct val="100000"/>
                  </a:lnSpc>
                  <a:spcBef>
                    <a:spcPts val="0"/>
                  </a:spcBef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 sz="6400" i="1">
                          <a:solidFill>
                            <a:srgbClr val="FEFEFE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sz="6400" i="1">
                          <a:solidFill>
                            <a:srgbClr val="FEFEFE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6400" i="1">
                          <a:solidFill>
                            <a:srgbClr val="FEFEFE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sz="6400" i="1">
                          <a:solidFill>
                            <a:srgbClr val="FEFEFE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limLow>
                        <m:limLowPr>
                          <m:ctrlPr>
                            <a:rPr sz="6400" i="1">
                              <a:solidFill>
                                <a:srgbClr val="FEFEFE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a:rPr sz="6400" i="1">
                              <a:solidFill>
                                <a:srgbClr val="FEFEFE"/>
                              </a:solidFill>
                              <a:latin typeface="Cambria Math" panose="02040503050406030204" pitchFamily="18" charset="0"/>
                            </a:rPr>
                            <m:t>∑</m:t>
                          </m:r>
                        </m:e>
                        <m:lim>
                          <m:r>
                            <a:rPr sz="6400" i="1">
                              <a:solidFill>
                                <a:srgbClr val="FEFEFE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lim>
                      </m:limLow>
                      <m:r>
                        <a:rPr sz="6400" i="1">
                          <a:solidFill>
                            <a:srgbClr val="FEFEFE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sz="6400" i="1">
                          <a:solidFill>
                            <a:srgbClr val="FEFEFE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6400" i="1">
                          <a:solidFill>
                            <a:srgbClr val="FEFEFE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sz="6400" i="1">
                          <a:solidFill>
                            <a:srgbClr val="FEFEFE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sz="6400" i="1">
                          <a:solidFill>
                            <a:srgbClr val="FEFEFE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sz="6400" i="1">
                          <a:solidFill>
                            <a:srgbClr val="FEFEFE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sz="6400" i="1">
                              <a:solidFill>
                                <a:srgbClr val="FEFEFE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6400" i="1">
                              <a:solidFill>
                                <a:srgbClr val="FEFEFE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sz="6400" i="1">
                              <a:solidFill>
                                <a:srgbClr val="FEFEFE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  <m:r>
                        <a:rPr sz="6400" i="1">
                          <a:solidFill>
                            <a:srgbClr val="FEFEFE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6400" i="1">
                          <a:solidFill>
                            <a:srgbClr val="FEFEFE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sz="6400" i="1">
                          <a:solidFill>
                            <a:srgbClr val="FEFEFE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sz="6400">
                  <a:solidFill>
                    <a:srgbClr val="FFFFFF"/>
                  </a:solidFill>
                </a:endParaRPr>
              </a:p>
            </p:txBody>
          </p:sp>
        </mc:Choice>
        <mc:Fallback>
          <p:sp>
            <p:nvSpPr>
              <p:cNvPr id="315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30177" y="7370446"/>
                <a:ext cx="7601245" cy="1794509"/>
              </a:xfrm>
              <a:prstGeom prst="rect">
                <a:avLst/>
              </a:prstGeom>
              <a:blipFill>
                <a:blip r:embed="rId2"/>
                <a:stretch>
                  <a:fillRect l="-3667" r="-7833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VQE step 5.5…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5000"/>
            </a:pPr>
            <a:r>
              <a:t>VQE step 5.5</a:t>
            </a:r>
          </a:p>
          <a:p>
            <a:r>
              <a:t>Update Parameters</a:t>
            </a:r>
          </a:p>
        </p:txBody>
      </p:sp>
      <p:sp>
        <p:nvSpPr>
          <p:cNvPr id="318" name="COBYLA calculate new rotation angles."/>
          <p:cNvSpPr txBox="1">
            <a:spLocks noGrp="1"/>
          </p:cNvSpPr>
          <p:nvPr>
            <p:ph type="body" sz="half" idx="1"/>
          </p:nvPr>
        </p:nvSpPr>
        <p:spPr>
          <a:xfrm>
            <a:off x="593864" y="5196708"/>
            <a:ext cx="11207472" cy="614198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Bef>
                <a:spcPts val="6500"/>
              </a:spcBef>
              <a:buSzTx/>
              <a:buNone/>
              <a:defRPr sz="6400"/>
            </a:lvl1pPr>
          </a:lstStyle>
          <a:p>
            <a:r>
              <a:t>COBYLA calculate new rotation angles.</a:t>
            </a:r>
          </a:p>
        </p:txBody>
      </p:sp>
      <p:sp>
        <p:nvSpPr>
          <p:cNvPr id="319" name="Rounded Rectangle"/>
          <p:cNvSpPr/>
          <p:nvPr/>
        </p:nvSpPr>
        <p:spPr>
          <a:xfrm>
            <a:off x="11600740" y="3174363"/>
            <a:ext cx="12460119" cy="10186674"/>
          </a:xfrm>
          <a:prstGeom prst="roundRect">
            <a:avLst>
              <a:gd name="adj" fmla="val 1870"/>
            </a:avLst>
          </a:prstGeom>
          <a:solidFill>
            <a:schemeClr val="accent6">
              <a:hueOff val="-133706"/>
              <a:satOff val="8281"/>
              <a:lumOff val="-27269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defRPr sz="5000"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320" name="Screenshot 2026-10-13 at 17.31.58.png" descr="Screenshot 2026-10-13 at 17.31.5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0622" y="3503017"/>
            <a:ext cx="4669009" cy="4652452"/>
          </a:xfrm>
          <a:prstGeom prst="rect">
            <a:avLst/>
          </a:prstGeom>
          <a:ln w="12700">
            <a:miter lim="400000"/>
          </a:ln>
        </p:spPr>
      </p:pic>
      <p:pic>
        <p:nvPicPr>
          <p:cNvPr id="321" name="Screenshot 2026-10-13 at 17.32.09.png" descr="Screenshot 2026-10-13 at 17.32.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54022" y="3492607"/>
            <a:ext cx="4274131" cy="4673271"/>
          </a:xfrm>
          <a:prstGeom prst="rect">
            <a:avLst/>
          </a:prstGeom>
          <a:ln w="12700">
            <a:miter lim="400000"/>
          </a:ln>
        </p:spPr>
      </p:pic>
      <p:pic>
        <p:nvPicPr>
          <p:cNvPr id="322" name="Screenshot 2026-10-13 at 17.32.19.png" descr="Screenshot 2026-10-13 at 17.32.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70263" y="7873592"/>
            <a:ext cx="4921073" cy="504543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VQE step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VQE step 6</a:t>
            </a:r>
          </a:p>
        </p:txBody>
      </p:sp>
      <p:sp>
        <p:nvSpPr>
          <p:cNvPr id="325" name="Measure &amp; Decode"/>
          <p:cNvSpPr txBox="1">
            <a:spLocks noGrp="1"/>
          </p:cNvSpPr>
          <p:nvPr>
            <p:ph type="body" sz="quarter" idx="1"/>
          </p:nvPr>
        </p:nvSpPr>
        <p:spPr>
          <a:xfrm>
            <a:off x="1019705" y="2246272"/>
            <a:ext cx="11207472" cy="216788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Bef>
                <a:spcPts val="6500"/>
              </a:spcBef>
              <a:buSzTx/>
              <a:buNone/>
              <a:defRPr sz="6400"/>
            </a:lvl1pPr>
          </a:lstStyle>
          <a:p>
            <a:r>
              <a:t>Measure &amp; Decode</a:t>
            </a:r>
          </a:p>
        </p:txBody>
      </p:sp>
      <p:sp>
        <p:nvSpPr>
          <p:cNvPr id="326" name="Rounded Rectangle"/>
          <p:cNvSpPr/>
          <p:nvPr/>
        </p:nvSpPr>
        <p:spPr>
          <a:xfrm>
            <a:off x="11600740" y="3174363"/>
            <a:ext cx="12460119" cy="10186674"/>
          </a:xfrm>
          <a:prstGeom prst="roundRect">
            <a:avLst>
              <a:gd name="adj" fmla="val 1870"/>
            </a:avLst>
          </a:prstGeom>
          <a:solidFill>
            <a:schemeClr val="accent6">
              <a:hueOff val="-133706"/>
              <a:satOff val="8281"/>
              <a:lumOff val="-27269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defRPr sz="5000"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327" name="result.png" descr="result.png"/>
          <p:cNvPicPr>
            <a:picLocks noChangeAspect="1"/>
          </p:cNvPicPr>
          <p:nvPr/>
        </p:nvPicPr>
        <p:blipFill>
          <a:blip r:embed="rId2"/>
          <a:srcRect l="50113"/>
          <a:stretch>
            <a:fillRect/>
          </a:stretch>
        </p:blipFill>
        <p:spPr>
          <a:xfrm>
            <a:off x="12471994" y="4036020"/>
            <a:ext cx="10717478" cy="8463273"/>
          </a:xfrm>
          <a:prstGeom prst="rect">
            <a:avLst/>
          </a:prstGeom>
          <a:ln w="12700">
            <a:miter lim="400000"/>
          </a:ln>
        </p:spPr>
      </p:pic>
      <p:pic>
        <p:nvPicPr>
          <p:cNvPr id="328" name="result.png" descr="result.png"/>
          <p:cNvPicPr>
            <a:picLocks noChangeAspect="1"/>
          </p:cNvPicPr>
          <p:nvPr/>
        </p:nvPicPr>
        <p:blipFill>
          <a:blip r:embed="rId2"/>
          <a:srcRect r="49982"/>
          <a:stretch>
            <a:fillRect/>
          </a:stretch>
        </p:blipFill>
        <p:spPr>
          <a:xfrm>
            <a:off x="824706" y="4036020"/>
            <a:ext cx="10745684" cy="846327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VQE step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VQE step 7</a:t>
            </a:r>
          </a:p>
        </p:txBody>
      </p:sp>
      <p:sp>
        <p:nvSpPr>
          <p:cNvPr id="331" name="Rounded Rectangle"/>
          <p:cNvSpPr/>
          <p:nvPr/>
        </p:nvSpPr>
        <p:spPr>
          <a:xfrm>
            <a:off x="11600740" y="3174363"/>
            <a:ext cx="12460119" cy="10186674"/>
          </a:xfrm>
          <a:prstGeom prst="roundRect">
            <a:avLst>
              <a:gd name="adj" fmla="val 1870"/>
            </a:avLst>
          </a:prstGeom>
          <a:solidFill>
            <a:schemeClr val="accent6">
              <a:hueOff val="-133706"/>
              <a:satOff val="8281"/>
              <a:lumOff val="-27269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defRPr sz="5000">
                <a:solidFill>
                  <a:srgbClr val="FFFFFF"/>
                </a:solidFill>
              </a:defRPr>
            </a:pPr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2" name="Equation"/>
              <p:cNvSpPr txBox="1"/>
              <p:nvPr/>
            </p:nvSpPr>
            <p:spPr>
              <a:xfrm>
                <a:off x="1019705" y="7391290"/>
                <a:ext cx="9127552" cy="723393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914400" latinLnBrk="1">
                  <a:lnSpc>
                    <a:spcPct val="100000"/>
                  </a:lnSpc>
                  <a:spcBef>
                    <a:spcPts val="0"/>
                  </a:spcBef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 sz="6400" i="1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</a:rPr>
                        <m:t>𝑚𝑎𝑥𝑓</m:t>
                      </m:r>
                      <m:r>
                        <a:rPr sz="6400" i="1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6400" i="1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sz="6400" i="1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sz="6400" i="1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sz="6400" i="1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</a:rPr>
                        <m:t>)=3</m:t>
                      </m:r>
                      <m:r>
                        <a:rPr sz="6400" i="1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sz="6400" i="1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sz="6400" i="1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sz="6400" i="1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</a:rPr>
                        <m:t>−4</m:t>
                      </m:r>
                      <m:r>
                        <a:rPr sz="6400" i="1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</a:rPr>
                        <m:t>𝑎𝑏</m:t>
                      </m:r>
                    </m:oMath>
                  </m:oMathPara>
                </a14:m>
                <a:endParaRPr sz="6400" dirty="0">
                  <a:solidFill>
                    <a:srgbClr val="535353"/>
                  </a:solidFill>
                </a:endParaRPr>
              </a:p>
            </p:txBody>
          </p:sp>
        </mc:Choice>
        <mc:Fallback>
          <p:sp>
            <p:nvSpPr>
              <p:cNvPr id="332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705" y="7391290"/>
                <a:ext cx="9127552" cy="723393"/>
              </a:xfrm>
              <a:prstGeom prst="rect">
                <a:avLst/>
              </a:prstGeom>
              <a:blipFill>
                <a:blip r:embed="rId2"/>
                <a:stretch>
                  <a:fillRect l="-4167" r="-13889" b="-82759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3" name="Equation"/>
              <p:cNvSpPr txBox="1"/>
              <p:nvPr/>
            </p:nvSpPr>
            <p:spPr>
              <a:xfrm>
                <a:off x="3458594" y="8924059"/>
                <a:ext cx="3076630" cy="669748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914400" latinLnBrk="1">
                  <a:lnSpc>
                    <a:spcPct val="100000"/>
                  </a:lnSpc>
                  <a:spcBef>
                    <a:spcPts val="0"/>
                  </a:spcBef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 sz="6400" i="1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sz="6400" i="1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sz="6400" i="1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sz="6400" i="1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</a:rPr>
                        <m:t>∈0,1</m:t>
                      </m:r>
                    </m:oMath>
                  </m:oMathPara>
                </a14:m>
                <a:endParaRPr sz="6400">
                  <a:solidFill>
                    <a:srgbClr val="535353"/>
                  </a:solidFill>
                </a:endParaRPr>
              </a:p>
            </p:txBody>
          </p:sp>
        </mc:Choice>
        <mc:Fallback>
          <p:sp>
            <p:nvSpPr>
              <p:cNvPr id="333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8594" y="8924059"/>
                <a:ext cx="3076630" cy="669748"/>
              </a:xfrm>
              <a:prstGeom prst="rect">
                <a:avLst/>
              </a:prstGeom>
              <a:blipFill>
                <a:blip r:embed="rId3"/>
                <a:stretch>
                  <a:fillRect l="-6173" r="-14815" b="-57407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4" name="Equation"/>
              <p:cNvSpPr txBox="1"/>
              <p:nvPr/>
            </p:nvSpPr>
            <p:spPr>
              <a:xfrm>
                <a:off x="13454774" y="6038150"/>
                <a:ext cx="8752050" cy="582779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914400" latinLnBrk="1">
                  <a:lnSpc>
                    <a:spcPct val="100000"/>
                  </a:lnSpc>
                  <a:spcBef>
                    <a:spcPts val="0"/>
                  </a:spcBef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 sz="6400" i="1">
                          <a:solidFill>
                            <a:srgbClr val="FEFEFE"/>
                          </a:solidFill>
                          <a:latin typeface="Cambria Math" panose="02040503050406030204" pitchFamily="18" charset="0"/>
                        </a:rPr>
                        <m:t>3=3∗1+2∗0−4∗1∗0</m:t>
                      </m:r>
                    </m:oMath>
                  </m:oMathPara>
                </a14:m>
                <a:endParaRPr sz="6400">
                  <a:solidFill>
                    <a:srgbClr val="FFFFFF"/>
                  </a:solidFill>
                </a:endParaRPr>
              </a:p>
            </p:txBody>
          </p:sp>
        </mc:Choice>
        <mc:Fallback>
          <p:sp>
            <p:nvSpPr>
              <p:cNvPr id="334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54774" y="6038150"/>
                <a:ext cx="8752050" cy="582779"/>
              </a:xfrm>
              <a:prstGeom prst="rect">
                <a:avLst/>
              </a:prstGeom>
              <a:blipFill>
                <a:blip r:embed="rId4"/>
                <a:stretch>
                  <a:fillRect l="-3188" r="-13043" b="-78723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5" name="Equation"/>
              <p:cNvSpPr txBox="1"/>
              <p:nvPr/>
            </p:nvSpPr>
            <p:spPr>
              <a:xfrm>
                <a:off x="15342773" y="8874478"/>
                <a:ext cx="4976053" cy="719329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914400" latinLnBrk="1">
                  <a:lnSpc>
                    <a:spcPct val="100000"/>
                  </a:lnSpc>
                  <a:spcBef>
                    <a:spcPts val="0"/>
                  </a:spcBef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 sz="6400" i="1">
                          <a:solidFill>
                            <a:srgbClr val="FEFEFE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sz="6400" i="1">
                          <a:solidFill>
                            <a:srgbClr val="FEFEFE"/>
                          </a:solidFill>
                          <a:latin typeface="Cambria Math" panose="02040503050406030204" pitchFamily="18" charset="0"/>
                        </a:rPr>
                        <m:t>0=1</m:t>
                      </m:r>
                      <m:r>
                        <a:rPr sz="6400" i="1">
                          <a:solidFill>
                            <a:srgbClr val="FEFEFE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sz="6400" i="1">
                          <a:solidFill>
                            <a:srgbClr val="FEFEFE"/>
                          </a:solidFill>
                          <a:latin typeface="Cambria Math" panose="02040503050406030204" pitchFamily="18" charset="0"/>
                        </a:rPr>
                        <m:t>1=0</m:t>
                      </m:r>
                    </m:oMath>
                  </m:oMathPara>
                </a14:m>
                <a:endParaRPr sz="6400">
                  <a:solidFill>
                    <a:srgbClr val="FFFFFF"/>
                  </a:solidFill>
                </a:endParaRPr>
              </a:p>
            </p:txBody>
          </p:sp>
        </mc:Choice>
        <mc:Fallback>
          <p:sp>
            <p:nvSpPr>
              <p:cNvPr id="335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42773" y="8874478"/>
                <a:ext cx="4976053" cy="719329"/>
              </a:xfrm>
              <a:prstGeom prst="rect">
                <a:avLst/>
              </a:prstGeom>
              <a:blipFill>
                <a:blip r:embed="rId5"/>
                <a:stretch>
                  <a:fillRect l="-5357" r="-3827" b="-79310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6" name="Equation"/>
              <p:cNvSpPr txBox="1"/>
              <p:nvPr/>
            </p:nvSpPr>
            <p:spPr>
              <a:xfrm>
                <a:off x="15890600" y="10537521"/>
                <a:ext cx="3880399" cy="566523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914400" latinLnBrk="1">
                  <a:lnSpc>
                    <a:spcPct val="100000"/>
                  </a:lnSpc>
                  <a:spcBef>
                    <a:spcPts val="0"/>
                  </a:spcBef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 sz="6400" i="1">
                          <a:solidFill>
                            <a:srgbClr val="FEFEFE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sz="6400" i="1">
                          <a:solidFill>
                            <a:srgbClr val="FEFEFE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  <m:r>
                        <a:rPr sz="6400" i="1">
                          <a:solidFill>
                            <a:srgbClr val="FEFEFE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sz="6400" i="1">
                          <a:solidFill>
                            <a:srgbClr val="FEFEFE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sz="6400">
                  <a:solidFill>
                    <a:srgbClr val="FFFFFF"/>
                  </a:solidFill>
                </a:endParaRPr>
              </a:p>
            </p:txBody>
          </p:sp>
        </mc:Choice>
        <mc:Fallback>
          <p:sp>
            <p:nvSpPr>
              <p:cNvPr id="336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90600" y="10537521"/>
                <a:ext cx="3880399" cy="566523"/>
              </a:xfrm>
              <a:prstGeom prst="rect">
                <a:avLst/>
              </a:prstGeom>
              <a:blipFill>
                <a:blip r:embed="rId6"/>
                <a:stretch>
                  <a:fillRect l="-4902" r="-8824" b="-84783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7" name="Measure &amp; Decode"/>
          <p:cNvSpPr txBox="1">
            <a:spLocks noGrp="1"/>
          </p:cNvSpPr>
          <p:nvPr>
            <p:ph type="body" sz="quarter" idx="1"/>
          </p:nvPr>
        </p:nvSpPr>
        <p:spPr>
          <a:xfrm>
            <a:off x="1019705" y="2246272"/>
            <a:ext cx="11207472" cy="216788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Bef>
                <a:spcPts val="6500"/>
              </a:spcBef>
              <a:buSzTx/>
              <a:buNone/>
              <a:defRPr sz="6400"/>
            </a:lvl1pPr>
          </a:lstStyle>
          <a:p>
            <a:r>
              <a:t>Measure &amp; Decode</a:t>
            </a:r>
          </a:p>
        </p:txBody>
      </p:sp>
    </p:spTree>
  </p:cSld>
  <p:clrMapOvr>
    <a:masterClrMapping/>
  </p:clrMapOvr>
  <p:transition spd="med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Vqe on QPU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Vqe on QPU</a:t>
            </a:r>
          </a:p>
        </p:txBody>
      </p:sp>
    </p:spTree>
  </p:cSld>
  <p:clrMapOvr>
    <a:masterClrMapping/>
  </p:clrMapOvr>
  <p:transition spd="med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Rounded Rectangle"/>
          <p:cNvSpPr/>
          <p:nvPr/>
        </p:nvSpPr>
        <p:spPr>
          <a:xfrm>
            <a:off x="221541" y="278763"/>
            <a:ext cx="23940918" cy="13158474"/>
          </a:xfrm>
          <a:prstGeom prst="roundRect">
            <a:avLst>
              <a:gd name="adj" fmla="val 1870"/>
            </a:avLst>
          </a:prstGeom>
          <a:solidFill>
            <a:schemeClr val="accent6">
              <a:hueOff val="-133706"/>
              <a:satOff val="8281"/>
              <a:lumOff val="-27269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defRPr sz="5000"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342" name="pasted-movie.png" descr="pasted-mov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679" y="2794456"/>
            <a:ext cx="22812642" cy="812708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Rounded Rectangle"/>
          <p:cNvSpPr/>
          <p:nvPr/>
        </p:nvSpPr>
        <p:spPr>
          <a:xfrm>
            <a:off x="221541" y="278763"/>
            <a:ext cx="23940918" cy="13158474"/>
          </a:xfrm>
          <a:prstGeom prst="roundRect">
            <a:avLst>
              <a:gd name="adj" fmla="val 1870"/>
            </a:avLst>
          </a:prstGeom>
          <a:solidFill>
            <a:schemeClr val="accent6">
              <a:hueOff val="-133706"/>
              <a:satOff val="8281"/>
              <a:lumOff val="-27269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defRPr sz="5000"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345" name="pasted-movie.png" descr="pasted-mov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900" y="1700819"/>
            <a:ext cx="23454200" cy="1031436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Rounded Rectangle"/>
          <p:cNvSpPr/>
          <p:nvPr/>
        </p:nvSpPr>
        <p:spPr>
          <a:xfrm>
            <a:off x="221541" y="278763"/>
            <a:ext cx="23940918" cy="13158474"/>
          </a:xfrm>
          <a:prstGeom prst="roundRect">
            <a:avLst>
              <a:gd name="adj" fmla="val 1870"/>
            </a:avLst>
          </a:prstGeom>
          <a:solidFill>
            <a:schemeClr val="accent6">
              <a:hueOff val="-133706"/>
              <a:satOff val="8281"/>
              <a:lumOff val="-27269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defRPr sz="5000"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348" name="pasted-movie.png" descr="pasted-mov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100" y="1605794"/>
            <a:ext cx="23291800" cy="1050441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Rounded Rectangle"/>
          <p:cNvSpPr/>
          <p:nvPr/>
        </p:nvSpPr>
        <p:spPr>
          <a:xfrm>
            <a:off x="221541" y="278763"/>
            <a:ext cx="23940918" cy="13158474"/>
          </a:xfrm>
          <a:prstGeom prst="roundRect">
            <a:avLst>
              <a:gd name="adj" fmla="val 1870"/>
            </a:avLst>
          </a:prstGeom>
          <a:solidFill>
            <a:schemeClr val="accent6">
              <a:hueOff val="-133706"/>
              <a:satOff val="8281"/>
              <a:lumOff val="-27269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defRPr sz="5000"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351" name="vqe_qpu_result.png" descr="vqe_qpu_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8754" y="711200"/>
            <a:ext cx="16486492" cy="12319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Shortest-path problem"/>
          <p:cNvSpPr txBox="1">
            <a:spLocks noGrp="1"/>
          </p:cNvSpPr>
          <p:nvPr>
            <p:ph type="ctrTitle"/>
          </p:nvPr>
        </p:nvSpPr>
        <p:spPr>
          <a:xfrm>
            <a:off x="666750" y="4873773"/>
            <a:ext cx="23050500" cy="1999954"/>
          </a:xfrm>
          <a:prstGeom prst="rect">
            <a:avLst/>
          </a:prstGeom>
        </p:spPr>
        <p:txBody>
          <a:bodyPr/>
          <a:lstStyle/>
          <a:p>
            <a:r>
              <a:t>Shortest-path problem</a:t>
            </a:r>
          </a:p>
        </p:txBody>
      </p:sp>
      <p:sp>
        <p:nvSpPr>
          <p:cNvPr id="354" name="OR"/>
          <p:cNvSpPr txBox="1">
            <a:spLocks noGrp="1"/>
          </p:cNvSpPr>
          <p:nvPr>
            <p:ph type="subTitle" sz="quarter" idx="1"/>
          </p:nvPr>
        </p:nvSpPr>
        <p:spPr>
          <a:xfrm>
            <a:off x="666750" y="7234911"/>
            <a:ext cx="23050500" cy="1032869"/>
          </a:xfrm>
          <a:prstGeom prst="rect">
            <a:avLst/>
          </a:prstGeom>
        </p:spPr>
        <p:txBody>
          <a:bodyPr/>
          <a:lstStyle/>
          <a:p>
            <a:r>
              <a:t>OR</a:t>
            </a:r>
          </a:p>
        </p:txBody>
      </p:sp>
      <p:sp>
        <p:nvSpPr>
          <p:cNvPr id="355" name="How to get from Moscow to Florianópolis?"/>
          <p:cNvSpPr txBox="1"/>
          <p:nvPr/>
        </p:nvSpPr>
        <p:spPr>
          <a:xfrm>
            <a:off x="666750" y="8628964"/>
            <a:ext cx="23050500" cy="1816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5200"/>
            </a:lvl1pPr>
          </a:lstStyle>
          <a:p>
            <a:r>
              <a:t>How to get from Moscow to Florianópolis?</a:t>
            </a:r>
          </a:p>
        </p:txBody>
      </p:sp>
    </p:spTree>
  </p:cSld>
  <p:clrMapOvr>
    <a:masterClrMapping/>
  </p:clrMapOvr>
  <p:transition spd="med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Rounded Rectangle"/>
          <p:cNvSpPr/>
          <p:nvPr/>
        </p:nvSpPr>
        <p:spPr>
          <a:xfrm>
            <a:off x="221541" y="278763"/>
            <a:ext cx="23940918" cy="13158474"/>
          </a:xfrm>
          <a:prstGeom prst="roundRect">
            <a:avLst>
              <a:gd name="adj" fmla="val 1870"/>
            </a:avLst>
          </a:prstGeom>
          <a:solidFill>
            <a:schemeClr val="accent6">
              <a:hueOff val="-133706"/>
              <a:satOff val="8281"/>
              <a:lumOff val="-27269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defRPr sz="5000"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358" name="nodes.png" descr="nodes.png"/>
          <p:cNvPicPr>
            <a:picLocks noChangeAspect="1"/>
          </p:cNvPicPr>
          <p:nvPr/>
        </p:nvPicPr>
        <p:blipFill>
          <a:blip r:embed="rId2"/>
          <a:srcRect l="5761" t="6146" r="4394" b="2713"/>
          <a:stretch>
            <a:fillRect/>
          </a:stretch>
        </p:blipFill>
        <p:spPr>
          <a:xfrm>
            <a:off x="581818" y="1700609"/>
            <a:ext cx="23220416" cy="11483273"/>
          </a:xfrm>
          <a:prstGeom prst="rect">
            <a:avLst/>
          </a:prstGeom>
          <a:ln w="12700">
            <a:miter lim="400000"/>
          </a:ln>
        </p:spPr>
      </p:pic>
      <p:sp>
        <p:nvSpPr>
          <p:cNvPr id="359" name="0. Problem Definition"/>
          <p:cNvSpPr txBox="1">
            <a:spLocks noGrp="1"/>
          </p:cNvSpPr>
          <p:nvPr>
            <p:ph type="title" idx="4294967295"/>
          </p:nvPr>
        </p:nvSpPr>
        <p:spPr>
          <a:xfrm>
            <a:off x="673100" y="355600"/>
            <a:ext cx="23050500" cy="1332409"/>
          </a:xfrm>
          <a:prstGeom prst="rect">
            <a:avLst/>
          </a:prstGeom>
        </p:spPr>
        <p:txBody>
          <a:bodyPr/>
          <a:lstStyle>
            <a:lvl1pPr defTabSz="709930">
              <a:defRPr sz="8600">
                <a:solidFill>
                  <a:srgbClr val="FFFFFF"/>
                </a:solidFill>
              </a:defRPr>
            </a:lvl1pPr>
          </a:lstStyle>
          <a:p>
            <a:r>
              <a:t>0. Problem Definition</a:t>
            </a:r>
          </a:p>
        </p:txBody>
      </p:sp>
    </p:spTree>
  </p:cSld>
  <p:clrMapOvr>
    <a:masterClrMapping/>
  </p:clrMapOvr>
  <p:transition spd="med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Search Spac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Search Space</a:t>
            </a:r>
          </a:p>
        </p:txBody>
      </p:sp>
      <p:sp>
        <p:nvSpPr>
          <p:cNvPr id="362" name="10 flights → 10 binary variables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1833033" indent="-1693333">
              <a:buClr>
                <a:srgbClr val="535353"/>
              </a:buClr>
              <a:buFont typeface="Times Roman"/>
            </a:pPr>
            <a:r>
              <a:t>10 flights → 10 binary variables</a:t>
            </a:r>
          </a:p>
          <a:p>
            <a:pPr marL="1833033" indent="-1693333">
              <a:buClr>
                <a:srgbClr val="535353"/>
              </a:buClr>
              <a:buFont typeface="Times Roman"/>
            </a:pPr>
            <a:r>
              <a:t>2¹⁰ = 1,024 possible combinations</a:t>
            </a:r>
          </a:p>
          <a:p>
            <a:pPr marL="1833033" indent="-1693333">
              <a:buClr>
                <a:srgbClr val="535353"/>
              </a:buClr>
              <a:buFont typeface="Times Roman"/>
            </a:pPr>
            <a:r>
              <a:t>Only 4 valid routes - [ We don’t know this! :-) ]</a:t>
            </a:r>
          </a:p>
        </p:txBody>
      </p:sp>
    </p:spTree>
  </p:cSld>
  <p:clrMapOvr>
    <a:masterClrMapping/>
  </p:clrMapOvr>
  <p:transition spd="med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Rounded Rectangle"/>
          <p:cNvSpPr/>
          <p:nvPr/>
        </p:nvSpPr>
        <p:spPr>
          <a:xfrm>
            <a:off x="221541" y="278763"/>
            <a:ext cx="23940918" cy="13158474"/>
          </a:xfrm>
          <a:prstGeom prst="roundRect">
            <a:avLst>
              <a:gd name="adj" fmla="val 1870"/>
            </a:avLst>
          </a:prstGeom>
          <a:solidFill>
            <a:schemeClr val="accent6">
              <a:hueOff val="-133706"/>
              <a:satOff val="8281"/>
              <a:lumOff val="-27269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defRPr sz="5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65" name="1. Math Formulation"/>
          <p:cNvSpPr txBox="1">
            <a:spLocks noGrp="1"/>
          </p:cNvSpPr>
          <p:nvPr>
            <p:ph type="title" idx="4294967295"/>
          </p:nvPr>
        </p:nvSpPr>
        <p:spPr>
          <a:xfrm>
            <a:off x="673100" y="355600"/>
            <a:ext cx="23050500" cy="1332409"/>
          </a:xfrm>
          <a:prstGeom prst="rect">
            <a:avLst/>
          </a:prstGeom>
        </p:spPr>
        <p:txBody>
          <a:bodyPr/>
          <a:lstStyle>
            <a:lvl1pPr defTabSz="709930">
              <a:defRPr sz="8600">
                <a:solidFill>
                  <a:srgbClr val="FFFFFF"/>
                </a:solidFill>
              </a:defRPr>
            </a:lvl1pPr>
          </a:lstStyle>
          <a:p>
            <a:r>
              <a:t>1. Math Formulation</a:t>
            </a:r>
          </a:p>
        </p:txBody>
      </p:sp>
      <p:pic>
        <p:nvPicPr>
          <p:cNvPr id="366" name="pasted-movie.png" descr="pasted-mov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938" y="2311399"/>
            <a:ext cx="15406276" cy="10270851"/>
          </a:xfrm>
          <a:prstGeom prst="rect">
            <a:avLst/>
          </a:prstGeom>
          <a:ln w="12700">
            <a:miter lim="400000"/>
          </a:ln>
        </p:spPr>
      </p:pic>
      <p:graphicFrame>
        <p:nvGraphicFramePr>
          <p:cNvPr id="367" name="Table 1"/>
          <p:cNvGraphicFramePr/>
          <p:nvPr/>
        </p:nvGraphicFramePr>
        <p:xfrm>
          <a:off x="16725899" y="2330915"/>
          <a:ext cx="7136009" cy="10270843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2970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29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660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33713">
                <a:tc>
                  <a:txBody>
                    <a:bodyPr/>
                    <a:lstStyle/>
                    <a:p>
                      <a:pPr defTabSz="457200">
                        <a:spcBef>
                          <a:spcPts val="1200"/>
                        </a:spcBef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5000" b="1">
                          <a:solidFill>
                            <a:srgbClr val="FFFFFF"/>
                          </a:solidFill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Bit</a:t>
                      </a:r>
                    </a:p>
                  </a:txBody>
                  <a:tcPr marL="12700" marR="12700" marT="12700" marB="12700" anchor="ctr" horzOverflow="overflow"/>
                </a:tc>
                <a:tc>
                  <a:txBody>
                    <a:bodyPr/>
                    <a:lstStyle/>
                    <a:p>
                      <a:pPr defTabSz="457200">
                        <a:spcBef>
                          <a:spcPts val="1200"/>
                        </a:spcBef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5000" b="1">
                          <a:solidFill>
                            <a:srgbClr val="FFFFFF"/>
                          </a:solidFill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Flight</a:t>
                      </a:r>
                    </a:p>
                  </a:txBody>
                  <a:tcPr marL="12700" marR="12700" marT="12700" marB="12700" anchor="ctr" horzOverflow="overflow"/>
                </a:tc>
                <a:tc>
                  <a:txBody>
                    <a:bodyPr/>
                    <a:lstStyle/>
                    <a:p>
                      <a:pPr defTabSz="457200">
                        <a:spcBef>
                          <a:spcPts val="1200"/>
                        </a:spcBef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5000" b="1">
                          <a:solidFill>
                            <a:srgbClr val="FFFFFF"/>
                          </a:solidFill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Cost</a:t>
                      </a:r>
                    </a:p>
                  </a:txBody>
                  <a:tcPr marL="12700" marR="12700" marT="12700" marB="12700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3713">
                <a:tc>
                  <a:txBody>
                    <a:bodyPr/>
                    <a:lstStyle/>
                    <a:p>
                      <a:pPr defTabSz="457200">
                        <a:spcBef>
                          <a:spcPts val="1200"/>
                        </a:spcBef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4500">
                          <a:solidFill>
                            <a:srgbClr val="FFFFFF"/>
                          </a:solidFill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x0</a:t>
                      </a:r>
                    </a:p>
                  </a:txBody>
                  <a:tcPr marL="12700" marR="12700" marT="12700" marB="12700" anchor="ctr" horzOverflow="overflow"/>
                </a:tc>
                <a:tc>
                  <a:txBody>
                    <a:bodyPr/>
                    <a:lstStyle/>
                    <a:p>
                      <a:pPr defTabSz="457200">
                        <a:spcBef>
                          <a:spcPts val="1200"/>
                        </a:spcBef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3500">
                          <a:solidFill>
                            <a:srgbClr val="FFFFFF"/>
                          </a:solidFill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Moscow → Baku</a:t>
                      </a:r>
                    </a:p>
                  </a:txBody>
                  <a:tcPr marL="12700" marR="12700" marT="12700" marB="12700" anchor="ctr" horzOverflow="overflow"/>
                </a:tc>
                <a:tc>
                  <a:txBody>
                    <a:bodyPr/>
                    <a:lstStyle/>
                    <a:p>
                      <a:pPr defTabSz="457200">
                        <a:spcBef>
                          <a:spcPts val="1200"/>
                        </a:spcBef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4500">
                          <a:solidFill>
                            <a:srgbClr val="FFFFFF"/>
                          </a:solidFill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4</a:t>
                      </a:r>
                    </a:p>
                  </a:txBody>
                  <a:tcPr marL="12700" marR="12700" marT="12700" marB="12700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3713">
                <a:tc>
                  <a:txBody>
                    <a:bodyPr/>
                    <a:lstStyle/>
                    <a:p>
                      <a:pPr defTabSz="457200">
                        <a:spcBef>
                          <a:spcPts val="1200"/>
                        </a:spcBef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4500">
                          <a:solidFill>
                            <a:srgbClr val="FFFFFF"/>
                          </a:solidFill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x1</a:t>
                      </a:r>
                    </a:p>
                  </a:txBody>
                  <a:tcPr marL="12700" marR="12700" marT="12700" marB="12700" anchor="ctr" horzOverflow="overflow"/>
                </a:tc>
                <a:tc>
                  <a:txBody>
                    <a:bodyPr/>
                    <a:lstStyle/>
                    <a:p>
                      <a:pPr defTabSz="457200">
                        <a:spcBef>
                          <a:spcPts val="1200"/>
                        </a:spcBef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3500">
                          <a:solidFill>
                            <a:srgbClr val="FFFFFF"/>
                          </a:solidFill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Moscow → Istanbul</a:t>
                      </a:r>
                    </a:p>
                  </a:txBody>
                  <a:tcPr marL="12700" marR="12700" marT="12700" marB="12700" anchor="ctr" horzOverflow="overflow"/>
                </a:tc>
                <a:tc>
                  <a:txBody>
                    <a:bodyPr/>
                    <a:lstStyle/>
                    <a:p>
                      <a:pPr defTabSz="457200">
                        <a:spcBef>
                          <a:spcPts val="1200"/>
                        </a:spcBef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4500">
                          <a:solidFill>
                            <a:srgbClr val="FFFFFF"/>
                          </a:solidFill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2</a:t>
                      </a:r>
                    </a:p>
                  </a:txBody>
                  <a:tcPr marL="12700" marR="12700" marT="12700" marB="12700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3713">
                <a:tc>
                  <a:txBody>
                    <a:bodyPr/>
                    <a:lstStyle/>
                    <a:p>
                      <a:pPr defTabSz="457200">
                        <a:spcBef>
                          <a:spcPts val="1200"/>
                        </a:spcBef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4500">
                          <a:solidFill>
                            <a:srgbClr val="FFFFFF"/>
                          </a:solidFill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x2</a:t>
                      </a:r>
                    </a:p>
                  </a:txBody>
                  <a:tcPr marL="12700" marR="12700" marT="12700" marB="12700" anchor="ctr" horzOverflow="overflow"/>
                </a:tc>
                <a:tc>
                  <a:txBody>
                    <a:bodyPr/>
                    <a:lstStyle/>
                    <a:p>
                      <a:pPr defTabSz="457200">
                        <a:spcBef>
                          <a:spcPts val="1200"/>
                        </a:spcBef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3500">
                          <a:solidFill>
                            <a:srgbClr val="FFFFFF"/>
                          </a:solidFill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Baku → Doha</a:t>
                      </a:r>
                    </a:p>
                  </a:txBody>
                  <a:tcPr marL="12700" marR="12700" marT="12700" marB="12700" anchor="ctr" horzOverflow="overflow"/>
                </a:tc>
                <a:tc>
                  <a:txBody>
                    <a:bodyPr/>
                    <a:lstStyle/>
                    <a:p>
                      <a:pPr defTabSz="457200">
                        <a:spcBef>
                          <a:spcPts val="1200"/>
                        </a:spcBef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4500">
                          <a:solidFill>
                            <a:srgbClr val="FFFFFF"/>
                          </a:solidFill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2</a:t>
                      </a:r>
                    </a:p>
                  </a:txBody>
                  <a:tcPr marL="12700" marR="12700" marT="12700" marB="12700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33713">
                <a:tc>
                  <a:txBody>
                    <a:bodyPr/>
                    <a:lstStyle/>
                    <a:p>
                      <a:pPr defTabSz="457200">
                        <a:spcBef>
                          <a:spcPts val="1200"/>
                        </a:spcBef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4500">
                          <a:solidFill>
                            <a:srgbClr val="FFFFFF"/>
                          </a:solidFill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x3</a:t>
                      </a:r>
                    </a:p>
                  </a:txBody>
                  <a:tcPr marL="12700" marR="12700" marT="12700" marB="12700" anchor="ctr" horzOverflow="overflow"/>
                </a:tc>
                <a:tc>
                  <a:txBody>
                    <a:bodyPr/>
                    <a:lstStyle/>
                    <a:p>
                      <a:pPr defTabSz="457200">
                        <a:spcBef>
                          <a:spcPts val="1200"/>
                        </a:spcBef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3500">
                          <a:solidFill>
                            <a:srgbClr val="FFFFFF"/>
                          </a:solidFill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Baku → Marakeş</a:t>
                      </a:r>
                    </a:p>
                  </a:txBody>
                  <a:tcPr marL="12700" marR="12700" marT="12700" marB="12700" anchor="ctr" horzOverflow="overflow"/>
                </a:tc>
                <a:tc>
                  <a:txBody>
                    <a:bodyPr/>
                    <a:lstStyle/>
                    <a:p>
                      <a:pPr defTabSz="457200">
                        <a:spcBef>
                          <a:spcPts val="1200"/>
                        </a:spcBef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4500">
                          <a:solidFill>
                            <a:srgbClr val="FFFFFF"/>
                          </a:solidFill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4</a:t>
                      </a:r>
                    </a:p>
                  </a:txBody>
                  <a:tcPr marL="12700" marR="12700" marT="12700" marB="12700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33713">
                <a:tc>
                  <a:txBody>
                    <a:bodyPr/>
                    <a:lstStyle/>
                    <a:p>
                      <a:pPr defTabSz="457200">
                        <a:spcBef>
                          <a:spcPts val="1200"/>
                        </a:spcBef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4500">
                          <a:solidFill>
                            <a:srgbClr val="FFFFFF"/>
                          </a:solidFill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x4</a:t>
                      </a:r>
                    </a:p>
                  </a:txBody>
                  <a:tcPr marL="12700" marR="12700" marT="12700" marB="12700" anchor="ctr" horzOverflow="overflow"/>
                </a:tc>
                <a:tc>
                  <a:txBody>
                    <a:bodyPr/>
                    <a:lstStyle/>
                    <a:p>
                      <a:pPr defTabSz="457200">
                        <a:spcBef>
                          <a:spcPts val="1200"/>
                        </a:spcBef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3500">
                          <a:solidFill>
                            <a:srgbClr val="FFFFFF"/>
                          </a:solidFill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Istanbul → São Paulo</a:t>
                      </a:r>
                    </a:p>
                  </a:txBody>
                  <a:tcPr marL="12700" marR="12700" marT="12700" marB="12700" anchor="ctr" horzOverflow="overflow"/>
                </a:tc>
                <a:tc>
                  <a:txBody>
                    <a:bodyPr/>
                    <a:lstStyle/>
                    <a:p>
                      <a:pPr defTabSz="457200">
                        <a:spcBef>
                          <a:spcPts val="1200"/>
                        </a:spcBef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4500">
                          <a:solidFill>
                            <a:srgbClr val="FFFFFF"/>
                          </a:solidFill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10</a:t>
                      </a:r>
                    </a:p>
                  </a:txBody>
                  <a:tcPr marL="12700" marR="12700" marT="12700" marB="12700" anchor="ctr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33713">
                <a:tc>
                  <a:txBody>
                    <a:bodyPr/>
                    <a:lstStyle/>
                    <a:p>
                      <a:pPr defTabSz="457200">
                        <a:spcBef>
                          <a:spcPts val="1200"/>
                        </a:spcBef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4500">
                          <a:solidFill>
                            <a:srgbClr val="FFFFFF"/>
                          </a:solidFill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x5</a:t>
                      </a:r>
                    </a:p>
                  </a:txBody>
                  <a:tcPr marL="12700" marR="12700" marT="12700" marB="12700" anchor="ctr" horzOverflow="overflow"/>
                </a:tc>
                <a:tc>
                  <a:txBody>
                    <a:bodyPr/>
                    <a:lstStyle/>
                    <a:p>
                      <a:pPr defTabSz="457200">
                        <a:spcBef>
                          <a:spcPts val="1200"/>
                        </a:spcBef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3500">
                          <a:solidFill>
                            <a:srgbClr val="FFFFFF"/>
                          </a:solidFill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Doha → São Paulo</a:t>
                      </a:r>
                    </a:p>
                  </a:txBody>
                  <a:tcPr marL="12700" marR="12700" marT="12700" marB="12700" anchor="ctr" horzOverflow="overflow"/>
                </a:tc>
                <a:tc>
                  <a:txBody>
                    <a:bodyPr/>
                    <a:lstStyle/>
                    <a:p>
                      <a:pPr defTabSz="457200">
                        <a:spcBef>
                          <a:spcPts val="1200"/>
                        </a:spcBef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4500">
                          <a:solidFill>
                            <a:srgbClr val="FFFFFF"/>
                          </a:solidFill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5</a:t>
                      </a:r>
                    </a:p>
                  </a:txBody>
                  <a:tcPr marL="12700" marR="12700" marT="12700" marB="12700" anchor="ctr"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933713">
                <a:tc>
                  <a:txBody>
                    <a:bodyPr/>
                    <a:lstStyle/>
                    <a:p>
                      <a:pPr defTabSz="457200">
                        <a:spcBef>
                          <a:spcPts val="1200"/>
                        </a:spcBef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4500">
                          <a:solidFill>
                            <a:srgbClr val="FFFFFF"/>
                          </a:solidFill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x6</a:t>
                      </a:r>
                    </a:p>
                  </a:txBody>
                  <a:tcPr marL="12700" marR="12700" marT="12700" marB="12700" anchor="ctr" horzOverflow="overflow"/>
                </a:tc>
                <a:tc>
                  <a:txBody>
                    <a:bodyPr/>
                    <a:lstStyle/>
                    <a:p>
                      <a:pPr defTabSz="457200">
                        <a:spcBef>
                          <a:spcPts val="1200"/>
                        </a:spcBef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3500">
                          <a:solidFill>
                            <a:srgbClr val="FFFFFF"/>
                          </a:solidFill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Doha → Rio</a:t>
                      </a:r>
                    </a:p>
                  </a:txBody>
                  <a:tcPr marL="12700" marR="12700" marT="12700" marB="12700" anchor="ctr" horzOverflow="overflow"/>
                </a:tc>
                <a:tc>
                  <a:txBody>
                    <a:bodyPr/>
                    <a:lstStyle/>
                    <a:p>
                      <a:pPr defTabSz="457200">
                        <a:spcBef>
                          <a:spcPts val="1200"/>
                        </a:spcBef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4500">
                          <a:solidFill>
                            <a:srgbClr val="FFFFFF"/>
                          </a:solidFill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6</a:t>
                      </a:r>
                    </a:p>
                  </a:txBody>
                  <a:tcPr marL="12700" marR="12700" marT="12700" marB="12700" anchor="ctr" horzOverflow="overflow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933713">
                <a:tc>
                  <a:txBody>
                    <a:bodyPr/>
                    <a:lstStyle/>
                    <a:p>
                      <a:pPr defTabSz="457200">
                        <a:spcBef>
                          <a:spcPts val="1200"/>
                        </a:spcBef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4500">
                          <a:solidFill>
                            <a:srgbClr val="FFFFFF"/>
                          </a:solidFill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x7</a:t>
                      </a:r>
                    </a:p>
                  </a:txBody>
                  <a:tcPr marL="12700" marR="12700" marT="12700" marB="12700" anchor="ctr" horzOverflow="overflow"/>
                </a:tc>
                <a:tc>
                  <a:txBody>
                    <a:bodyPr/>
                    <a:lstStyle/>
                    <a:p>
                      <a:pPr defTabSz="457200">
                        <a:spcBef>
                          <a:spcPts val="1200"/>
                        </a:spcBef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900">
                          <a:solidFill>
                            <a:srgbClr val="FFFFFF"/>
                          </a:solidFill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São Paulo → Florianópolis</a:t>
                      </a:r>
                    </a:p>
                  </a:txBody>
                  <a:tcPr marL="12700" marR="12700" marT="12700" marB="12700" anchor="ctr" horzOverflow="overflow"/>
                </a:tc>
                <a:tc>
                  <a:txBody>
                    <a:bodyPr/>
                    <a:lstStyle/>
                    <a:p>
                      <a:pPr defTabSz="457200">
                        <a:spcBef>
                          <a:spcPts val="1200"/>
                        </a:spcBef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4500">
                          <a:solidFill>
                            <a:srgbClr val="FFFFFF"/>
                          </a:solidFill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1</a:t>
                      </a:r>
                    </a:p>
                  </a:txBody>
                  <a:tcPr marL="12700" marR="12700" marT="12700" marB="12700" anchor="ctr" horzOverflow="overflow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933713">
                <a:tc>
                  <a:txBody>
                    <a:bodyPr/>
                    <a:lstStyle/>
                    <a:p>
                      <a:pPr defTabSz="457200">
                        <a:spcBef>
                          <a:spcPts val="1200"/>
                        </a:spcBef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4500">
                          <a:solidFill>
                            <a:srgbClr val="FFFFFF"/>
                          </a:solidFill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x8</a:t>
                      </a:r>
                    </a:p>
                  </a:txBody>
                  <a:tcPr marL="12700" marR="12700" marT="12700" marB="12700" anchor="ctr" horzOverflow="overflow"/>
                </a:tc>
                <a:tc>
                  <a:txBody>
                    <a:bodyPr/>
                    <a:lstStyle/>
                    <a:p>
                      <a:pPr defTabSz="457200">
                        <a:spcBef>
                          <a:spcPts val="1200"/>
                        </a:spcBef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3500">
                          <a:solidFill>
                            <a:srgbClr val="FFFFFF"/>
                          </a:solidFill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Rio → Florianópolis</a:t>
                      </a:r>
                    </a:p>
                  </a:txBody>
                  <a:tcPr marL="12700" marR="12700" marT="12700" marB="12700" anchor="ctr" horzOverflow="overflow"/>
                </a:tc>
                <a:tc>
                  <a:txBody>
                    <a:bodyPr/>
                    <a:lstStyle/>
                    <a:p>
                      <a:pPr defTabSz="457200">
                        <a:spcBef>
                          <a:spcPts val="1200"/>
                        </a:spcBef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4500">
                          <a:solidFill>
                            <a:srgbClr val="FFFFFF"/>
                          </a:solidFill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2</a:t>
                      </a:r>
                    </a:p>
                  </a:txBody>
                  <a:tcPr marL="12700" marR="12700" marT="12700" marB="12700" anchor="ctr" horzOverflow="overflow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933713">
                <a:tc>
                  <a:txBody>
                    <a:bodyPr/>
                    <a:lstStyle/>
                    <a:p>
                      <a:pPr defTabSz="457200">
                        <a:spcBef>
                          <a:spcPts val="1200"/>
                        </a:spcBef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4500">
                          <a:solidFill>
                            <a:srgbClr val="FFFFFF"/>
                          </a:solidFill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x9</a:t>
                      </a:r>
                    </a:p>
                  </a:txBody>
                  <a:tcPr marL="12700" marR="12700" marT="12700" marB="12700" anchor="ctr" horzOverflow="overflow"/>
                </a:tc>
                <a:tc>
                  <a:txBody>
                    <a:bodyPr/>
                    <a:lstStyle/>
                    <a:p>
                      <a:pPr defTabSz="457200">
                        <a:spcBef>
                          <a:spcPts val="1200"/>
                        </a:spcBef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3500">
                          <a:solidFill>
                            <a:srgbClr val="FFFFFF"/>
                          </a:solidFill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Marakeş → São Paulo</a:t>
                      </a:r>
                    </a:p>
                  </a:txBody>
                  <a:tcPr marL="12700" marR="12700" marT="12700" marB="12700" anchor="ctr" horzOverflow="overflow"/>
                </a:tc>
                <a:tc>
                  <a:txBody>
                    <a:bodyPr/>
                    <a:lstStyle/>
                    <a:p>
                      <a:pPr defTabSz="457200">
                        <a:spcBef>
                          <a:spcPts val="1200"/>
                        </a:spcBef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4500">
                          <a:solidFill>
                            <a:srgbClr val="FFFFFF"/>
                          </a:solidFill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4</a:t>
                      </a:r>
                    </a:p>
                  </a:txBody>
                  <a:tcPr marL="12700" marR="12700" marT="12700" marB="12700" anchor="ctr" horzOverflow="overflow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Rounded Rectangle"/>
          <p:cNvSpPr/>
          <p:nvPr/>
        </p:nvSpPr>
        <p:spPr>
          <a:xfrm>
            <a:off x="221541" y="278763"/>
            <a:ext cx="23940918" cy="13158474"/>
          </a:xfrm>
          <a:prstGeom prst="roundRect">
            <a:avLst>
              <a:gd name="adj" fmla="val 1870"/>
            </a:avLst>
          </a:prstGeom>
          <a:solidFill>
            <a:schemeClr val="accent6">
              <a:hueOff val="-133706"/>
              <a:satOff val="8281"/>
              <a:lumOff val="-27269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defRPr sz="5000"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370" name="pasted-movie.png" descr="pasted-mov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892" y="1940453"/>
            <a:ext cx="23050501" cy="11359094"/>
          </a:xfrm>
          <a:prstGeom prst="rect">
            <a:avLst/>
          </a:prstGeom>
          <a:ln w="12700">
            <a:miter lim="400000"/>
          </a:ln>
        </p:spPr>
      </p:pic>
      <p:sp>
        <p:nvSpPr>
          <p:cNvPr id="371" name="2. To QUBO"/>
          <p:cNvSpPr txBox="1">
            <a:spLocks noGrp="1"/>
          </p:cNvSpPr>
          <p:nvPr>
            <p:ph type="title" idx="4294967295"/>
          </p:nvPr>
        </p:nvSpPr>
        <p:spPr>
          <a:xfrm>
            <a:off x="673100" y="355600"/>
            <a:ext cx="23050500" cy="1332409"/>
          </a:xfrm>
          <a:prstGeom prst="rect">
            <a:avLst/>
          </a:prstGeom>
        </p:spPr>
        <p:txBody>
          <a:bodyPr/>
          <a:lstStyle>
            <a:lvl1pPr defTabSz="709930">
              <a:defRPr sz="8600">
                <a:solidFill>
                  <a:srgbClr val="FFFFFF"/>
                </a:solidFill>
              </a:defRPr>
            </a:lvl1pPr>
          </a:lstStyle>
          <a:p>
            <a:r>
              <a:t>2. To QUBO</a:t>
            </a:r>
          </a:p>
        </p:txBody>
      </p:sp>
      <p:sp>
        <p:nvSpPr>
          <p:cNvPr id="372" name="from qiskit_optimization.converters import QuadraticProgramToQubo…"/>
          <p:cNvSpPr txBox="1"/>
          <p:nvPr/>
        </p:nvSpPr>
        <p:spPr>
          <a:xfrm>
            <a:off x="10211108" y="10426700"/>
            <a:ext cx="13317912" cy="157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0"/>
              </a:spcBef>
              <a:defRPr sz="2600">
                <a:solidFill>
                  <a:srgbClr val="F7F1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i="1">
                <a:solidFill>
                  <a:srgbClr val="FC618D"/>
                </a:solidFill>
              </a:rPr>
              <a:t>from</a:t>
            </a:r>
            <a:r>
              <a:t> qiskit_optimization</a:t>
            </a:r>
            <a:r>
              <a:rPr>
                <a:solidFill>
                  <a:srgbClr val="8B888F"/>
                </a:solidFill>
              </a:rPr>
              <a:t>.</a:t>
            </a:r>
            <a:r>
              <a:t>converters </a:t>
            </a:r>
            <a:r>
              <a:rPr i="1">
                <a:solidFill>
                  <a:srgbClr val="FC618D"/>
                </a:solidFill>
              </a:rPr>
              <a:t>import</a:t>
            </a:r>
            <a:r>
              <a:t> QuadraticProgramToQubo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3700">
                <a:solidFill>
                  <a:srgbClr val="7BD88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F7F1FF"/>
                </a:solidFill>
              </a:rPr>
              <a:t>converter </a:t>
            </a:r>
            <a:r>
              <a:rPr i="1">
                <a:solidFill>
                  <a:srgbClr val="FC618D"/>
                </a:solidFill>
              </a:rPr>
              <a:t>=</a:t>
            </a:r>
            <a:r>
              <a:rPr>
                <a:solidFill>
                  <a:srgbClr val="F7F1FF"/>
                </a:solidFill>
              </a:rPr>
              <a:t> </a:t>
            </a:r>
            <a:r>
              <a:t>QuadraticProgramToQubo</a:t>
            </a:r>
            <a:r>
              <a:rPr>
                <a:solidFill>
                  <a:srgbClr val="8B888F"/>
                </a:solidFill>
              </a:rPr>
              <a:t>(</a:t>
            </a:r>
            <a:r>
              <a:rPr i="1">
                <a:solidFill>
                  <a:srgbClr val="FD9353"/>
                </a:solidFill>
              </a:rPr>
              <a:t>penalty</a:t>
            </a:r>
            <a:r>
              <a:rPr i="1">
                <a:solidFill>
                  <a:srgbClr val="FC618D"/>
                </a:solidFill>
              </a:rPr>
              <a:t>=</a:t>
            </a:r>
            <a:r>
              <a:rPr>
                <a:solidFill>
                  <a:srgbClr val="948AE3"/>
                </a:solidFill>
              </a:rPr>
              <a:t>7</a:t>
            </a:r>
            <a:r>
              <a:rPr>
                <a:solidFill>
                  <a:srgbClr val="8B888F"/>
                </a:solidFill>
              </a:rPr>
              <a:t>)</a:t>
            </a:r>
            <a:endParaRPr>
              <a:solidFill>
                <a:srgbClr val="F7F1FF"/>
              </a:solidFill>
            </a:endParaR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3700">
                <a:solidFill>
                  <a:srgbClr val="F7F1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qubo </a:t>
            </a:r>
            <a:r>
              <a:rPr i="1">
                <a:solidFill>
                  <a:srgbClr val="FC618D"/>
                </a:solidFill>
              </a:rPr>
              <a:t>=</a:t>
            </a:r>
            <a:r>
              <a:t> converter</a:t>
            </a:r>
            <a:r>
              <a:rPr>
                <a:solidFill>
                  <a:srgbClr val="8B888F"/>
                </a:solidFill>
              </a:rPr>
              <a:t>.</a:t>
            </a:r>
            <a:r>
              <a:rPr>
                <a:solidFill>
                  <a:srgbClr val="7BD88F"/>
                </a:solidFill>
              </a:rPr>
              <a:t>convert</a:t>
            </a:r>
            <a:r>
              <a:rPr>
                <a:solidFill>
                  <a:srgbClr val="8B888F"/>
                </a:solidFill>
              </a:rPr>
              <a:t>(</a:t>
            </a:r>
            <a:r>
              <a:t>problem</a:t>
            </a:r>
            <a:r>
              <a:rPr>
                <a:solidFill>
                  <a:srgbClr val="8B888F"/>
                </a:solidFill>
              </a:rPr>
              <a:t>)</a:t>
            </a:r>
          </a:p>
        </p:txBody>
      </p:sp>
    </p:spTree>
  </p:cSld>
  <p:clrMapOvr>
    <a:masterClrMapping/>
  </p:clrMapOvr>
  <p:transition spd="med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Rounded Rectangle"/>
          <p:cNvSpPr/>
          <p:nvPr/>
        </p:nvSpPr>
        <p:spPr>
          <a:xfrm>
            <a:off x="221541" y="291463"/>
            <a:ext cx="23940918" cy="13158474"/>
          </a:xfrm>
          <a:prstGeom prst="roundRect">
            <a:avLst>
              <a:gd name="adj" fmla="val 1870"/>
            </a:avLst>
          </a:prstGeom>
          <a:solidFill>
            <a:schemeClr val="accent6">
              <a:hueOff val="-133706"/>
              <a:satOff val="8281"/>
              <a:lumOff val="-27269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defRPr sz="5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75" name="3. QAOA Init"/>
          <p:cNvSpPr txBox="1">
            <a:spLocks noGrp="1"/>
          </p:cNvSpPr>
          <p:nvPr>
            <p:ph type="title" idx="4294967295"/>
          </p:nvPr>
        </p:nvSpPr>
        <p:spPr>
          <a:xfrm>
            <a:off x="673100" y="355600"/>
            <a:ext cx="23050500" cy="1332409"/>
          </a:xfrm>
          <a:prstGeom prst="rect">
            <a:avLst/>
          </a:prstGeom>
        </p:spPr>
        <p:txBody>
          <a:bodyPr/>
          <a:lstStyle>
            <a:lvl1pPr defTabSz="709930">
              <a:defRPr sz="8600">
                <a:solidFill>
                  <a:srgbClr val="FFFFFF"/>
                </a:solidFill>
              </a:defRPr>
            </a:lvl1pPr>
          </a:lstStyle>
          <a:p>
            <a:r>
              <a:t>3. QAOA Init</a:t>
            </a:r>
          </a:p>
        </p:txBody>
      </p:sp>
      <p:sp>
        <p:nvSpPr>
          <p:cNvPr id="376" name="from qiskit.primitives import StatevectorSampler…"/>
          <p:cNvSpPr txBox="1"/>
          <p:nvPr/>
        </p:nvSpPr>
        <p:spPr>
          <a:xfrm>
            <a:off x="1009959" y="3105150"/>
            <a:ext cx="22364083" cy="7505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0"/>
              </a:spcBef>
              <a:defRPr sz="4500">
                <a:solidFill>
                  <a:srgbClr val="F7F1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i="1">
                <a:solidFill>
                  <a:srgbClr val="FC618D"/>
                </a:solidFill>
              </a:rPr>
              <a:t>from</a:t>
            </a:r>
            <a:r>
              <a:t> qiskit</a:t>
            </a:r>
            <a:r>
              <a:rPr>
                <a:solidFill>
                  <a:srgbClr val="8B888F"/>
                </a:solidFill>
              </a:rPr>
              <a:t>.</a:t>
            </a:r>
            <a:r>
              <a:t>primitives </a:t>
            </a:r>
            <a:r>
              <a:rPr i="1">
                <a:solidFill>
                  <a:srgbClr val="FC618D"/>
                </a:solidFill>
              </a:rPr>
              <a:t>import</a:t>
            </a:r>
            <a:r>
              <a:t> StatevectorSampler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4500">
                <a:solidFill>
                  <a:srgbClr val="F7F1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i="1">
                <a:solidFill>
                  <a:srgbClr val="FC618D"/>
                </a:solidFill>
              </a:rPr>
              <a:t>from</a:t>
            </a:r>
            <a:r>
              <a:t> qiskit_algorithms </a:t>
            </a:r>
            <a:r>
              <a:rPr i="1">
                <a:solidFill>
                  <a:srgbClr val="FC618D"/>
                </a:solidFill>
              </a:rPr>
              <a:t>import</a:t>
            </a:r>
            <a:r>
              <a:t> </a:t>
            </a:r>
            <a:r>
              <a:rPr>
                <a:solidFill>
                  <a:srgbClr val="948AE3"/>
                </a:solidFill>
              </a:rPr>
              <a:t>QAOA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4500">
                <a:solidFill>
                  <a:srgbClr val="F7F1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i="1">
                <a:solidFill>
                  <a:srgbClr val="FC618D"/>
                </a:solidFill>
              </a:rPr>
              <a:t>from</a:t>
            </a:r>
            <a:r>
              <a:t> qiskit_algorithms</a:t>
            </a:r>
            <a:r>
              <a:rPr>
                <a:solidFill>
                  <a:srgbClr val="8B888F"/>
                </a:solidFill>
              </a:rPr>
              <a:t>.</a:t>
            </a:r>
            <a:r>
              <a:t>optimizers </a:t>
            </a:r>
            <a:r>
              <a:rPr i="1">
                <a:solidFill>
                  <a:srgbClr val="FC618D"/>
                </a:solidFill>
              </a:rPr>
              <a:t>import</a:t>
            </a:r>
            <a:r>
              <a:t> </a:t>
            </a:r>
            <a:r>
              <a:rPr>
                <a:solidFill>
                  <a:srgbClr val="948AE3"/>
                </a:solidFill>
              </a:rPr>
              <a:t>COBYLA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4500">
                <a:solidFill>
                  <a:srgbClr val="F7F1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i="1">
                <a:solidFill>
                  <a:srgbClr val="FC618D"/>
                </a:solidFill>
              </a:rPr>
              <a:t>from</a:t>
            </a:r>
            <a:r>
              <a:t> qiskit_optimization</a:t>
            </a:r>
            <a:r>
              <a:rPr>
                <a:solidFill>
                  <a:srgbClr val="8B888F"/>
                </a:solidFill>
              </a:rPr>
              <a:t>.</a:t>
            </a:r>
            <a:r>
              <a:t>algorithms </a:t>
            </a:r>
            <a:r>
              <a:rPr i="1">
                <a:solidFill>
                  <a:srgbClr val="FC618D"/>
                </a:solidFill>
              </a:rPr>
              <a:t>import</a:t>
            </a:r>
            <a:r>
              <a:t> MinimumEigenOptimizer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4500">
                <a:solidFill>
                  <a:srgbClr val="F7F1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endParaRPr/>
          </a:p>
          <a:p>
            <a:pPr defTabSz="457200">
              <a:lnSpc>
                <a:spcPct val="100000"/>
              </a:lnSpc>
              <a:spcBef>
                <a:spcPts val="0"/>
              </a:spcBef>
              <a:defRPr sz="4500">
                <a:solidFill>
                  <a:srgbClr val="7BD88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F7F1FF"/>
                </a:solidFill>
              </a:rPr>
              <a:t>qaoa </a:t>
            </a:r>
            <a:r>
              <a:rPr i="1">
                <a:solidFill>
                  <a:srgbClr val="FC618D"/>
                </a:solidFill>
              </a:rPr>
              <a:t>=</a:t>
            </a:r>
            <a:r>
              <a:rPr>
                <a:solidFill>
                  <a:srgbClr val="F7F1FF"/>
                </a:solidFill>
              </a:rPr>
              <a:t> </a:t>
            </a:r>
            <a:r>
              <a:t>QAOA</a:t>
            </a:r>
            <a:r>
              <a:rPr>
                <a:solidFill>
                  <a:srgbClr val="8B888F"/>
                </a:solidFill>
              </a:rPr>
              <a:t>(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4500">
                <a:solidFill>
                  <a:srgbClr val="7BD88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8B888F"/>
                </a:solidFill>
              </a:rPr>
              <a:t>   </a:t>
            </a:r>
            <a:r>
              <a:rPr i="1">
                <a:solidFill>
                  <a:srgbClr val="FD9353"/>
                </a:solidFill>
              </a:rPr>
              <a:t>sampler</a:t>
            </a:r>
            <a:r>
              <a:rPr i="1">
                <a:solidFill>
                  <a:srgbClr val="FC618D"/>
                </a:solidFill>
              </a:rPr>
              <a:t>=</a:t>
            </a:r>
            <a:r>
              <a:t>StatevectorSampler</a:t>
            </a:r>
            <a:r>
              <a:rPr>
                <a:solidFill>
                  <a:srgbClr val="8B888F"/>
                </a:solidFill>
              </a:rPr>
              <a:t>(</a:t>
            </a:r>
            <a:r>
              <a:rPr i="1">
                <a:solidFill>
                  <a:srgbClr val="FD9353"/>
                </a:solidFill>
              </a:rPr>
              <a:t>default_shots</a:t>
            </a:r>
            <a:r>
              <a:rPr i="1">
                <a:solidFill>
                  <a:srgbClr val="FC618D"/>
                </a:solidFill>
              </a:rPr>
              <a:t>=</a:t>
            </a:r>
            <a:r>
              <a:rPr>
                <a:solidFill>
                  <a:srgbClr val="948AE3"/>
                </a:solidFill>
              </a:rPr>
              <a:t>1024</a:t>
            </a:r>
            <a:r>
              <a:rPr>
                <a:solidFill>
                  <a:srgbClr val="8B888F"/>
                </a:solidFill>
              </a:rPr>
              <a:t>,</a:t>
            </a:r>
            <a:r>
              <a:rPr>
                <a:solidFill>
                  <a:srgbClr val="F7F1FF"/>
                </a:solidFill>
              </a:rPr>
              <a:t> </a:t>
            </a:r>
            <a:r>
              <a:rPr i="1">
                <a:solidFill>
                  <a:srgbClr val="FD9353"/>
                </a:solidFill>
              </a:rPr>
              <a:t>seed</a:t>
            </a:r>
            <a:r>
              <a:rPr i="1">
                <a:solidFill>
                  <a:srgbClr val="FC618D"/>
                </a:solidFill>
              </a:rPr>
              <a:t>=</a:t>
            </a:r>
            <a:r>
              <a:rPr>
                <a:solidFill>
                  <a:srgbClr val="948AE3"/>
                </a:solidFill>
              </a:rPr>
              <a:t>42</a:t>
            </a:r>
            <a:r>
              <a:rPr>
                <a:solidFill>
                  <a:srgbClr val="8B888F"/>
                </a:solidFill>
              </a:rPr>
              <a:t>),</a:t>
            </a:r>
            <a:endParaRPr>
              <a:solidFill>
                <a:srgbClr val="F7F1FF"/>
              </a:solidFill>
            </a:endParaR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4500">
                <a:solidFill>
                  <a:srgbClr val="7BD88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</a:t>
            </a:r>
            <a:r>
              <a:rPr i="1">
                <a:solidFill>
                  <a:srgbClr val="FD9353"/>
                </a:solidFill>
              </a:rPr>
              <a:t>optimizer</a:t>
            </a:r>
            <a:r>
              <a:rPr i="1">
                <a:solidFill>
                  <a:srgbClr val="FC618D"/>
                </a:solidFill>
              </a:rPr>
              <a:t>=</a:t>
            </a:r>
            <a:r>
              <a:t>COBYLA</a:t>
            </a:r>
            <a:r>
              <a:rPr>
                <a:solidFill>
                  <a:srgbClr val="8B888F"/>
                </a:solidFill>
              </a:rPr>
              <a:t>(</a:t>
            </a:r>
            <a:r>
              <a:rPr i="1">
                <a:solidFill>
                  <a:srgbClr val="FD9353"/>
                </a:solidFill>
              </a:rPr>
              <a:t>maxiter</a:t>
            </a:r>
            <a:r>
              <a:rPr i="1">
                <a:solidFill>
                  <a:srgbClr val="FC618D"/>
                </a:solidFill>
              </a:rPr>
              <a:t>=</a:t>
            </a:r>
            <a:r>
              <a:rPr>
                <a:solidFill>
                  <a:srgbClr val="948AE3"/>
                </a:solidFill>
              </a:rPr>
              <a:t>100</a:t>
            </a:r>
            <a:r>
              <a:rPr>
                <a:solidFill>
                  <a:srgbClr val="8B888F"/>
                </a:solidFill>
              </a:rPr>
              <a:t>),</a:t>
            </a:r>
            <a:r>
              <a:t> 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4500">
                <a:solidFill>
                  <a:srgbClr val="7BD88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</a:t>
            </a:r>
            <a:r>
              <a:rPr i="1">
                <a:solidFill>
                  <a:srgbClr val="FD9353"/>
                </a:solidFill>
              </a:rPr>
              <a:t>reps</a:t>
            </a:r>
            <a:r>
              <a:rPr i="1">
                <a:solidFill>
                  <a:srgbClr val="FC618D"/>
                </a:solidFill>
              </a:rPr>
              <a:t>=</a:t>
            </a:r>
            <a:r>
              <a:rPr>
                <a:solidFill>
                  <a:srgbClr val="948AE3"/>
                </a:solidFill>
              </a:rPr>
              <a:t>2</a:t>
            </a:r>
            <a:r>
              <a:rPr>
                <a:solidFill>
                  <a:srgbClr val="8B888F"/>
                </a:solidFill>
              </a:rPr>
              <a:t>)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4500">
                <a:solidFill>
                  <a:srgbClr val="7BD88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endParaRPr>
              <a:solidFill>
                <a:srgbClr val="8B888F"/>
              </a:solidFill>
            </a:endParaR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4500">
                <a:solidFill>
                  <a:srgbClr val="7BD88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F7F1FF"/>
                </a:solidFill>
              </a:rPr>
              <a:t>optimyzer </a:t>
            </a:r>
            <a:r>
              <a:rPr i="1">
                <a:solidFill>
                  <a:srgbClr val="FC618D"/>
                </a:solidFill>
              </a:rPr>
              <a:t>=</a:t>
            </a:r>
            <a:r>
              <a:rPr>
                <a:solidFill>
                  <a:srgbClr val="F7F1FF"/>
                </a:solidFill>
              </a:rPr>
              <a:t> </a:t>
            </a:r>
            <a:r>
              <a:t>MinimumEigenOptimizer</a:t>
            </a:r>
            <a:r>
              <a:rPr>
                <a:solidFill>
                  <a:srgbClr val="8B888F"/>
                </a:solidFill>
              </a:rPr>
              <a:t>(</a:t>
            </a:r>
            <a:r>
              <a:rPr>
                <a:solidFill>
                  <a:srgbClr val="F7F1FF"/>
                </a:solidFill>
              </a:rPr>
              <a:t>qaoa</a:t>
            </a:r>
            <a:r>
              <a:rPr>
                <a:solidFill>
                  <a:srgbClr val="8B888F"/>
                </a:solidFill>
              </a:rPr>
              <a:t>,</a:t>
            </a:r>
            <a:r>
              <a:rPr>
                <a:solidFill>
                  <a:srgbClr val="F7F1FF"/>
                </a:solidFill>
              </a:rPr>
              <a:t> </a:t>
            </a:r>
            <a:r>
              <a:rPr i="1">
                <a:solidFill>
                  <a:srgbClr val="FD9353"/>
                </a:solidFill>
              </a:rPr>
              <a:t>converters</a:t>
            </a:r>
            <a:r>
              <a:rPr i="1">
                <a:solidFill>
                  <a:srgbClr val="FC618D"/>
                </a:solidFill>
              </a:rPr>
              <a:t>=</a:t>
            </a:r>
            <a:r>
              <a:rPr>
                <a:solidFill>
                  <a:srgbClr val="F7F1FF"/>
                </a:solidFill>
              </a:rPr>
              <a:t>converter</a:t>
            </a:r>
            <a:r>
              <a:rPr>
                <a:solidFill>
                  <a:srgbClr val="8B888F"/>
                </a:solidFill>
              </a:rPr>
              <a:t>)</a:t>
            </a:r>
          </a:p>
        </p:txBody>
      </p:sp>
    </p:spTree>
  </p:cSld>
  <p:clrMapOvr>
    <a:masterClrMapping/>
  </p:clrMapOvr>
  <p:transition spd="med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Rounded Rectangle"/>
          <p:cNvSpPr/>
          <p:nvPr/>
        </p:nvSpPr>
        <p:spPr>
          <a:xfrm>
            <a:off x="221541" y="278763"/>
            <a:ext cx="23940918" cy="13158474"/>
          </a:xfrm>
          <a:prstGeom prst="roundRect">
            <a:avLst>
              <a:gd name="adj" fmla="val 1870"/>
            </a:avLst>
          </a:prstGeom>
          <a:solidFill>
            <a:schemeClr val="accent6">
              <a:hueOff val="-133706"/>
              <a:satOff val="8281"/>
              <a:lumOff val="-27269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defRPr sz="5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79" name="4. Hybrid Optimisation"/>
          <p:cNvSpPr txBox="1">
            <a:spLocks noGrp="1"/>
          </p:cNvSpPr>
          <p:nvPr>
            <p:ph type="title" idx="4294967295"/>
          </p:nvPr>
        </p:nvSpPr>
        <p:spPr>
          <a:xfrm>
            <a:off x="673100" y="355600"/>
            <a:ext cx="23050500" cy="1332409"/>
          </a:xfrm>
          <a:prstGeom prst="rect">
            <a:avLst/>
          </a:prstGeom>
        </p:spPr>
        <p:txBody>
          <a:bodyPr/>
          <a:lstStyle>
            <a:lvl1pPr defTabSz="709930">
              <a:defRPr sz="8600">
                <a:solidFill>
                  <a:srgbClr val="FFFFFF"/>
                </a:solidFill>
              </a:defRPr>
            </a:lvl1pPr>
          </a:lstStyle>
          <a:p>
            <a:r>
              <a:t>4. Hybrid Optimisation</a:t>
            </a:r>
          </a:p>
        </p:txBody>
      </p:sp>
      <p:sp>
        <p:nvSpPr>
          <p:cNvPr id="380" name="result = optimyzer.solve(problem)"/>
          <p:cNvSpPr txBox="1"/>
          <p:nvPr/>
        </p:nvSpPr>
        <p:spPr>
          <a:xfrm>
            <a:off x="12922708" y="6515099"/>
            <a:ext cx="11644985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0"/>
              </a:spcBef>
              <a:defRPr sz="4000">
                <a:solidFill>
                  <a:srgbClr val="F7F1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result </a:t>
            </a:r>
            <a:r>
              <a:rPr i="1">
                <a:solidFill>
                  <a:srgbClr val="FC618D"/>
                </a:solidFill>
              </a:rPr>
              <a:t>=</a:t>
            </a:r>
            <a:r>
              <a:t> optimyzer</a:t>
            </a:r>
            <a:r>
              <a:rPr>
                <a:solidFill>
                  <a:srgbClr val="8B888F"/>
                </a:solidFill>
              </a:rPr>
              <a:t>.</a:t>
            </a:r>
            <a:r>
              <a:rPr>
                <a:solidFill>
                  <a:srgbClr val="7BD88F"/>
                </a:solidFill>
              </a:rPr>
              <a:t>solve</a:t>
            </a:r>
            <a:r>
              <a:rPr>
                <a:solidFill>
                  <a:srgbClr val="8B888F"/>
                </a:solidFill>
              </a:rPr>
              <a:t>(</a:t>
            </a:r>
            <a:r>
              <a:t>problem</a:t>
            </a:r>
            <a:r>
              <a:rPr>
                <a:solidFill>
                  <a:srgbClr val="8B888F"/>
                </a:solidFill>
              </a:rPr>
              <a:t>)</a:t>
            </a:r>
          </a:p>
        </p:txBody>
      </p:sp>
      <p:sp>
        <p:nvSpPr>
          <p:cNvPr id="381" name="Convert QUBO to Ising…"/>
          <p:cNvSpPr txBox="1"/>
          <p:nvPr/>
        </p:nvSpPr>
        <p:spPr>
          <a:xfrm>
            <a:off x="1121171" y="3571240"/>
            <a:ext cx="10956232" cy="87071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marL="1066800" indent="-1066800">
              <a:buSzPct val="100000"/>
              <a:buAutoNum type="arabicPeriod"/>
              <a:defRPr>
                <a:solidFill>
                  <a:srgbClr val="FFFFFF"/>
                </a:solidFill>
              </a:defRPr>
            </a:pPr>
            <a:r>
              <a:t>Convert QUBO to Ising</a:t>
            </a:r>
          </a:p>
          <a:p>
            <a:pPr marL="1066800" indent="-1066800">
              <a:buSzPct val="100000"/>
              <a:buAutoNum type="arabicPeriod"/>
              <a:defRPr>
                <a:solidFill>
                  <a:srgbClr val="FFFFFF"/>
                </a:solidFill>
              </a:defRPr>
            </a:pPr>
            <a:r>
              <a:t>Execute quantum circuits</a:t>
            </a:r>
          </a:p>
          <a:p>
            <a:pPr marL="1066800" indent="-1066800">
              <a:buSzPct val="100000"/>
              <a:buAutoNum type="arabicPeriod"/>
              <a:defRPr>
                <a:solidFill>
                  <a:srgbClr val="FFFFFF"/>
                </a:solidFill>
              </a:defRPr>
            </a:pPr>
            <a:r>
              <a:t>Measure</a:t>
            </a:r>
          </a:p>
          <a:p>
            <a:pPr marL="1066800" indent="-1066800">
              <a:buSzPct val="100000"/>
              <a:buAutoNum type="arabicPeriod"/>
              <a:defRPr>
                <a:solidFill>
                  <a:srgbClr val="FFFFFF"/>
                </a:solidFill>
              </a:defRPr>
            </a:pPr>
            <a:r>
              <a:t>Optimise with COBYLA</a:t>
            </a:r>
          </a:p>
          <a:p>
            <a:pPr marL="1066800" indent="-1066800">
              <a:buSzPct val="100000"/>
              <a:buAutoNum type="arabicPeriod"/>
              <a:defRPr>
                <a:solidFill>
                  <a:srgbClr val="FFFFFF"/>
                </a:solidFill>
              </a:defRPr>
            </a:pPr>
            <a:r>
              <a:t>Select the best solution</a:t>
            </a:r>
          </a:p>
        </p:txBody>
      </p:sp>
    </p:spTree>
  </p:cSld>
  <p:clrMapOvr>
    <a:masterClrMapping/>
  </p:clrMapOvr>
  <p:transition spd="med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Rounded Rectangle"/>
          <p:cNvSpPr/>
          <p:nvPr/>
        </p:nvSpPr>
        <p:spPr>
          <a:xfrm>
            <a:off x="221541" y="278763"/>
            <a:ext cx="23940918" cy="13158474"/>
          </a:xfrm>
          <a:prstGeom prst="roundRect">
            <a:avLst>
              <a:gd name="adj" fmla="val 1870"/>
            </a:avLst>
          </a:prstGeom>
          <a:solidFill>
            <a:schemeClr val="accent6">
              <a:hueOff val="-133706"/>
              <a:satOff val="8281"/>
              <a:lumOff val="-27269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defRPr sz="5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84" name="4. Hybrid Optimisation"/>
          <p:cNvSpPr txBox="1">
            <a:spLocks noGrp="1"/>
          </p:cNvSpPr>
          <p:nvPr>
            <p:ph type="title" idx="4294967295"/>
          </p:nvPr>
        </p:nvSpPr>
        <p:spPr>
          <a:xfrm>
            <a:off x="673100" y="355600"/>
            <a:ext cx="23050500" cy="1332409"/>
          </a:xfrm>
          <a:prstGeom prst="rect">
            <a:avLst/>
          </a:prstGeom>
        </p:spPr>
        <p:txBody>
          <a:bodyPr/>
          <a:lstStyle>
            <a:lvl1pPr defTabSz="709930">
              <a:defRPr sz="8600">
                <a:solidFill>
                  <a:srgbClr val="FFFFFF"/>
                </a:solidFill>
              </a:defRPr>
            </a:lvl1pPr>
          </a:lstStyle>
          <a:p>
            <a:r>
              <a:t>4. Hybrid Optimisation</a:t>
            </a:r>
          </a:p>
        </p:txBody>
      </p:sp>
      <p:pic>
        <p:nvPicPr>
          <p:cNvPr id="385" name="pasted-movie.png" descr="pasted-mov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9848" y="7240772"/>
            <a:ext cx="11577004" cy="5999991"/>
          </a:xfrm>
          <a:prstGeom prst="rect">
            <a:avLst/>
          </a:prstGeom>
          <a:ln w="12700">
            <a:miter lim="400000"/>
          </a:ln>
        </p:spPr>
      </p:pic>
      <p:sp>
        <p:nvSpPr>
          <p:cNvPr id="386" name="0101000101.   Moscow → Baku → Doha → Rio de Janeiro → Florianópolis; cost: 14…"/>
          <p:cNvSpPr txBox="1"/>
          <p:nvPr/>
        </p:nvSpPr>
        <p:spPr>
          <a:xfrm>
            <a:off x="3861389" y="2392403"/>
            <a:ext cx="16661222" cy="44596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lnSpc>
                <a:spcPct val="100000"/>
              </a:lnSpc>
              <a:spcBef>
                <a:spcPts val="5300"/>
              </a:spcBef>
              <a:defRPr sz="3800">
                <a:solidFill>
                  <a:srgbClr val="FFFFFF"/>
                </a:solidFill>
              </a:defRPr>
            </a:pPr>
            <a:r>
              <a:t>0101000101.   Moscow → Baku → Doha → Rio de Janeiro → Florianópolis; cost: 14</a:t>
            </a:r>
          </a:p>
          <a:p>
            <a:pPr>
              <a:lnSpc>
                <a:spcPct val="100000"/>
              </a:lnSpc>
              <a:spcBef>
                <a:spcPts val="5300"/>
              </a:spcBef>
              <a:defRPr sz="3800">
                <a:solidFill>
                  <a:srgbClr val="FFFFFF"/>
                </a:solidFill>
              </a:defRPr>
            </a:pPr>
            <a:r>
              <a:t>0010100101.   Moscow → Baku → Doha → São Paulo → Florianópolis; cost: 12</a:t>
            </a:r>
          </a:p>
          <a:p>
            <a:pPr>
              <a:lnSpc>
                <a:spcPct val="100000"/>
              </a:lnSpc>
              <a:spcBef>
                <a:spcPts val="5300"/>
              </a:spcBef>
              <a:defRPr sz="3800">
                <a:solidFill>
                  <a:srgbClr val="FFFFFF"/>
                </a:solidFill>
              </a:defRPr>
            </a:pPr>
            <a:r>
              <a:t>1010001001.   Moscow → Baku → Marakeş → São Paulo → Florianópolis; cost: 13</a:t>
            </a:r>
          </a:p>
          <a:p>
            <a:pPr>
              <a:lnSpc>
                <a:spcPct val="100000"/>
              </a:lnSpc>
              <a:spcBef>
                <a:spcPts val="5300"/>
              </a:spcBef>
              <a:defRPr sz="3800">
                <a:solidFill>
                  <a:srgbClr val="FFFFFF"/>
                </a:solidFill>
              </a:defRPr>
            </a:pPr>
            <a:r>
              <a:t>0010010010.   Moscow → Istanbul → São Paulo → Florianópolis; cost: 13</a:t>
            </a:r>
          </a:p>
        </p:txBody>
      </p:sp>
    </p:spTree>
  </p:cSld>
  <p:clrMapOvr>
    <a:masterClrMapping/>
  </p:clrMapOvr>
  <p:transition spd="med"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How to get from Moscow to Florianópolis?"/>
          <p:cNvSpPr txBox="1">
            <a:spLocks noGrp="1"/>
          </p:cNvSpPr>
          <p:nvPr>
            <p:ph type="body" idx="22"/>
          </p:nvPr>
        </p:nvSpPr>
        <p:spPr>
          <a:xfrm>
            <a:off x="2381250" y="482600"/>
            <a:ext cx="19621500" cy="1358901"/>
          </a:xfrm>
          <a:prstGeom prst="rect">
            <a:avLst/>
          </a:prstGeom>
        </p:spPr>
        <p:txBody>
          <a:bodyPr/>
          <a:lstStyle>
            <a:lvl1pPr>
              <a:defRPr sz="8700"/>
            </a:lvl1pPr>
          </a:lstStyle>
          <a:p>
            <a:r>
              <a:t>How to get from Moscow to Florianópolis?</a:t>
            </a:r>
          </a:p>
        </p:txBody>
      </p:sp>
      <p:pic>
        <p:nvPicPr>
          <p:cNvPr id="389" name="result.png" descr="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810" y="2506129"/>
            <a:ext cx="23520380" cy="1089198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Rounded Rectangle"/>
          <p:cNvSpPr/>
          <p:nvPr/>
        </p:nvSpPr>
        <p:spPr>
          <a:xfrm>
            <a:off x="254000" y="177800"/>
            <a:ext cx="23876001" cy="13360400"/>
          </a:xfrm>
          <a:prstGeom prst="roundRect">
            <a:avLst>
              <a:gd name="adj" fmla="val 1426"/>
            </a:avLst>
          </a:prstGeom>
          <a:solidFill>
            <a:schemeClr val="accent6">
              <a:hueOff val="-133706"/>
              <a:satOff val="8281"/>
              <a:lumOff val="-27269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defRPr sz="5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92" name="Quantum Leap"/>
          <p:cNvSpPr txBox="1">
            <a:spLocks noGrp="1"/>
          </p:cNvSpPr>
          <p:nvPr>
            <p:ph type="ctrTitle"/>
          </p:nvPr>
        </p:nvSpPr>
        <p:spPr>
          <a:xfrm>
            <a:off x="673100" y="35366"/>
            <a:ext cx="23050500" cy="1691780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t>Quantum Leap</a:t>
            </a:r>
          </a:p>
        </p:txBody>
      </p:sp>
      <p:sp>
        <p:nvSpPr>
          <p:cNvPr id="393" name="Building Real Quantum Programs with Python"/>
          <p:cNvSpPr txBox="1">
            <a:spLocks noGrp="1"/>
          </p:cNvSpPr>
          <p:nvPr>
            <p:ph type="subTitle" sz="quarter" idx="1"/>
          </p:nvPr>
        </p:nvSpPr>
        <p:spPr>
          <a:xfrm>
            <a:off x="673100" y="1986079"/>
            <a:ext cx="23050500" cy="1288158"/>
          </a:xfrm>
          <a:prstGeom prst="rect">
            <a:avLst/>
          </a:prstGeom>
        </p:spPr>
        <p:txBody>
          <a:bodyPr/>
          <a:lstStyle>
            <a:lvl1pPr defTabSz="610870">
              <a:defRPr sz="7400" cap="all">
                <a:solidFill>
                  <a:srgbClr val="FFFFFF"/>
                </a:solidFill>
              </a:defRPr>
            </a:lvl1pPr>
          </a:lstStyle>
          <a:p>
            <a:r>
              <a:t>Building Real Quantum Programs with Python</a:t>
            </a:r>
          </a:p>
        </p:txBody>
      </p:sp>
      <p:pic>
        <p:nvPicPr>
          <p:cNvPr id="394" name="qr.png" descr="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0800" y="5067300"/>
            <a:ext cx="6502400" cy="6502400"/>
          </a:xfrm>
          <a:prstGeom prst="rect">
            <a:avLst/>
          </a:prstGeom>
          <a:ln w="12700">
            <a:miter lim="400000"/>
          </a:ln>
        </p:spPr>
      </p:pic>
      <p:pic>
        <p:nvPicPr>
          <p:cNvPr id="395" name="qr (1).png" descr="qr (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39530" y="5067300"/>
            <a:ext cx="6502401" cy="6502400"/>
          </a:xfrm>
          <a:prstGeom prst="rect">
            <a:avLst/>
          </a:prstGeom>
          <a:ln w="12700">
            <a:miter lim="400000"/>
          </a:ln>
        </p:spPr>
      </p:pic>
      <p:pic>
        <p:nvPicPr>
          <p:cNvPr id="396" name="qr (2).png" descr="qr (2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069" y="5067300"/>
            <a:ext cx="6502401" cy="65024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Showroom">
  <a:themeElements>
    <a:clrScheme name="Showroom">
      <a:dk1>
        <a:srgbClr val="535353"/>
      </a:dk1>
      <a:lt1>
        <a:srgbClr val="340053"/>
      </a:lt1>
      <a:dk2>
        <a:srgbClr val="5A5F5E"/>
      </a:dk2>
      <a:lt2>
        <a:srgbClr val="B4B4B4"/>
      </a:lt2>
      <a:accent1>
        <a:srgbClr val="78AAB3"/>
      </a:accent1>
      <a:accent2>
        <a:srgbClr val="9A9671"/>
      </a:accent2>
      <a:accent3>
        <a:srgbClr val="D9971A"/>
      </a:accent3>
      <a:accent4>
        <a:srgbClr val="D7620E"/>
      </a:accent4>
      <a:accent5>
        <a:srgbClr val="A61702"/>
      </a:accent5>
      <a:accent6>
        <a:srgbClr val="606B7E"/>
      </a:accent6>
      <a:hlink>
        <a:srgbClr val="0000FF"/>
      </a:hlink>
      <a:folHlink>
        <a:srgbClr val="FF00FF"/>
      </a:folHlink>
    </a:clrScheme>
    <a:fontScheme name="Showroom">
      <a:majorFont>
        <a:latin typeface="Gill Sans Light"/>
        <a:ea typeface="Gill Sans Light"/>
        <a:cs typeface="Gill Sans Light"/>
      </a:majorFont>
      <a:minorFont>
        <a:latin typeface="Gill Sans Light"/>
        <a:ea typeface="Gill Sans Light"/>
        <a:cs typeface="Gill Sans Light"/>
      </a:minorFont>
    </a:fontScheme>
    <a:fmtScheme name="Showroo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808785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Gill Sans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5A5F5E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825500" rtl="0" fontAlgn="auto" latinLnBrk="0" hangingPunct="0">
          <a:lnSpc>
            <a:spcPct val="120000"/>
          </a:lnSpc>
          <a:spcBef>
            <a:spcPts val="6500"/>
          </a:spcBef>
          <a:spcAft>
            <a:spcPts val="0"/>
          </a:spcAft>
          <a:buClrTx/>
          <a:buSzTx/>
          <a:buFontTx/>
          <a:buNone/>
          <a:tabLst/>
          <a:defRPr kumimoji="0" sz="6400" b="0" i="0" u="none" strike="noStrike" cap="none" spc="0" normalizeH="0" baseline="0">
            <a:ln>
              <a:noFill/>
            </a:ln>
            <a:solidFill>
              <a:srgbClr val="535353"/>
            </a:solidFill>
            <a:effectLst/>
            <a:uFillTx/>
            <a:latin typeface="+mn-lt"/>
            <a:ea typeface="+mn-ea"/>
            <a:cs typeface="+mn-cs"/>
            <a:sym typeface="Gill Sans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Showroom">
  <a:themeElements>
    <a:clrScheme name="Showroom">
      <a:dk1>
        <a:srgbClr val="000000"/>
      </a:dk1>
      <a:lt1>
        <a:srgbClr val="FFFFFF"/>
      </a:lt1>
      <a:dk2>
        <a:srgbClr val="5A5F5E"/>
      </a:dk2>
      <a:lt2>
        <a:srgbClr val="B4B4B4"/>
      </a:lt2>
      <a:accent1>
        <a:srgbClr val="78AAB3"/>
      </a:accent1>
      <a:accent2>
        <a:srgbClr val="9A9671"/>
      </a:accent2>
      <a:accent3>
        <a:srgbClr val="D9971A"/>
      </a:accent3>
      <a:accent4>
        <a:srgbClr val="D7620E"/>
      </a:accent4>
      <a:accent5>
        <a:srgbClr val="A61702"/>
      </a:accent5>
      <a:accent6>
        <a:srgbClr val="606B7E"/>
      </a:accent6>
      <a:hlink>
        <a:srgbClr val="0000FF"/>
      </a:hlink>
      <a:folHlink>
        <a:srgbClr val="FF00FF"/>
      </a:folHlink>
    </a:clrScheme>
    <a:fontScheme name="Showroom">
      <a:majorFont>
        <a:latin typeface="Gill Sans Light"/>
        <a:ea typeface="Gill Sans Light"/>
        <a:cs typeface="Gill Sans Light"/>
      </a:majorFont>
      <a:minorFont>
        <a:latin typeface="Gill Sans Light"/>
        <a:ea typeface="Gill Sans Light"/>
        <a:cs typeface="Gill Sans Light"/>
      </a:minorFont>
    </a:fontScheme>
    <a:fmtScheme name="Showroo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808785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Gill Sans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5A5F5E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825500" rtl="0" fontAlgn="auto" latinLnBrk="0" hangingPunct="0">
          <a:lnSpc>
            <a:spcPct val="120000"/>
          </a:lnSpc>
          <a:spcBef>
            <a:spcPts val="6500"/>
          </a:spcBef>
          <a:spcAft>
            <a:spcPts val="0"/>
          </a:spcAft>
          <a:buClrTx/>
          <a:buSzTx/>
          <a:buFontTx/>
          <a:buNone/>
          <a:tabLst/>
          <a:defRPr kumimoji="0" sz="6400" b="0" i="0" u="none" strike="noStrike" cap="none" spc="0" normalizeH="0" baseline="0">
            <a:ln>
              <a:noFill/>
            </a:ln>
            <a:solidFill>
              <a:srgbClr val="535353"/>
            </a:solidFill>
            <a:effectLst/>
            <a:uFillTx/>
            <a:latin typeface="+mn-lt"/>
            <a:ea typeface="+mn-ea"/>
            <a:cs typeface="+mn-cs"/>
            <a:sym typeface="Gill Sans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1610</Words>
  <Application>Microsoft Macintosh PowerPoint</Application>
  <PresentationFormat>Custom</PresentationFormat>
  <Paragraphs>333</Paragraphs>
  <Slides>57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4" baseType="lpstr">
      <vt:lpstr>Cambria Math</vt:lpstr>
      <vt:lpstr>Gill Sans</vt:lpstr>
      <vt:lpstr>Gill Sans Light</vt:lpstr>
      <vt:lpstr>Gill Sans SemiBold</vt:lpstr>
      <vt:lpstr>Helvetica Neue</vt:lpstr>
      <vt:lpstr>Times Roman</vt:lpstr>
      <vt:lpstr>Showroom</vt:lpstr>
      <vt:lpstr>Quantum Leap</vt:lpstr>
      <vt:lpstr>Beilak Aliev</vt:lpstr>
      <vt:lpstr>history</vt:lpstr>
      <vt:lpstr>QUANTUM MILESTONES</vt:lpstr>
      <vt:lpstr>Where Can Quantum Computing Benefit Business?</vt:lpstr>
      <vt:lpstr>Benefit</vt:lpstr>
      <vt:lpstr>Quantum advantage</vt:lpstr>
      <vt:lpstr>Quantum advantage</vt:lpstr>
      <vt:lpstr>Mini-theory</vt:lpstr>
      <vt:lpstr>CLASSICAL BITS</vt:lpstr>
      <vt:lpstr>CLASSICAL LOGIC</vt:lpstr>
      <vt:lpstr>QUBITS</vt:lpstr>
      <vt:lpstr>QUANTUM CIRCUIT</vt:lpstr>
      <vt:lpstr>GATES AS MATRICES</vt:lpstr>
      <vt:lpstr>Quantum Programming Ecosystem</vt:lpstr>
      <vt:lpstr>Quantum Programming Ecosystem</vt:lpstr>
      <vt:lpstr>practice</vt:lpstr>
      <vt:lpstr>quantum hello world</vt:lpstr>
      <vt:lpstr>quantum hello world</vt:lpstr>
      <vt:lpstr>MEASURE Q hello world</vt:lpstr>
      <vt:lpstr>quantum hello world</vt:lpstr>
      <vt:lpstr>quantum hello world</vt:lpstr>
      <vt:lpstr>quantum hello world</vt:lpstr>
      <vt:lpstr>Run on real hardware</vt:lpstr>
      <vt:lpstr>Find QPU</vt:lpstr>
      <vt:lpstr>PowerPoint Presentation</vt:lpstr>
      <vt:lpstr>PowerPoint Presentation</vt:lpstr>
      <vt:lpstr>VQE</vt:lpstr>
      <vt:lpstr>Variational Quantum Eigensolver</vt:lpstr>
      <vt:lpstr>PowerPoint Presentation</vt:lpstr>
      <vt:lpstr>VQE step 1</vt:lpstr>
      <vt:lpstr>VQE step 2</vt:lpstr>
      <vt:lpstr>VQE step 3</vt:lpstr>
      <vt:lpstr>VQE step 4</vt:lpstr>
      <vt:lpstr>VQE step 5</vt:lpstr>
      <vt:lpstr>VQE step 5.1  Initialize Parameters</vt:lpstr>
      <vt:lpstr>VQE step 5.2  Prepare Quantum State</vt:lpstr>
      <vt:lpstr>VQE step 5.3  Measure</vt:lpstr>
      <vt:lpstr>VQE step 5.4 Estimate Ising Energy</vt:lpstr>
      <vt:lpstr>VQE step 5.5 Update Parameters</vt:lpstr>
      <vt:lpstr>VQE step 6</vt:lpstr>
      <vt:lpstr>VQE step 7</vt:lpstr>
      <vt:lpstr>Vqe on QPU</vt:lpstr>
      <vt:lpstr>PowerPoint Presentation</vt:lpstr>
      <vt:lpstr>PowerPoint Presentation</vt:lpstr>
      <vt:lpstr>PowerPoint Presentation</vt:lpstr>
      <vt:lpstr>PowerPoint Presentation</vt:lpstr>
      <vt:lpstr>Shortest-path problem</vt:lpstr>
      <vt:lpstr>0. Problem Definition</vt:lpstr>
      <vt:lpstr>Search Space</vt:lpstr>
      <vt:lpstr>1. Math Formulation</vt:lpstr>
      <vt:lpstr>2. To QUBO</vt:lpstr>
      <vt:lpstr>3. QAOA Init</vt:lpstr>
      <vt:lpstr>4. Hybrid Optimisation</vt:lpstr>
      <vt:lpstr>4. Hybrid Optimisation</vt:lpstr>
      <vt:lpstr>PowerPoint Presentation</vt:lpstr>
      <vt:lpstr>Quantum Leap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bnaliev</cp:lastModifiedBy>
  <cp:revision>2</cp:revision>
  <dcterms:modified xsi:type="dcterms:W3CDTF">2026-10-17T11:31:24Z</dcterms:modified>
</cp:coreProperties>
</file>