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media/image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1pPr>
    <a:lvl2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2pPr>
    <a:lvl3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3pPr>
    <a:lvl4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4pPr>
    <a:lvl5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5pPr>
    <a:lvl6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6pPr>
    <a:lvl7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7pPr>
    <a:lvl8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8pPr>
    <a:lvl9pPr marL="0" marR="0" indent="0" algn="l" defTabSz="825500" rtl="0" fontAlgn="auto" latinLnBrk="0" hangingPunct="0">
      <a:lnSpc>
        <a:spcPct val="120000"/>
      </a:lnSpc>
      <a:spcBef>
        <a:spcPts val="6500"/>
      </a:spcBef>
      <a:spcAft>
        <a:spcPts val="0"/>
      </a:spcAft>
      <a:buClrTx/>
      <a:buSzTx/>
      <a:buFontTx/>
      <a:buNone/>
      <a:tabLst/>
      <a:defRPr b="0" baseline="0" cap="none" i="0" spc="0" strike="noStrike" sz="6400" u="none" kumimoji="0" normalizeH="0">
        <a:ln>
          <a:noFill/>
        </a:ln>
        <a:solidFill>
          <a:srgbClr val="535353"/>
        </a:solidFill>
        <a:effectLst/>
        <a:uFillTx/>
        <a:latin typeface="+mn-lt"/>
        <a:ea typeface="+mn-ea"/>
        <a:cs typeface="+mn-cs"/>
        <a:sym typeface="Gill Sans Light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satOff val="1848"/>
              <a:lumOff val="-15262"/>
            </a:schemeClr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5E6E5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A5F5E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BEBEB"/>
          </a:solidFill>
        </a:fill>
      </a:tcStyle>
    </a:band2H>
    <a:firstCol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E5E6E5"/>
          </a:solidFill>
        </a:fill>
      </a:tcStyle>
    </a:firstCol>
    <a:lastRow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lastRow>
    <a:firstRow>
      <a:tcTxStyle b="off" i="off">
        <a:fontRef idx="minor">
          <a:srgbClr val="5A5F5E"/>
        </a:fontRef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5A5F5E"/>
              </a:solidFill>
              <a:prstDash val="solid"/>
              <a:miter lim="400000"/>
            </a:ln>
          </a:right>
          <a:top>
            <a:ln w="12700" cap="flat">
              <a:solidFill>
                <a:srgbClr val="C8C8C8"/>
              </a:solidFill>
              <a:prstDash val="solid"/>
              <a:miter lim="400000"/>
            </a:ln>
          </a:top>
          <a:bottom>
            <a:ln w="12700" cap="flat">
              <a:solidFill>
                <a:srgbClr val="C8C8C8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5A5F5E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5" name="Shape 13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73100" y="2870200"/>
            <a:ext cx="23050500" cy="45593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673100" y="7416800"/>
            <a:ext cx="23050500" cy="18161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</a:lvl1pPr>
            <a:lvl2pPr marL="0" indent="0" algn="ctr">
              <a:spcBef>
                <a:spcPts val="0"/>
              </a:spcBef>
              <a:buSzTx/>
              <a:buNone/>
            </a:lvl2pPr>
            <a:lvl3pPr marL="0" indent="0" algn="ctr">
              <a:spcBef>
                <a:spcPts val="0"/>
              </a:spcBef>
              <a:buSzTx/>
              <a:buNone/>
            </a:lvl3pPr>
            <a:lvl4pPr marL="0" indent="0" algn="ctr">
              <a:spcBef>
                <a:spcPts val="0"/>
              </a:spcBef>
              <a:buSzTx/>
              <a:buNone/>
            </a:lvl4pPr>
            <a:lvl5pPr marL="0" indent="0" algn="ctr">
              <a:spcBef>
                <a:spcPts val="0"/>
              </a:spcBef>
              <a:buSzTx/>
              <a:buNone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rofile view of a red Ducati motorcycle"/>
          <p:cNvSpPr/>
          <p:nvPr>
            <p:ph type="pic" idx="21"/>
          </p:nvPr>
        </p:nvSpPr>
        <p:spPr>
          <a:xfrm>
            <a:off x="4280774" y="-1688429"/>
            <a:ext cx="15829857" cy="1184910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387600" y="9728200"/>
            <a:ext cx="19621500" cy="18034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quarter" idx="1"/>
          </p:nvPr>
        </p:nvSpPr>
        <p:spPr>
          <a:xfrm>
            <a:off x="2387600" y="11518900"/>
            <a:ext cx="19621500" cy="16002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</a:lvl1pPr>
            <a:lvl2pPr marL="0" indent="0" algn="ctr">
              <a:spcBef>
                <a:spcPts val="0"/>
              </a:spcBef>
              <a:buSzTx/>
              <a:buNone/>
            </a:lvl2pPr>
            <a:lvl3pPr marL="0" indent="0" algn="ctr">
              <a:spcBef>
                <a:spcPts val="0"/>
              </a:spcBef>
              <a:buSzTx/>
              <a:buNone/>
            </a:lvl3pPr>
            <a:lvl4pPr marL="0" indent="0" algn="ctr">
              <a:spcBef>
                <a:spcPts val="0"/>
              </a:spcBef>
              <a:buSzTx/>
              <a:buNone/>
            </a:lvl4pPr>
            <a:lvl5pPr marL="0" indent="0" algn="ctr">
              <a:spcBef>
                <a:spcPts val="0"/>
              </a:spcBef>
              <a:buSzTx/>
              <a:buNone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xfrm>
            <a:off x="673100" y="4572000"/>
            <a:ext cx="23050500" cy="455930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Front view of a red Ducati motorcycle"/>
          <p:cNvSpPr/>
          <p:nvPr>
            <p:ph type="pic" idx="21"/>
          </p:nvPr>
        </p:nvSpPr>
        <p:spPr>
          <a:xfrm>
            <a:off x="10590462" y="1511300"/>
            <a:ext cx="13644824" cy="1212873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39" name="Title Text"/>
          <p:cNvSpPr txBox="1"/>
          <p:nvPr>
            <p:ph type="title"/>
          </p:nvPr>
        </p:nvSpPr>
        <p:spPr>
          <a:xfrm>
            <a:off x="673100" y="1435100"/>
            <a:ext cx="11049000" cy="5461000"/>
          </a:xfrm>
          <a:prstGeom prst="rect">
            <a:avLst/>
          </a:prstGeom>
        </p:spPr>
        <p:txBody>
          <a:bodyPr anchor="b"/>
          <a:lstStyle/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quarter" idx="1"/>
          </p:nvPr>
        </p:nvSpPr>
        <p:spPr>
          <a:xfrm>
            <a:off x="673100" y="6870700"/>
            <a:ext cx="11049000" cy="54610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</a:lvl1pPr>
            <a:lvl2pPr marL="0" indent="0" algn="ctr">
              <a:spcBef>
                <a:spcPts val="0"/>
              </a:spcBef>
              <a:buSzTx/>
              <a:buNone/>
            </a:lvl2pPr>
            <a:lvl3pPr marL="0" indent="0" algn="ctr">
              <a:spcBef>
                <a:spcPts val="0"/>
              </a:spcBef>
              <a:buSzTx/>
              <a:buNone/>
            </a:lvl3pPr>
            <a:lvl4pPr marL="0" indent="0" algn="ctr">
              <a:spcBef>
                <a:spcPts val="0"/>
              </a:spcBef>
              <a:buSzTx/>
              <a:buNone/>
            </a:lvl4pPr>
            <a:lvl5pPr marL="0" indent="0" algn="ctr">
              <a:spcBef>
                <a:spcPts val="0"/>
              </a:spcBef>
              <a:buSzTx/>
              <a:buNone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7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736600" indent="-736600">
              <a:lnSpc>
                <a:spcPct val="120000"/>
              </a:lnSpc>
              <a:spcBef>
                <a:spcPts val="6500"/>
              </a:spcBef>
              <a:defRPr sz="6400"/>
            </a:lvl1pPr>
            <a:lvl2pPr marL="1473200" indent="-736600">
              <a:lnSpc>
                <a:spcPct val="120000"/>
              </a:lnSpc>
              <a:spcBef>
                <a:spcPts val="6500"/>
              </a:spcBef>
              <a:defRPr sz="6400"/>
            </a:lvl2pPr>
            <a:lvl3pPr marL="2209800" indent="-736600">
              <a:lnSpc>
                <a:spcPct val="120000"/>
              </a:lnSpc>
              <a:spcBef>
                <a:spcPts val="6500"/>
              </a:spcBef>
              <a:defRPr sz="6400"/>
            </a:lvl3pPr>
            <a:lvl4pPr marL="2946400" indent="-736600">
              <a:lnSpc>
                <a:spcPct val="120000"/>
              </a:lnSpc>
              <a:spcBef>
                <a:spcPts val="6500"/>
              </a:spcBef>
              <a:defRPr sz="6400"/>
            </a:lvl4pPr>
            <a:lvl5pPr marL="3683000" indent="-736600">
              <a:lnSpc>
                <a:spcPct val="120000"/>
              </a:lnSpc>
              <a:spcBef>
                <a:spcPts val="6500"/>
              </a:spcBef>
              <a:defRPr sz="6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ront view of a red Ducati motorcycle"/>
          <p:cNvSpPr/>
          <p:nvPr>
            <p:ph type="pic" sz="half" idx="21"/>
          </p:nvPr>
        </p:nvSpPr>
        <p:spPr>
          <a:xfrm>
            <a:off x="11814854" y="3233783"/>
            <a:ext cx="11753235" cy="10447317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6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67" name="Body Level One…"/>
          <p:cNvSpPr txBox="1"/>
          <p:nvPr>
            <p:ph type="body" sz="half" idx="1"/>
          </p:nvPr>
        </p:nvSpPr>
        <p:spPr>
          <a:xfrm>
            <a:off x="673100" y="3835400"/>
            <a:ext cx="11049000" cy="88646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6" name="Body Level One…"/>
          <p:cNvSpPr txBox="1"/>
          <p:nvPr>
            <p:ph type="body" sz="half" idx="1"/>
          </p:nvPr>
        </p:nvSpPr>
        <p:spPr>
          <a:xfrm>
            <a:off x="673100" y="3835400"/>
            <a:ext cx="11049000" cy="88646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85" name="Body Level One…"/>
          <p:cNvSpPr txBox="1"/>
          <p:nvPr>
            <p:ph type="body" sz="half" idx="1"/>
          </p:nvPr>
        </p:nvSpPr>
        <p:spPr>
          <a:xfrm>
            <a:off x="673100" y="3835400"/>
            <a:ext cx="11049000" cy="88646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Body Level One…"/>
          <p:cNvSpPr txBox="1"/>
          <p:nvPr>
            <p:ph type="body" idx="1"/>
          </p:nvPr>
        </p:nvSpPr>
        <p:spPr>
          <a:xfrm>
            <a:off x="1435100" y="1066800"/>
            <a:ext cx="21501100" cy="11557000"/>
          </a:xfrm>
          <a:prstGeom prst="rect">
            <a:avLst/>
          </a:prstGeom>
        </p:spPr>
        <p:txBody>
          <a:bodyPr/>
          <a:lstStyle>
            <a:lvl1pPr marL="736600" indent="-736600">
              <a:lnSpc>
                <a:spcPct val="120000"/>
              </a:lnSpc>
              <a:spcBef>
                <a:spcPts val="6500"/>
              </a:spcBef>
              <a:defRPr sz="6400"/>
            </a:lvl1pPr>
            <a:lvl2pPr marL="1473200" indent="-736600">
              <a:lnSpc>
                <a:spcPct val="120000"/>
              </a:lnSpc>
              <a:spcBef>
                <a:spcPts val="6500"/>
              </a:spcBef>
              <a:defRPr sz="6400"/>
            </a:lvl2pPr>
            <a:lvl3pPr marL="2209800" indent="-736600">
              <a:lnSpc>
                <a:spcPct val="120000"/>
              </a:lnSpc>
              <a:spcBef>
                <a:spcPts val="6500"/>
              </a:spcBef>
              <a:defRPr sz="6400"/>
            </a:lvl3pPr>
            <a:lvl4pPr marL="2946400" indent="-736600">
              <a:lnSpc>
                <a:spcPct val="120000"/>
              </a:lnSpc>
              <a:spcBef>
                <a:spcPts val="6500"/>
              </a:spcBef>
              <a:defRPr sz="6400"/>
            </a:lvl4pPr>
            <a:lvl5pPr marL="3683000" indent="-736600">
              <a:lnSpc>
                <a:spcPct val="120000"/>
              </a:lnSpc>
              <a:spcBef>
                <a:spcPts val="6500"/>
              </a:spcBef>
              <a:defRPr sz="6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lose-up of Ducati motorcycle engine components"/>
          <p:cNvSpPr/>
          <p:nvPr>
            <p:ph type="pic" sz="half" idx="21"/>
          </p:nvPr>
        </p:nvSpPr>
        <p:spPr>
          <a:xfrm>
            <a:off x="12420509" y="5714207"/>
            <a:ext cx="11023601" cy="825500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2" name="Close-up of a Ducati motorcycle petrol cap"/>
          <p:cNvSpPr/>
          <p:nvPr>
            <p:ph type="pic" sz="half" idx="22"/>
          </p:nvPr>
        </p:nvSpPr>
        <p:spPr>
          <a:xfrm>
            <a:off x="12420600" y="-673100"/>
            <a:ext cx="11023600" cy="8255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3" name="Black and white photo of Ducati motorcycle engine components"/>
          <p:cNvSpPr/>
          <p:nvPr>
            <p:ph type="pic" idx="23"/>
          </p:nvPr>
        </p:nvSpPr>
        <p:spPr>
          <a:xfrm>
            <a:off x="-825499" y="-2108200"/>
            <a:ext cx="13804901" cy="1844321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–Johnny Appleseed"/>
          <p:cNvSpPr txBox="1"/>
          <p:nvPr>
            <p:ph type="body" sz="quarter" idx="21"/>
          </p:nvPr>
        </p:nvSpPr>
        <p:spPr>
          <a:xfrm>
            <a:off x="2387600" y="8001000"/>
            <a:ext cx="19621500" cy="64770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800"/>
            </a:lvl1pPr>
          </a:lstStyle>
          <a:p>
            <a:pPr/>
            <a:r>
              <a:t>–Johnny Appleseed</a:t>
            </a:r>
          </a:p>
        </p:txBody>
      </p:sp>
      <p:sp>
        <p:nvSpPr>
          <p:cNvPr id="112" name="“Type a quote here.”"/>
          <p:cNvSpPr txBox="1"/>
          <p:nvPr>
            <p:ph type="body" sz="quarter" idx="22"/>
          </p:nvPr>
        </p:nvSpPr>
        <p:spPr>
          <a:xfrm>
            <a:off x="2374900" y="5892800"/>
            <a:ext cx="19621500" cy="85090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</a:lvl1pPr>
          </a:lstStyle>
          <a:p>
            <a:pPr/>
            <a:r>
              <a:t>“Type a quote here.”</a:t>
            </a:r>
          </a:p>
        </p:txBody>
      </p:sp>
      <p:sp>
        <p:nvSpPr>
          <p:cNvPr id="1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Front view of a red Ducati motorcycle against a black background"/>
          <p:cNvSpPr/>
          <p:nvPr>
            <p:ph type="pic" idx="21"/>
          </p:nvPr>
        </p:nvSpPr>
        <p:spPr>
          <a:xfrm>
            <a:off x="0" y="0"/>
            <a:ext cx="24384000" cy="13716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1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73100" y="355600"/>
            <a:ext cx="23050500" cy="342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73100" y="3835400"/>
            <a:ext cx="23050500" cy="886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976100" y="13081000"/>
            <a:ext cx="419100" cy="4572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24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transition xmlns:p14="http://schemas.microsoft.com/office/powerpoint/2010/main" spd="med" advClick="1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100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9pPr>
    </p:titleStyle>
    <p:bodyStyle>
      <a:lvl1pPr marL="5842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1pPr>
      <a:lvl2pPr marL="11684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2pPr>
      <a:lvl3pPr marL="17526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3pPr>
      <a:lvl4pPr marL="23368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4pPr>
      <a:lvl5pPr marL="29210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5pPr>
      <a:lvl6pPr marL="35052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6pPr>
      <a:lvl7pPr marL="40894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7pPr>
      <a:lvl8pPr marL="46736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8pPr>
      <a:lvl9pPr marL="5257800" marR="0" indent="-584200" algn="l" defTabSz="825500" rtl="0" latinLnBrk="0">
        <a:lnSpc>
          <a:spcPct val="100000"/>
        </a:lnSpc>
        <a:spcBef>
          <a:spcPts val="5300"/>
        </a:spcBef>
        <a:spcAft>
          <a:spcPts val="0"/>
        </a:spcAft>
        <a:buClrTx/>
        <a:buSzPct val="82000"/>
        <a:buFontTx/>
        <a:buChar char="•"/>
        <a:tabLst/>
        <a:defRPr b="0" baseline="0" cap="none" i="0" spc="0" strike="noStrike" sz="5200" u="none">
          <a:solidFill>
            <a:srgbClr val="535353"/>
          </a:solidFill>
          <a:uFillTx/>
          <a:latin typeface="+mn-lt"/>
          <a:ea typeface="+mn-ea"/>
          <a:cs typeface="+mn-cs"/>
          <a:sym typeface="Gill Sans Light"/>
        </a:defRPr>
      </a:lvl9pPr>
    </p:bodyStyle>
    <p:otherStyle>
      <a:lvl1pPr marL="0" marR="0" indent="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1pPr>
      <a:lvl2pPr marL="0" marR="0" indent="2286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2pPr>
      <a:lvl3pPr marL="0" marR="0" indent="4572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3pPr>
      <a:lvl4pPr marL="0" marR="0" indent="6858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4pPr>
      <a:lvl5pPr marL="0" marR="0" indent="9144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5pPr>
      <a:lvl6pPr marL="0" marR="0" indent="11430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6pPr>
      <a:lvl7pPr marL="0" marR="0" indent="13716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7pPr>
      <a:lvl8pPr marL="0" marR="0" indent="16002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8pPr>
      <a:lvl9pPr marL="0" marR="0" indent="1828800" algn="ctr" defTabSz="8255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Gill Sans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eg"/><Relationship Id="rId3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12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1.png"/></Relationships>
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2.png"/></Relationships>
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3.png"/></Relationships>
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png"/></Relationships>
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/Relationships>
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/Relationships>
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8.png"/></Relationships>
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/Relationships>
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Quantum Leap"/>
          <p:cNvSpPr txBox="1"/>
          <p:nvPr>
            <p:ph type="ctrTitle"/>
          </p:nvPr>
        </p:nvSpPr>
        <p:spPr>
          <a:xfrm>
            <a:off x="673100" y="35366"/>
            <a:ext cx="23050500" cy="4559301"/>
          </a:xfrm>
          <a:prstGeom prst="rect">
            <a:avLst/>
          </a:prstGeom>
        </p:spPr>
        <p:txBody>
          <a:bodyPr anchor="ctr"/>
          <a:lstStyle/>
          <a:p>
            <a:pPr/>
            <a:r>
              <a:t>Quantum Leap</a:t>
            </a:r>
          </a:p>
        </p:txBody>
      </p:sp>
      <p:sp>
        <p:nvSpPr>
          <p:cNvPr id="138" name="Building Real Quantum Programs with Python"/>
          <p:cNvSpPr txBox="1"/>
          <p:nvPr>
            <p:ph type="subTitle" sz="quarter" idx="1"/>
          </p:nvPr>
        </p:nvSpPr>
        <p:spPr>
          <a:xfrm>
            <a:off x="673100" y="4581966"/>
            <a:ext cx="23050500" cy="1816101"/>
          </a:xfrm>
          <a:prstGeom prst="rect">
            <a:avLst/>
          </a:prstGeom>
        </p:spPr>
        <p:txBody>
          <a:bodyPr/>
          <a:lstStyle>
            <a:lvl1pPr defTabSz="610870">
              <a:defRPr cap="all" sz="7400"/>
            </a:lvl1pPr>
          </a:lstStyle>
          <a:p>
            <a:pPr/>
            <a:r>
              <a:t>Building Real Quantum Programs with Python</a:t>
            </a:r>
          </a:p>
        </p:txBody>
      </p:sp>
      <p:sp>
        <p:nvSpPr>
          <p:cNvPr id="139" name="Beilak Aliev…"/>
          <p:cNvSpPr txBox="1"/>
          <p:nvPr/>
        </p:nvSpPr>
        <p:spPr>
          <a:xfrm>
            <a:off x="660400" y="11641020"/>
            <a:ext cx="23063200" cy="181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defRPr sz="5000"/>
            </a:pPr>
            <a:r>
              <a:t>Beilak Aliev 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defRPr sz="5000"/>
            </a:pPr>
            <a:r>
              <a:t>Team Lead</a:t>
            </a:r>
          </a:p>
        </p:txBody>
      </p:sp>
      <p:pic>
        <p:nvPicPr>
          <p:cNvPr id="140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596410" y="5116363"/>
            <a:ext cx="9191180" cy="91911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Profile view of a red Ducati motorcycle" descr="Profile view of a red Ducati motorcycle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7808" t="0" r="0" b="0"/>
          <a:stretch>
            <a:fillRect/>
          </a:stretch>
        </p:blipFill>
        <p:spPr>
          <a:xfrm>
            <a:off x="12759122" y="1409700"/>
            <a:ext cx="10045701" cy="10896601"/>
          </a:xfrm>
          <a:prstGeom prst="rect">
            <a:avLst/>
          </a:prstGeom>
        </p:spPr>
      </p:pic>
      <p:sp>
        <p:nvSpPr>
          <p:cNvPr id="143" name="Beilak Aliev"/>
          <p:cNvSpPr txBox="1"/>
          <p:nvPr>
            <p:ph type="title"/>
          </p:nvPr>
        </p:nvSpPr>
        <p:spPr>
          <a:xfrm>
            <a:off x="724463" y="2305098"/>
            <a:ext cx="11049001" cy="1854008"/>
          </a:xfrm>
          <a:prstGeom prst="rect">
            <a:avLst/>
          </a:prstGeom>
        </p:spPr>
        <p:txBody>
          <a:bodyPr/>
          <a:lstStyle/>
          <a:p>
            <a:pPr/>
            <a:r>
              <a:t>Beilak Aliev</a:t>
            </a:r>
          </a:p>
        </p:txBody>
      </p:sp>
      <p:sp>
        <p:nvSpPr>
          <p:cNvPr id="144" name="12+ years in software engineering…"/>
          <p:cNvSpPr txBox="1"/>
          <p:nvPr>
            <p:ph type="body" sz="half" idx="1"/>
          </p:nvPr>
        </p:nvSpPr>
        <p:spPr>
          <a:xfrm>
            <a:off x="236508" y="5949901"/>
            <a:ext cx="14164227" cy="5461001"/>
          </a:xfrm>
          <a:prstGeom prst="rect">
            <a:avLst/>
          </a:prstGeom>
        </p:spPr>
        <p:txBody>
          <a:bodyPr anchor="ctr"/>
          <a:lstStyle/>
          <a:p>
            <a:pPr marL="254000" indent="-254000" algn="l">
              <a:lnSpc>
                <a:spcPct val="120000"/>
              </a:lnSpc>
              <a:spcBef>
                <a:spcPts val="6000"/>
              </a:spcBef>
              <a:buClr>
                <a:srgbClr val="535353"/>
              </a:buClr>
              <a:buSzPct val="80000"/>
              <a:buChar char="•"/>
              <a:defRPr sz="5300"/>
            </a:pPr>
            <a:r>
              <a:t>12+ years in software engineering</a:t>
            </a:r>
          </a:p>
          <a:p>
            <a:pPr marL="254000" indent="-254000" algn="l">
              <a:lnSpc>
                <a:spcPct val="120000"/>
              </a:lnSpc>
              <a:spcBef>
                <a:spcPts val="6000"/>
              </a:spcBef>
              <a:buClr>
                <a:srgbClr val="535353"/>
              </a:buClr>
              <a:buSzPct val="80000"/>
              <a:buChar char="•"/>
              <a:defRPr sz="5300"/>
            </a:pPr>
            <a:r>
              <a:t>Team Lead on weekdays</a:t>
            </a:r>
          </a:p>
          <a:p>
            <a:pPr marL="254000" indent="-254000" algn="l">
              <a:lnSpc>
                <a:spcPct val="120000"/>
              </a:lnSpc>
              <a:spcBef>
                <a:spcPts val="6000"/>
              </a:spcBef>
              <a:buClr>
                <a:srgbClr val="535353"/>
              </a:buClr>
              <a:buSzPct val="80000"/>
              <a:buChar char="•"/>
              <a:defRPr sz="5300"/>
            </a:pPr>
            <a:r>
              <a:t>Quantum computing researcher on Saturdays</a:t>
            </a:r>
          </a:p>
        </p:txBody>
      </p:sp>
      <p:pic>
        <p:nvPicPr>
          <p:cNvPr id="145" name="Quantum Serpent Glass Cube.png" descr="Quantum Serpent Glass Cub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2695235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history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history</a:t>
            </a:r>
          </a:p>
        </p:txBody>
      </p:sp>
      <p:pic>
        <p:nvPicPr>
          <p:cNvPr id="148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95236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QUANTUM MILESTONE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MILESTONES</a:t>
            </a:r>
          </a:p>
        </p:txBody>
      </p:sp>
      <p:sp>
        <p:nvSpPr>
          <p:cNvPr id="151" name="1980…"/>
          <p:cNvSpPr txBox="1"/>
          <p:nvPr/>
        </p:nvSpPr>
        <p:spPr>
          <a:xfrm>
            <a:off x="1358900" y="3352799"/>
            <a:ext cx="4064000" cy="9829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5600"/>
            </a:pPr>
            <a:r>
              <a:t>1980</a:t>
            </a:r>
          </a:p>
          <a:p>
            <a:pPr>
              <a:defRPr sz="5600"/>
            </a:pPr>
            <a:r>
              <a:t>1982</a:t>
            </a:r>
          </a:p>
          <a:p>
            <a:pPr>
              <a:defRPr sz="5600"/>
            </a:pPr>
            <a:r>
              <a:t>1994</a:t>
            </a:r>
          </a:p>
          <a:p>
            <a:pPr>
              <a:defRPr sz="5600"/>
            </a:pPr>
            <a:r>
              <a:t>1996</a:t>
            </a:r>
          </a:p>
          <a:p>
            <a:pPr>
              <a:defRPr sz="5600"/>
            </a:pPr>
            <a:r>
              <a:t>2022</a:t>
            </a:r>
          </a:p>
          <a:p>
            <a:pPr>
              <a:defRPr sz="5600"/>
            </a:pPr>
            <a:r>
              <a:t>2023</a:t>
            </a:r>
          </a:p>
        </p:txBody>
      </p:sp>
      <p:sp>
        <p:nvSpPr>
          <p:cNvPr id="152" name="Yuri Manin…"/>
          <p:cNvSpPr txBox="1"/>
          <p:nvPr/>
        </p:nvSpPr>
        <p:spPr>
          <a:xfrm>
            <a:off x="5638800" y="3318784"/>
            <a:ext cx="16764000" cy="98978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defRPr sz="5600"/>
            </a:pPr>
            <a:r>
              <a:t>Yuri Manin</a:t>
            </a:r>
          </a:p>
          <a:p>
            <a:pPr>
              <a:defRPr sz="5600"/>
            </a:pPr>
            <a:r>
              <a:t>Richard Feynman</a:t>
            </a:r>
          </a:p>
          <a:p>
            <a:pPr>
              <a:defRPr sz="5600"/>
            </a:pPr>
            <a:r>
              <a:t>Peter Shor: factoring algorithm</a:t>
            </a:r>
          </a:p>
          <a:p>
            <a:pPr>
              <a:defRPr sz="5600"/>
            </a:pPr>
            <a:r>
              <a:t>Grover’s search: O(√N)</a:t>
            </a:r>
          </a:p>
          <a:p>
            <a:pPr>
              <a:defRPr sz="5600"/>
            </a:pPr>
            <a:r>
              <a:t>433 qubits</a:t>
            </a:r>
          </a:p>
          <a:p>
            <a:pPr>
              <a:defRPr sz="5600"/>
            </a:pPr>
            <a:r>
              <a:t>1121 qubits</a:t>
            </a:r>
          </a:p>
        </p:txBody>
      </p:sp>
      <p:sp>
        <p:nvSpPr>
          <p:cNvPr id="153" name="Line"/>
          <p:cNvSpPr/>
          <p:nvPr/>
        </p:nvSpPr>
        <p:spPr>
          <a:xfrm flipH="1">
            <a:off x="5118099" y="3390501"/>
            <a:ext cx="1" cy="10147700"/>
          </a:xfrm>
          <a:prstGeom prst="line">
            <a:avLst/>
          </a:prstGeom>
          <a:ln w="25400">
            <a:solidFill>
              <a:srgbClr val="5A5F5E">
                <a:alpha val="35000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Where Can Quantum Computing Benefit Business?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Where Can Quantum Computing Benefit Business?</a:t>
            </a:r>
          </a:p>
        </p:txBody>
      </p:sp>
      <p:pic>
        <p:nvPicPr>
          <p:cNvPr id="156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95236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Benefi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Benefit</a:t>
            </a:r>
          </a:p>
        </p:txBody>
      </p:sp>
      <p:graphicFrame>
        <p:nvGraphicFramePr>
          <p:cNvPr id="159" name="Table 1"/>
          <p:cNvGraphicFramePr/>
          <p:nvPr/>
        </p:nvGraphicFramePr>
        <p:xfrm>
          <a:off x="1077196" y="4297558"/>
          <a:ext cx="22605077" cy="916975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987741"/>
                <a:gridCol w="9801229"/>
                <a:gridCol w="8803405"/>
              </a:tblGrid>
              <a:tr h="1526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Industry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Business problems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Potential value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526175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Pharmaceuticals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Drug discovery, molecular simulation, chemical reactions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Faster research and development of new medicines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526175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Materials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Battery development, new materials, chemical catalysts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Discover better materials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526175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Finance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Risk analysis, Monte Carlo simulations, portfolio optimization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Faster risk calculations and more complex financial models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526175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Logistics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Route planning, scheduling, resource allocation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Better use of resources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526175"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40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AI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Classification, anomaly detection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Bef>
                          <a:spcPts val="65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000">
                          <a:solidFill>
                            <a:srgbClr val="535353"/>
                          </a:solidFill>
                        </a:rPr>
                        <a:t>Potential advantages in specific ML tasks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Quantum advantag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advantage</a:t>
            </a:r>
          </a:p>
        </p:txBody>
      </p:sp>
      <p:pic>
        <p:nvPicPr>
          <p:cNvPr id="162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95236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Quantum advantag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advantage</a:t>
            </a:r>
          </a:p>
        </p:txBody>
      </p:sp>
      <p:sp>
        <p:nvSpPr>
          <p:cNvPr id="165" name="Quantum computers solve specific types of problems."/>
          <p:cNvSpPr txBox="1"/>
          <p:nvPr>
            <p:ph type="body" sz="quarter" idx="1"/>
          </p:nvPr>
        </p:nvSpPr>
        <p:spPr>
          <a:xfrm>
            <a:off x="673100" y="3403600"/>
            <a:ext cx="23050500" cy="101413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SzTx/>
              <a:buNone/>
              <a:defRPr sz="5200"/>
            </a:lvl1pPr>
          </a:lstStyle>
          <a:p>
            <a:pPr/>
            <a:r>
              <a:t>Quantum computers solve specific types of problems.</a:t>
            </a:r>
          </a:p>
        </p:txBody>
      </p:sp>
      <p:graphicFrame>
        <p:nvGraphicFramePr>
          <p:cNvPr id="166" name="Table 1"/>
          <p:cNvGraphicFramePr/>
          <p:nvPr/>
        </p:nvGraphicFramePr>
        <p:xfrm>
          <a:off x="1353977" y="5591447"/>
          <a:ext cx="22510472" cy="766065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324682"/>
                <a:gridCol w="5433698"/>
                <a:gridCol w="11982286"/>
              </a:tblGrid>
              <a:tr h="1274659">
                <a:tc>
                  <a:txBody>
                    <a:bodyPr/>
                    <a:lstStyle/>
                    <a:p>
                      <a:pPr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34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Problem type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34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Quantum algorithms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3400">
                          <a:solidFill>
                            <a:srgbClr val="535353"/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Potential advantage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274659"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Quantum Simulation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VQE, Hamiltonian Simulation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Model molecules and materials that are difficult to simulate classically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274659"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Search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Grover's Algorithm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Reduce search complexity from (O(N)) to (O(√N))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274659"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Monte Carlo &amp; Probability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Amplitude Estimation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Reduce complexity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274659"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Factorization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Shor's Algorithm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Exponential speedup over the best known classical factoring methods, in terms of input length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1274659"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Optimization &amp; ML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QAOA, QNN, VQC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53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400">
                          <a:solidFill>
                            <a:srgbClr val="535353"/>
                          </a:solidFill>
                        </a:rPr>
                        <a:t>Potential gains for specific problems; no general advantage demonstrated yet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Mini-theory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Mini-theory</a:t>
            </a:r>
          </a:p>
        </p:txBody>
      </p:sp>
      <p:pic>
        <p:nvPicPr>
          <p:cNvPr id="169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95236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image8.png" descr="image8.png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8173" t="0" r="8173" b="0"/>
          <a:stretch>
            <a:fillRect/>
          </a:stretch>
        </p:blipFill>
        <p:spPr>
          <a:xfrm>
            <a:off x="13474700" y="3102371"/>
            <a:ext cx="8712201" cy="10199139"/>
          </a:xfrm>
          <a:prstGeom prst="rect">
            <a:avLst/>
          </a:prstGeom>
        </p:spPr>
      </p:pic>
      <p:sp>
        <p:nvSpPr>
          <p:cNvPr id="172" name="CLASSICAL BI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CLASSICAL BITS</a:t>
            </a:r>
          </a:p>
        </p:txBody>
      </p:sp>
      <p:sp>
        <p:nvSpPr>
          <p:cNvPr id="173" name="A bit stores 0 or 1…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 bit stores 0 or 1</a:t>
            </a:r>
          </a:p>
          <a:p>
            <a:pPr/>
            <a:r>
              <a:t>Voltage: low or high</a:t>
            </a:r>
          </a:p>
          <a:p>
            <a:pPr/>
            <a:r>
              <a:t>Switch: off or 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CLASSICAL LOGIC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CLASSICAL LOGIC</a:t>
            </a:r>
          </a:p>
        </p:txBody>
      </p:sp>
      <p:sp>
        <p:nvSpPr>
          <p:cNvPr id="176" name="Logic gates transform bits…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Logic gates transform bits</a:t>
            </a:r>
          </a:p>
          <a:p>
            <a:pPr/>
            <a:r>
              <a:t>XOR outputs 1 when inputs differ</a:t>
            </a:r>
          </a:p>
        </p:txBody>
      </p:sp>
      <p:pic>
        <p:nvPicPr>
          <p:cNvPr id="177" name="classical_logic.png" descr="classical_logic.png"/>
          <p:cNvPicPr>
            <a:picLocks noChangeAspect="1"/>
          </p:cNvPicPr>
          <p:nvPr/>
        </p:nvPicPr>
        <p:blipFill>
          <a:blip r:embed="rId2">
            <a:extLst/>
          </a:blip>
          <a:srcRect l="294" t="0" r="294" b="0"/>
          <a:stretch>
            <a:fillRect/>
          </a:stretch>
        </p:blipFill>
        <p:spPr>
          <a:xfrm>
            <a:off x="13335000" y="5080000"/>
            <a:ext cx="10160001" cy="664307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QUBITS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QUBITS</a:t>
            </a:r>
          </a:p>
        </p:txBody>
      </p:sp>
      <p:sp>
        <p:nvSpPr>
          <p:cNvPr id="180" name="0 and 1 are basis states…"/>
          <p:cNvSpPr txBox="1"/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0 and 1 are basis states</a:t>
            </a:r>
          </a:p>
          <a:p>
            <a:pPr/>
            <a:r>
              <a:t>Superposition combines both</a:t>
            </a:r>
          </a:p>
          <a:p>
            <a:pPr/>
            <a:r>
              <a:t>Measurement yields 0 or 1</a:t>
            </a:r>
          </a:p>
        </p:txBody>
      </p:sp>
      <p:pic>
        <p:nvPicPr>
          <p:cNvPr id="181" name="bloch_sphere.png" descr="bloch_spher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589000" y="4572000"/>
            <a:ext cx="10795000" cy="6477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Equation"/>
          <p:cNvSpPr txBox="1"/>
          <p:nvPr/>
        </p:nvSpPr>
        <p:spPr>
          <a:xfrm>
            <a:off x="10947083" y="6065011"/>
            <a:ext cx="3658234" cy="440537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m>
                    <m:mPr>
                      <m:ctrlPr>
                        <a:rPr xmlns:a="http://schemas.openxmlformats.org/drawingml/2006/main" sz="64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</m:ctrlPr>
                      <m:baseJc m:val="center"/>
                      <m:plcHide m:val="on"/>
                      <m:mcs>
                        <m:mc>
                          <m:mcPr>
                            <m:count m:val="2"/>
                            <m:mcJc m:val="center"/>
                          </m:mcPr>
                        </m:mc>
                      </m:mcs>
                    </m:mPr>
                    <m:mr>
                      <m:e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e>
                      <m:e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rgPr>
                              <m:scrLvl m:val="0"/>
                            </m:argPr>
                            <m:eqArr>
                              <m:eqArrPr>
                                <m:ctrlPr>
                                  <a:rPr xmlns:a="http://schemas.openxmlformats.org/drawingml/2006/main" sz="6400" i="1">
                                    <a:solidFill>
                                      <a:srgbClr val="52525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xmlns:a="http://schemas.openxmlformats.org/drawingml/2006/main" sz="6400" i="1">
                                    <a:solidFill>
                                      <a:srgbClr val="52525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xmlns:a="http://schemas.openxmlformats.org/drawingml/2006/main" sz="6400" i="1">
                                    <a:solidFill>
                                      <a:srgbClr val="52525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eqArr>
                          </m:e>
                        </m:d>
                      </m:e>
                    </m:mr>
                    <m:mr>
                      <m:e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e>
                      <m:e>
                        <m:r>
                          <a:rPr xmlns:a="http://schemas.openxmlformats.org/drawingml/2006/main" sz="6400" i="1">
                            <a:solidFill>
                              <a:srgbClr val="52525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rgPr>
                              <m:scrLvl m:val="0"/>
                            </m:argPr>
                            <m:eqArr>
                              <m:eqArrPr>
                                <m:ctrlPr>
                                  <a:rPr xmlns:a="http://schemas.openxmlformats.org/drawingml/2006/main" sz="6400" i="1">
                                    <a:solidFill>
                                      <a:srgbClr val="52525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xmlns:a="http://schemas.openxmlformats.org/drawingml/2006/main" sz="6400" i="1">
                                    <a:solidFill>
                                      <a:srgbClr val="52525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xmlns:a="http://schemas.openxmlformats.org/drawingml/2006/main" sz="6400" i="1">
                                    <a:solidFill>
                                      <a:srgbClr val="52525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eqArr>
                          </m:e>
                        </m:d>
                      </m:e>
                    </m:mr>
                  </m:m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QUANTUM CIRCUI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CIRCUIT</a:t>
            </a:r>
          </a:p>
        </p:txBody>
      </p:sp>
      <p:pic>
        <p:nvPicPr>
          <p:cNvPr id="185" name="quantum_circuit.png" descr="quantum_circui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524000" y="4064000"/>
            <a:ext cx="21336000" cy="6934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ATES AS MATRICES"/>
          <p:cNvSpPr txBox="1"/>
          <p:nvPr>
            <p:ph type="title"/>
          </p:nvPr>
        </p:nvSpPr>
        <p:spPr>
          <a:xfrm>
            <a:off x="673100" y="355600"/>
            <a:ext cx="23050500" cy="3429000"/>
          </a:xfrm>
          <a:prstGeom prst="rect">
            <a:avLst/>
          </a:prstGeom>
        </p:spPr>
        <p:txBody>
          <a:bodyPr/>
          <a:lstStyle/>
          <a:p>
            <a:pPr/>
            <a:r>
              <a:t>GATES AS MATRICES</a:t>
            </a:r>
          </a:p>
        </p:txBody>
      </p:sp>
      <p:sp>
        <p:nvSpPr>
          <p:cNvPr id="188" name="Equation"/>
          <p:cNvSpPr txBox="1"/>
          <p:nvPr/>
        </p:nvSpPr>
        <p:spPr>
          <a:xfrm>
            <a:off x="3062091" y="5089042"/>
            <a:ext cx="6215166" cy="22425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H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64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64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ad>
                        <m:radPr>
                          <m:ctrlPr>
                            <a:rPr xmlns:a="http://schemas.openxmlformats.org/drawingml/2006/main" sz="6400" i="1">
                              <a:solidFill>
                                <a:srgbClr val="525252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6400" i="1">
                              <a:solidFill>
                                <a:srgbClr val="52525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</m:den>
                  </m:f>
                  <m:d>
                    <m:dPr>
                      <m:ctrlPr>
                        <a:rPr xmlns:a="http://schemas.openxmlformats.org/drawingml/2006/main" sz="64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m>
                        <m:mPr>
                          <m:ctrlPr>
                            <a:rPr xmlns:a="http://schemas.openxmlformats.org/drawingml/2006/main" sz="6400" i="1">
                              <a:solidFill>
                                <a:srgbClr val="525252"/>
                              </a:solidFill>
                              <a:latin typeface="Cambria Math" panose="02040503050406030204" pitchFamily="18" charset="0"/>
                            </a:rPr>
                          </m:ctrlPr>
                          <m:baseJc m:val="center"/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</m:mP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-</m:t>
                            </m:r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  <p:sp>
        <p:nvSpPr>
          <p:cNvPr id="189" name="Equation"/>
          <p:cNvSpPr txBox="1"/>
          <p:nvPr/>
        </p:nvSpPr>
        <p:spPr>
          <a:xfrm>
            <a:off x="4138261" y="9534863"/>
            <a:ext cx="4062827" cy="199948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=</m:t>
                  </m:r>
                  <m:d>
                    <m:dPr>
                      <m:ctrlPr>
                        <a:rPr xmlns:a="http://schemas.openxmlformats.org/drawingml/2006/main" sz="64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m>
                        <m:mPr>
                          <m:ctrlPr>
                            <a:rPr xmlns:a="http://schemas.openxmlformats.org/drawingml/2006/main" sz="6400" i="1">
                              <a:solidFill>
                                <a:srgbClr val="525252"/>
                              </a:solidFill>
                              <a:latin typeface="Cambria Math" panose="02040503050406030204" pitchFamily="18" charset="0"/>
                            </a:rPr>
                          </m:ctrlPr>
                          <m:baseJc m:val="center"/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</m:mP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  <p:sp>
        <p:nvSpPr>
          <p:cNvPr id="190" name="Equation"/>
          <p:cNvSpPr txBox="1"/>
          <p:nvPr/>
        </p:nvSpPr>
        <p:spPr>
          <a:xfrm>
            <a:off x="14305366" y="8617600"/>
            <a:ext cx="6262320" cy="435254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6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36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36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36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=</m:t>
                  </m:r>
                  <m:d>
                    <m:dPr>
                      <m:ctrlPr>
                        <a:rPr xmlns:a="http://schemas.openxmlformats.org/drawingml/2006/main" sz="36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m>
                        <m:mPr>
                          <m:ctrlPr>
                            <a:rPr xmlns:a="http://schemas.openxmlformats.org/drawingml/2006/main" sz="3600" i="1">
                              <a:solidFill>
                                <a:srgbClr val="525252"/>
                              </a:solidFill>
                              <a:latin typeface="Cambria Math" panose="02040503050406030204" pitchFamily="18" charset="0"/>
                            </a:rPr>
                          </m:ctrlPr>
                          <m:baseJc m:val="center"/>
                          <m:plcHide m:val="on"/>
                          <m:mcs>
                            <m:mc>
                              <m:mcPr>
                                <m:count m:val="8"/>
                                <m:mcJc m:val="center"/>
                              </m:mcPr>
                            </m:mc>
                          </m:mcs>
                        </m:mP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36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3600">
              <a:solidFill>
                <a:srgbClr val="535353"/>
              </a:solidFill>
            </a:endParaRPr>
          </a:p>
        </p:txBody>
      </p:sp>
      <p:sp>
        <p:nvSpPr>
          <p:cNvPr id="191" name="Equation"/>
          <p:cNvSpPr txBox="1"/>
          <p:nvPr/>
        </p:nvSpPr>
        <p:spPr>
          <a:xfrm>
            <a:off x="14255000" y="3650272"/>
            <a:ext cx="6363051" cy="386892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=</m:t>
                  </m:r>
                  <m:d>
                    <m:dPr>
                      <m:ctrlPr>
                        <a:rPr xmlns:a="http://schemas.openxmlformats.org/drawingml/2006/main" sz="6400" i="1">
                          <a:solidFill>
                            <a:srgbClr val="525252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m>
                        <m:mPr>
                          <m:ctrlPr>
                            <a:rPr xmlns:a="http://schemas.openxmlformats.org/drawingml/2006/main" sz="6400" i="1">
                              <a:solidFill>
                                <a:srgbClr val="525252"/>
                              </a:solidFill>
                              <a:latin typeface="Cambria Math" panose="02040503050406030204" pitchFamily="18" charset="0"/>
                            </a:rPr>
                          </m:ctrlPr>
                          <m:baseJc m:val="center"/>
                          <m:plcHide m:val="on"/>
                          <m:mcs>
                            <m:mc>
                              <m:mcPr>
                                <m:count m:val="4"/>
                                <m:mcJc m:val="center"/>
                              </m:mcPr>
                            </m:mc>
                          </m:mcs>
                        </m:mP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xmlns:a="http://schemas.openxmlformats.org/drawingml/2006/main" sz="6400" i="1">
                                <a:solidFill>
                                  <a:srgbClr val="525252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Quantum Programming Ecosystem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Programming Ecosystem</a:t>
            </a:r>
          </a:p>
        </p:txBody>
      </p:sp>
      <p:pic>
        <p:nvPicPr>
          <p:cNvPr id="194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95236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Quantum Programming Ecosystem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Programming Ecosystem</a:t>
            </a:r>
          </a:p>
        </p:txBody>
      </p:sp>
      <p:sp>
        <p:nvSpPr>
          <p:cNvPr id="197" name="Python…"/>
          <p:cNvSpPr txBox="1"/>
          <p:nvPr>
            <p:ph type="body" sz="quarter" idx="1"/>
          </p:nvPr>
        </p:nvSpPr>
        <p:spPr>
          <a:xfrm>
            <a:off x="673100" y="5375889"/>
            <a:ext cx="6461379" cy="7324111"/>
          </a:xfrm>
          <a:prstGeom prst="rect">
            <a:avLst/>
          </a:prstGeom>
        </p:spPr>
        <p:txBody>
          <a:bodyPr/>
          <a:lstStyle/>
          <a:p>
            <a:pPr marL="604012" indent="-604012" defTabSz="676909">
              <a:spcBef>
                <a:spcPts val="5300"/>
              </a:spcBef>
              <a:buClr>
                <a:srgbClr val="535353"/>
              </a:buClr>
              <a:defRPr sz="5248"/>
            </a:pPr>
            <a:r>
              <a:t>Python</a:t>
            </a:r>
          </a:p>
          <a:p>
            <a:pPr marL="604012" indent="-604012" defTabSz="676909">
              <a:spcBef>
                <a:spcPts val="5300"/>
              </a:spcBef>
              <a:buClr>
                <a:srgbClr val="535353"/>
              </a:buClr>
              <a:defRPr sz="5248"/>
            </a:pPr>
            <a:r>
              <a:t>C++</a:t>
            </a:r>
          </a:p>
          <a:p>
            <a:pPr marL="604012" indent="-604012" defTabSz="676909">
              <a:spcBef>
                <a:spcPts val="5300"/>
              </a:spcBef>
              <a:buClr>
                <a:srgbClr val="535353"/>
              </a:buClr>
              <a:defRPr sz="5248"/>
            </a:pPr>
            <a:r>
              <a:t>Q#</a:t>
            </a:r>
          </a:p>
          <a:p>
            <a:pPr marL="604012" indent="-604012" defTabSz="676909">
              <a:spcBef>
                <a:spcPts val="5300"/>
              </a:spcBef>
              <a:buClr>
                <a:srgbClr val="535353"/>
              </a:buClr>
              <a:defRPr sz="5248"/>
            </a:pPr>
            <a:r>
              <a:t>OpenQASM</a:t>
            </a:r>
          </a:p>
          <a:p>
            <a:pPr marL="604012" indent="-604012" defTabSz="676909">
              <a:spcBef>
                <a:spcPts val="5300"/>
              </a:spcBef>
              <a:buClr>
                <a:srgbClr val="535353"/>
              </a:buClr>
              <a:defRPr sz="5248"/>
            </a:pPr>
            <a:r>
              <a:t>Quil</a:t>
            </a:r>
          </a:p>
        </p:txBody>
      </p:sp>
      <p:sp>
        <p:nvSpPr>
          <p:cNvPr id="198" name="Qiskit Aer (Simulation)…"/>
          <p:cNvSpPr txBox="1"/>
          <p:nvPr/>
        </p:nvSpPr>
        <p:spPr>
          <a:xfrm>
            <a:off x="7567811" y="5375889"/>
            <a:ext cx="6461379" cy="7324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 marL="736600" indent="-736600">
              <a:buClr>
                <a:srgbClr val="535353"/>
              </a:buClr>
              <a:buSzPct val="82000"/>
              <a:buChar char="•"/>
            </a:pPr>
            <a:r>
              <a:t>Qiskit Aer </a:t>
            </a:r>
            <a:r>
              <a:rPr sz="4000"/>
              <a:t>(Simulation)</a:t>
            </a:r>
          </a:p>
          <a:p>
            <a:pPr marL="736600" indent="-736600">
              <a:buClr>
                <a:srgbClr val="535353"/>
              </a:buClr>
              <a:buSzPct val="82000"/>
              <a:buChar char="•"/>
            </a:pPr>
            <a:r>
              <a:t>OpenFermion </a:t>
            </a:r>
            <a:r>
              <a:rPr sz="4000"/>
              <a:t>(Quantum chemistry)</a:t>
            </a:r>
          </a:p>
          <a:p>
            <a:pPr marL="736600" indent="-736600">
              <a:buClr>
                <a:srgbClr val="535353"/>
              </a:buClr>
              <a:buSzPct val="82000"/>
              <a:buChar char="•"/>
            </a:pPr>
            <a:r>
              <a:t>QuTiP </a:t>
            </a:r>
            <a:r>
              <a:rPr sz="4000"/>
              <a:t>(Quantum physics)</a:t>
            </a:r>
          </a:p>
        </p:txBody>
      </p:sp>
      <p:sp>
        <p:nvSpPr>
          <p:cNvPr id="199" name="Qiskit (IBM)…"/>
          <p:cNvSpPr txBox="1"/>
          <p:nvPr/>
        </p:nvSpPr>
        <p:spPr>
          <a:xfrm>
            <a:off x="15961123" y="5375889"/>
            <a:ext cx="6461379" cy="7324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 marL="500887" indent="-500887" defTabSz="561340">
              <a:spcBef>
                <a:spcPts val="4400"/>
              </a:spcBef>
              <a:buClr>
                <a:srgbClr val="535353"/>
              </a:buClr>
              <a:buSzPct val="82000"/>
              <a:buChar char="•"/>
              <a:defRPr sz="4352"/>
            </a:pPr>
            <a:r>
              <a:t>Qiskit </a:t>
            </a:r>
            <a:r>
              <a:rPr sz="2720"/>
              <a:t>(IBM)</a:t>
            </a:r>
          </a:p>
          <a:p>
            <a:pPr marL="500887" indent="-500887" defTabSz="561340">
              <a:spcBef>
                <a:spcPts val="4400"/>
              </a:spcBef>
              <a:buClr>
                <a:srgbClr val="535353"/>
              </a:buClr>
              <a:buSzPct val="82000"/>
              <a:buChar char="•"/>
              <a:defRPr sz="4352"/>
            </a:pPr>
            <a:r>
              <a:t>Cirq </a:t>
            </a:r>
            <a:r>
              <a:rPr sz="2720"/>
              <a:t>(Google)</a:t>
            </a:r>
          </a:p>
          <a:p>
            <a:pPr marL="500887" indent="-500887" defTabSz="561340">
              <a:spcBef>
                <a:spcPts val="4400"/>
              </a:spcBef>
              <a:buClr>
                <a:srgbClr val="535353"/>
              </a:buClr>
              <a:buSzPct val="82000"/>
              <a:buChar char="•"/>
              <a:defRPr sz="4352"/>
            </a:pPr>
            <a:r>
              <a:t>PennyLane </a:t>
            </a:r>
            <a:r>
              <a:rPr sz="2720"/>
              <a:t>(Xanadu)</a:t>
            </a:r>
          </a:p>
          <a:p>
            <a:pPr marL="500887" indent="-500887" defTabSz="561340">
              <a:spcBef>
                <a:spcPts val="4400"/>
              </a:spcBef>
              <a:buClr>
                <a:srgbClr val="535353"/>
              </a:buClr>
              <a:buSzPct val="82000"/>
              <a:buChar char="•"/>
              <a:defRPr sz="4352"/>
            </a:pPr>
            <a:r>
              <a:t>QDK </a:t>
            </a:r>
            <a:r>
              <a:rPr sz="2720"/>
              <a:t>(Microsoft)</a:t>
            </a:r>
          </a:p>
          <a:p>
            <a:pPr marL="500887" indent="-500887" defTabSz="561340">
              <a:spcBef>
                <a:spcPts val="4400"/>
              </a:spcBef>
              <a:buClr>
                <a:srgbClr val="535353"/>
              </a:buClr>
              <a:buSzPct val="82000"/>
              <a:buChar char="•"/>
              <a:defRPr sz="4352"/>
            </a:pPr>
            <a:r>
              <a:t>Amazon Braket </a:t>
            </a:r>
            <a:r>
              <a:rPr sz="2720"/>
              <a:t>(AWS)</a:t>
            </a:r>
          </a:p>
          <a:p>
            <a:pPr marL="500887" indent="-500887" defTabSz="561340">
              <a:spcBef>
                <a:spcPts val="4400"/>
              </a:spcBef>
              <a:buClr>
                <a:srgbClr val="535353"/>
              </a:buClr>
              <a:buSzPct val="82000"/>
              <a:buChar char="•"/>
              <a:defRPr sz="4352"/>
            </a:pPr>
            <a:r>
              <a:t>Ocean SDK </a:t>
            </a:r>
            <a:r>
              <a:rPr sz="2720"/>
              <a:t>(D-Wave)</a:t>
            </a:r>
          </a:p>
        </p:txBody>
      </p:sp>
      <p:sp>
        <p:nvSpPr>
          <p:cNvPr id="200" name="Languages"/>
          <p:cNvSpPr txBox="1"/>
          <p:nvPr/>
        </p:nvSpPr>
        <p:spPr>
          <a:xfrm>
            <a:off x="673100" y="3855072"/>
            <a:ext cx="6461379" cy="1301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Languages</a:t>
            </a:r>
          </a:p>
        </p:txBody>
      </p:sp>
      <p:sp>
        <p:nvSpPr>
          <p:cNvPr id="201" name="Libraries"/>
          <p:cNvSpPr txBox="1"/>
          <p:nvPr/>
        </p:nvSpPr>
        <p:spPr>
          <a:xfrm>
            <a:off x="7567811" y="3855072"/>
            <a:ext cx="6461379" cy="1301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Libraries</a:t>
            </a:r>
          </a:p>
        </p:txBody>
      </p:sp>
      <p:sp>
        <p:nvSpPr>
          <p:cNvPr id="202" name="Frameworks &amp; SDKs"/>
          <p:cNvSpPr txBox="1"/>
          <p:nvPr/>
        </p:nvSpPr>
        <p:spPr>
          <a:xfrm>
            <a:off x="15961123" y="3929557"/>
            <a:ext cx="6461379" cy="13013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>
            <a:lvl1pPr defTabSz="792479">
              <a:spcBef>
                <a:spcPts val="6200"/>
              </a:spcBef>
              <a:defRPr sz="6144"/>
            </a:lvl1pPr>
          </a:lstStyle>
          <a:p>
            <a:pPr/>
            <a:r>
              <a:t>Frameworks &amp; SDKs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racti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practice</a:t>
            </a:r>
          </a:p>
        </p:txBody>
      </p:sp>
      <p:pic>
        <p:nvPicPr>
          <p:cNvPr id="205" name="Quantum Serpent Glass Cube.png" descr="Quantum Serpent Glass Cub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95236" y="12007090"/>
            <a:ext cx="1665735" cy="166573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quantum hello world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hello world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quantum hello world"/>
          <p:cNvSpPr txBox="1"/>
          <p:nvPr>
            <p:ph type="title"/>
          </p:nvPr>
        </p:nvSpPr>
        <p:spPr>
          <a:xfrm>
            <a:off x="673100" y="304800"/>
            <a:ext cx="23050500" cy="2921000"/>
          </a:xfrm>
          <a:prstGeom prst="rect">
            <a:avLst/>
          </a:prstGeom>
        </p:spPr>
        <p:txBody>
          <a:bodyPr/>
          <a:lstStyle/>
          <a:p>
            <a:pPr/>
            <a:r>
              <a:t>quantum hello world</a:t>
            </a:r>
          </a:p>
        </p:txBody>
      </p:sp>
      <p:sp>
        <p:nvSpPr>
          <p:cNvPr id="210" name="Rounded Rectangle"/>
          <p:cNvSpPr/>
          <p:nvPr/>
        </p:nvSpPr>
        <p:spPr>
          <a:xfrm>
            <a:off x="1397000" y="38100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11" name="from qiskit import QuantumCircuit…"/>
          <p:cNvSpPr txBox="1"/>
          <p:nvPr/>
        </p:nvSpPr>
        <p:spPr>
          <a:xfrm>
            <a:off x="2286000" y="4879340"/>
            <a:ext cx="11678143" cy="624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QuantumCircuit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69676C"/>
                </a:solidFill>
              </a:rPr>
              <a:t># Circuit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qc</a:t>
            </a:r>
            <a:r>
              <a:rPr>
                <a:solidFill>
                  <a:srgbClr val="8B888F"/>
                </a:solidFill>
              </a:rPr>
              <a:t>:</a:t>
            </a:r>
            <a:r>
              <a:t> QuantumCircuit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</a:t>
            </a:r>
            <a:r>
              <a:rPr>
                <a:solidFill>
                  <a:srgbClr val="7BD88F"/>
                </a:solidFill>
              </a:rPr>
              <a:t>QuantumCircuit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8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qc</a:t>
            </a:r>
            <a:r>
              <a:rPr i="0">
                <a:solidFill>
                  <a:srgbClr val="8B888F"/>
                </a:solidFill>
              </a:rPr>
              <a:t>.</a:t>
            </a:r>
            <a:r>
              <a:rPr i="0">
                <a:solidFill>
                  <a:srgbClr val="7BD88F"/>
                </a:solidFill>
              </a:rPr>
              <a:t>h</a:t>
            </a:r>
            <a:r>
              <a:rPr i="0">
                <a:solidFill>
                  <a:srgbClr val="8B888F"/>
                </a:solidFill>
              </a:rPr>
              <a:t>(</a:t>
            </a:r>
            <a:r>
              <a:rPr i="0">
                <a:solidFill>
                  <a:srgbClr val="948AE3"/>
                </a:solidFill>
              </a:rPr>
              <a:t>0</a:t>
            </a:r>
            <a:r>
              <a:rPr i="0">
                <a:solidFill>
                  <a:srgbClr val="8B888F"/>
                </a:solidFill>
              </a:rPr>
              <a:t>)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t># Hadamard gate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8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qc</a:t>
            </a:r>
            <a:r>
              <a:rPr i="0">
                <a:solidFill>
                  <a:srgbClr val="8B888F"/>
                </a:solidFill>
              </a:rPr>
              <a:t>.</a:t>
            </a:r>
            <a:r>
              <a:rPr i="0">
                <a:solidFill>
                  <a:srgbClr val="7BD88F"/>
                </a:solidFill>
              </a:rPr>
              <a:t>cx</a:t>
            </a:r>
            <a:r>
              <a:rPr i="0">
                <a:solidFill>
                  <a:srgbClr val="8B888F"/>
                </a:solidFill>
              </a:rPr>
              <a:t>(</a:t>
            </a:r>
            <a:r>
              <a:rPr i="0">
                <a:solidFill>
                  <a:srgbClr val="948AE3"/>
                </a:solidFill>
              </a:rPr>
              <a:t>0</a:t>
            </a:r>
            <a:r>
              <a:rPr i="0">
                <a:solidFill>
                  <a:srgbClr val="8B888F"/>
                </a:solidFill>
              </a:rPr>
              <a:t>,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rPr i="0">
                <a:solidFill>
                  <a:srgbClr val="948AE3"/>
                </a:solidFill>
              </a:rPr>
              <a:t>1</a:t>
            </a:r>
            <a:r>
              <a:rPr i="0">
                <a:solidFill>
                  <a:srgbClr val="8B888F"/>
                </a:solidFill>
              </a:rPr>
              <a:t>)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t># Controlled not gate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qc</a:t>
            </a:r>
            <a:r>
              <a:rPr>
                <a:solidFill>
                  <a:srgbClr val="8B888F"/>
                </a:solidFill>
              </a:rPr>
              <a:t>.</a:t>
            </a:r>
            <a:r>
              <a:t>measure_all</a:t>
            </a:r>
            <a:r>
              <a:rPr>
                <a:solidFill>
                  <a:srgbClr val="8B888F"/>
                </a:solidFill>
              </a:rPr>
              <a:t>()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qc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draw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/>
              <a:t>output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mpl</a:t>
            </a:r>
            <a:r>
              <a:rPr>
                <a:solidFill>
                  <a:srgbClr val="8B888F"/>
                </a:solidFill>
              </a:rPr>
              <a:t>")</a:t>
            </a:r>
          </a:p>
        </p:txBody>
      </p:sp>
      <p:pic>
        <p:nvPicPr>
          <p:cNvPr id="212" name="output.png" descr="outpu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782630" y="5656636"/>
            <a:ext cx="8931786" cy="456172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MEASURE Q hello world"/>
          <p:cNvSpPr txBox="1"/>
          <p:nvPr>
            <p:ph type="title"/>
          </p:nvPr>
        </p:nvSpPr>
        <p:spPr>
          <a:xfrm>
            <a:off x="673100" y="304800"/>
            <a:ext cx="23050500" cy="2921000"/>
          </a:xfrm>
          <a:prstGeom prst="rect">
            <a:avLst/>
          </a:prstGeom>
        </p:spPr>
        <p:txBody>
          <a:bodyPr/>
          <a:lstStyle/>
          <a:p>
            <a:pPr/>
            <a:r>
              <a:t>MEASURE Q hello world</a:t>
            </a:r>
          </a:p>
        </p:txBody>
      </p:sp>
      <p:sp>
        <p:nvSpPr>
          <p:cNvPr id="215" name="Rounded Rectangle"/>
          <p:cNvSpPr/>
          <p:nvPr/>
        </p:nvSpPr>
        <p:spPr>
          <a:xfrm>
            <a:off x="1397000" y="38100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16" name="# SIMULATOR…"/>
          <p:cNvSpPr txBox="1"/>
          <p:nvPr/>
        </p:nvSpPr>
        <p:spPr>
          <a:xfrm>
            <a:off x="1791307" y="5340349"/>
            <a:ext cx="14097001" cy="519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i="1" sz="32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# SIMULATOR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qiskit_aer</a:t>
            </a:r>
            <a:r>
              <a:rPr>
                <a:solidFill>
                  <a:srgbClr val="8B888F"/>
                </a:solidFill>
              </a:rPr>
              <a:t>.</a:t>
            </a:r>
            <a:r>
              <a:t>primitives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SamplerV2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</a:t>
            </a:r>
            <a:r>
              <a:rPr>
                <a:solidFill>
                  <a:srgbClr val="8B888F"/>
                </a:solidFill>
              </a:rPr>
              <a:t>.</a:t>
            </a:r>
            <a:r>
              <a:t>visualization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plot_histogram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sampler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SamplerV2</a:t>
            </a:r>
            <a:r>
              <a:rPr>
                <a:solidFill>
                  <a:srgbClr val="8B888F"/>
                </a:solidFill>
              </a:rPr>
              <a:t>()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job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sampler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run</a:t>
            </a:r>
            <a:r>
              <a:rPr>
                <a:solidFill>
                  <a:srgbClr val="8B888F"/>
                </a:solidFill>
              </a:rPr>
              <a:t>([</a:t>
            </a:r>
            <a:r>
              <a:t>qc</a:t>
            </a:r>
            <a:r>
              <a:rPr>
                <a:solidFill>
                  <a:srgbClr val="8B888F"/>
                </a:solidFill>
              </a:rPr>
              <a:t>],</a:t>
            </a:r>
            <a:r>
              <a:t> </a:t>
            </a:r>
            <a:r>
              <a:rPr i="1">
                <a:solidFill>
                  <a:srgbClr val="FD9353"/>
                </a:solidFill>
              </a:rPr>
              <a:t>shots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1024</a:t>
            </a:r>
            <a:r>
              <a:rPr>
                <a:solidFill>
                  <a:srgbClr val="8B888F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sim_result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job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result</a:t>
            </a:r>
            <a:r>
              <a:rPr>
                <a:solidFill>
                  <a:srgbClr val="8B888F"/>
                </a:solidFill>
              </a:rPr>
              <a:t>()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7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sim_counts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sim_result</a:t>
            </a:r>
            <a:r>
              <a:rPr>
                <a:solidFill>
                  <a:srgbClr val="8B888F"/>
                </a:solidFill>
              </a:rPr>
              <a:t>[</a:t>
            </a:r>
            <a:r>
              <a:rPr>
                <a:solidFill>
                  <a:srgbClr val="948AE3"/>
                </a:solidFill>
              </a:rPr>
              <a:t>0</a:t>
            </a:r>
            <a:r>
              <a:rPr>
                <a:solidFill>
                  <a:srgbClr val="8B888F"/>
                </a:solidFill>
              </a:rPr>
              <a:t>].</a:t>
            </a:r>
            <a:r>
              <a:t>data</a:t>
            </a:r>
            <a:r>
              <a:rPr>
                <a:solidFill>
                  <a:srgbClr val="8B888F"/>
                </a:solidFill>
              </a:rPr>
              <a:t>.</a:t>
            </a:r>
            <a:r>
              <a:t>meas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get_counts</a:t>
            </a:r>
            <a:r>
              <a:rPr>
                <a:solidFill>
                  <a:srgbClr val="8B888F"/>
                </a:solidFill>
              </a:rPr>
              <a:t>()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plot_histogram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F7F1FF"/>
                </a:solidFill>
              </a:rPr>
              <a:t>sim_counts</a:t>
            </a:r>
            <a:r>
              <a:rPr>
                <a:solidFill>
                  <a:srgbClr val="8B888F"/>
                </a:solidFill>
              </a:rPr>
              <a:t>,</a:t>
            </a:r>
            <a:r>
              <a:rPr>
                <a:solidFill>
                  <a:srgbClr val="F7F1FF"/>
                </a:solidFill>
              </a:rPr>
              <a:t> </a:t>
            </a:r>
            <a:r>
              <a:rPr i="1">
                <a:solidFill>
                  <a:srgbClr val="FD9353"/>
                </a:solidFill>
              </a:rPr>
              <a:t>color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orange</a:t>
            </a:r>
            <a:r>
              <a:rPr>
                <a:solidFill>
                  <a:srgbClr val="8B888F"/>
                </a:solidFill>
              </a:rPr>
              <a:t>")</a:t>
            </a:r>
          </a:p>
        </p:txBody>
      </p:sp>
      <p:pic>
        <p:nvPicPr>
          <p:cNvPr id="217" name="full_distrib.png" descr="full_distrib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323768" y="3999198"/>
            <a:ext cx="10558002" cy="787660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quantum hello world"/>
          <p:cNvSpPr txBox="1"/>
          <p:nvPr>
            <p:ph type="title"/>
          </p:nvPr>
        </p:nvSpPr>
        <p:spPr>
          <a:xfrm>
            <a:off x="673100" y="304800"/>
            <a:ext cx="23050500" cy="2921000"/>
          </a:xfrm>
          <a:prstGeom prst="rect">
            <a:avLst/>
          </a:prstGeom>
        </p:spPr>
        <p:txBody>
          <a:bodyPr/>
          <a:lstStyle/>
          <a:p>
            <a:pPr/>
            <a:r>
              <a:t>quantum hello world</a:t>
            </a:r>
          </a:p>
        </p:txBody>
      </p:sp>
      <p:sp>
        <p:nvSpPr>
          <p:cNvPr id="220" name="Rounded Rectangle"/>
          <p:cNvSpPr/>
          <p:nvPr/>
        </p:nvSpPr>
        <p:spPr>
          <a:xfrm>
            <a:off x="1397000" y="38100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21" name="# Circuit…"/>
          <p:cNvSpPr txBox="1"/>
          <p:nvPr/>
        </p:nvSpPr>
        <p:spPr>
          <a:xfrm>
            <a:off x="1600952" y="4115518"/>
            <a:ext cx="10626994" cy="2298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69676C"/>
                </a:solidFill>
              </a:rPr>
              <a:t># Circuit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6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qc</a:t>
            </a:r>
            <a:r>
              <a:rPr>
                <a:solidFill>
                  <a:srgbClr val="8B888F"/>
                </a:solidFill>
              </a:rPr>
              <a:t>:</a:t>
            </a:r>
            <a:r>
              <a:t> QuantumCircuit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</a:t>
            </a:r>
            <a:r>
              <a:rPr>
                <a:solidFill>
                  <a:srgbClr val="7BD88F"/>
                </a:solidFill>
              </a:rPr>
              <a:t>QuantumCircuit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qc</a:t>
            </a:r>
            <a:r>
              <a:rPr>
                <a:solidFill>
                  <a:srgbClr val="8B888F"/>
                </a:solidFill>
              </a:rPr>
              <a:t>.</a:t>
            </a:r>
            <a:r>
              <a:t>measure_all</a:t>
            </a:r>
            <a:r>
              <a:rPr>
                <a:solidFill>
                  <a:srgbClr val="8B888F"/>
                </a:solidFill>
              </a:rPr>
              <a:t>()</a:t>
            </a:r>
            <a:endParaRPr>
              <a:solidFill>
                <a:srgbClr val="F7F1FF"/>
              </a:solidFill>
            </a:endParaRPr>
          </a:p>
        </p:txBody>
      </p:sp>
      <p:pic>
        <p:nvPicPr>
          <p:cNvPr id="222" name="qc_0.png" descr="qc_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08646" y="6063445"/>
            <a:ext cx="8211606" cy="5782136"/>
          </a:xfrm>
          <a:prstGeom prst="rect">
            <a:avLst/>
          </a:prstGeom>
          <a:ln w="12700">
            <a:miter lim="400000"/>
          </a:ln>
        </p:spPr>
      </p:pic>
      <p:pic>
        <p:nvPicPr>
          <p:cNvPr id="223" name="qc_1.png" descr="qc_1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299373" y="4032250"/>
            <a:ext cx="10469393" cy="7810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4" name="Line"/>
          <p:cNvSpPr/>
          <p:nvPr/>
        </p:nvSpPr>
        <p:spPr>
          <a:xfrm>
            <a:off x="10248451" y="9106826"/>
            <a:ext cx="7447230" cy="2457395"/>
          </a:xfrm>
          <a:prstGeom prst="line">
            <a:avLst/>
          </a:prstGeom>
          <a:ln w="635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  <p:sp>
        <p:nvSpPr>
          <p:cNvPr id="225" name="Line"/>
          <p:cNvSpPr/>
          <p:nvPr/>
        </p:nvSpPr>
        <p:spPr>
          <a:xfrm>
            <a:off x="9046363" y="7611012"/>
            <a:ext cx="8825208" cy="3577630"/>
          </a:xfrm>
          <a:prstGeom prst="line">
            <a:avLst/>
          </a:prstGeom>
          <a:ln w="635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quantum hello world"/>
          <p:cNvSpPr txBox="1"/>
          <p:nvPr>
            <p:ph type="title"/>
          </p:nvPr>
        </p:nvSpPr>
        <p:spPr>
          <a:xfrm>
            <a:off x="673100" y="304800"/>
            <a:ext cx="23050500" cy="2921000"/>
          </a:xfrm>
          <a:prstGeom prst="rect">
            <a:avLst/>
          </a:prstGeom>
        </p:spPr>
        <p:txBody>
          <a:bodyPr/>
          <a:lstStyle/>
          <a:p>
            <a:pPr/>
            <a:r>
              <a:t>quantum hello world</a:t>
            </a:r>
          </a:p>
        </p:txBody>
      </p:sp>
      <p:sp>
        <p:nvSpPr>
          <p:cNvPr id="228" name="Rounded Rectangle"/>
          <p:cNvSpPr/>
          <p:nvPr/>
        </p:nvSpPr>
        <p:spPr>
          <a:xfrm>
            <a:off x="1397000" y="38100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29" name="# Circuit…"/>
          <p:cNvSpPr txBox="1"/>
          <p:nvPr/>
        </p:nvSpPr>
        <p:spPr>
          <a:xfrm>
            <a:off x="1600952" y="3944068"/>
            <a:ext cx="10626994" cy="264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69676C"/>
                </a:solidFill>
              </a:rPr>
              <a:t># Circuit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qc</a:t>
            </a:r>
            <a:r>
              <a:rPr>
                <a:solidFill>
                  <a:srgbClr val="8B888F"/>
                </a:solidFill>
              </a:rPr>
              <a:t>:</a:t>
            </a:r>
            <a:r>
              <a:t> QuantumCircuit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</a:t>
            </a:r>
            <a:r>
              <a:rPr>
                <a:solidFill>
                  <a:srgbClr val="7BD88F"/>
                </a:solidFill>
              </a:rPr>
              <a:t>QuantumCircuit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)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4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qc</a:t>
            </a:r>
            <a:r>
              <a:rPr i="0">
                <a:solidFill>
                  <a:srgbClr val="8B888F"/>
                </a:solidFill>
              </a:rPr>
              <a:t>.</a:t>
            </a:r>
            <a:r>
              <a:rPr i="0">
                <a:solidFill>
                  <a:srgbClr val="7BD88F"/>
                </a:solidFill>
              </a:rPr>
              <a:t>h</a:t>
            </a:r>
            <a:r>
              <a:rPr i="0">
                <a:solidFill>
                  <a:srgbClr val="8B888F"/>
                </a:solidFill>
              </a:rPr>
              <a:t>(</a:t>
            </a:r>
            <a:r>
              <a:rPr i="0">
                <a:solidFill>
                  <a:srgbClr val="948AE3"/>
                </a:solidFill>
              </a:rPr>
              <a:t>0</a:t>
            </a:r>
            <a:r>
              <a:rPr i="0">
                <a:solidFill>
                  <a:srgbClr val="8B888F"/>
                </a:solidFill>
              </a:rPr>
              <a:t>)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t># Hadamard gate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qc</a:t>
            </a:r>
            <a:r>
              <a:rPr>
                <a:solidFill>
                  <a:srgbClr val="8B888F"/>
                </a:solidFill>
              </a:rPr>
              <a:t>.</a:t>
            </a:r>
            <a:r>
              <a:t>measure_all</a:t>
            </a:r>
            <a:r>
              <a:rPr>
                <a:solidFill>
                  <a:srgbClr val="8B888F"/>
                </a:solidFill>
              </a:rPr>
              <a:t>()</a:t>
            </a:r>
            <a:endParaRPr>
              <a:solidFill>
                <a:srgbClr val="F7F1FF"/>
              </a:solidFill>
            </a:endParaRPr>
          </a:p>
        </p:txBody>
      </p:sp>
      <p:pic>
        <p:nvPicPr>
          <p:cNvPr id="230" name="qc_2.png" descr="qc_2.png"/>
          <p:cNvPicPr>
            <a:picLocks noChangeAspect="1"/>
          </p:cNvPicPr>
          <p:nvPr/>
        </p:nvPicPr>
        <p:blipFill>
          <a:blip r:embed="rId2">
            <a:extLst/>
          </a:blip>
          <a:srcRect l="11372" t="0" r="4547" b="0"/>
          <a:stretch>
            <a:fillRect/>
          </a:stretch>
        </p:blipFill>
        <p:spPr>
          <a:xfrm>
            <a:off x="2808646" y="6063445"/>
            <a:ext cx="8211606" cy="5782136"/>
          </a:xfrm>
          <a:prstGeom prst="rect">
            <a:avLst/>
          </a:prstGeom>
          <a:ln w="12700">
            <a:miter lim="400000"/>
          </a:ln>
        </p:spPr>
      </p:pic>
      <p:pic>
        <p:nvPicPr>
          <p:cNvPr id="231" name="qc_3.png" descr="qc_3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12299372" y="4032250"/>
            <a:ext cx="10469393" cy="7810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2" name="Line"/>
          <p:cNvSpPr/>
          <p:nvPr/>
        </p:nvSpPr>
        <p:spPr>
          <a:xfrm>
            <a:off x="9082018" y="7644155"/>
            <a:ext cx="5937623" cy="3626723"/>
          </a:xfrm>
          <a:prstGeom prst="line">
            <a:avLst/>
          </a:prstGeom>
          <a:ln w="635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  <p:sp>
        <p:nvSpPr>
          <p:cNvPr id="233" name="Line"/>
          <p:cNvSpPr/>
          <p:nvPr/>
        </p:nvSpPr>
        <p:spPr>
          <a:xfrm>
            <a:off x="9046363" y="7611011"/>
            <a:ext cx="11602068" cy="3611985"/>
          </a:xfrm>
          <a:prstGeom prst="line">
            <a:avLst/>
          </a:prstGeom>
          <a:ln w="635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quantum hello world"/>
          <p:cNvSpPr txBox="1"/>
          <p:nvPr>
            <p:ph type="title"/>
          </p:nvPr>
        </p:nvSpPr>
        <p:spPr>
          <a:xfrm>
            <a:off x="673100" y="304800"/>
            <a:ext cx="23050500" cy="2921000"/>
          </a:xfrm>
          <a:prstGeom prst="rect">
            <a:avLst/>
          </a:prstGeom>
        </p:spPr>
        <p:txBody>
          <a:bodyPr/>
          <a:lstStyle/>
          <a:p>
            <a:pPr/>
            <a:r>
              <a:t>quantum hello world</a:t>
            </a:r>
          </a:p>
        </p:txBody>
      </p:sp>
      <p:sp>
        <p:nvSpPr>
          <p:cNvPr id="236" name="Rounded Rectangle"/>
          <p:cNvSpPr/>
          <p:nvPr/>
        </p:nvSpPr>
        <p:spPr>
          <a:xfrm>
            <a:off x="1397000" y="38100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37" name="# Circuit…"/>
          <p:cNvSpPr txBox="1"/>
          <p:nvPr/>
        </p:nvSpPr>
        <p:spPr>
          <a:xfrm>
            <a:off x="1600952" y="3956768"/>
            <a:ext cx="10626994" cy="2616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69676C"/>
                </a:solidFill>
              </a:rPr>
              <a:t># Circuit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qc</a:t>
            </a:r>
            <a:r>
              <a:rPr>
                <a:solidFill>
                  <a:srgbClr val="8B888F"/>
                </a:solidFill>
              </a:rPr>
              <a:t>:</a:t>
            </a:r>
            <a:r>
              <a:t> QuantumCircuit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</a:t>
            </a:r>
            <a:r>
              <a:rPr>
                <a:solidFill>
                  <a:srgbClr val="7BD88F"/>
                </a:solidFill>
              </a:rPr>
              <a:t>QuantumCircuit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)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28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qc</a:t>
            </a:r>
            <a:r>
              <a:rPr i="0">
                <a:solidFill>
                  <a:srgbClr val="8B888F"/>
                </a:solidFill>
              </a:rPr>
              <a:t>.</a:t>
            </a:r>
            <a:r>
              <a:rPr i="0">
                <a:solidFill>
                  <a:srgbClr val="7BD88F"/>
                </a:solidFill>
              </a:rPr>
              <a:t>h</a:t>
            </a:r>
            <a:r>
              <a:rPr i="0">
                <a:solidFill>
                  <a:srgbClr val="8B888F"/>
                </a:solidFill>
              </a:rPr>
              <a:t>(</a:t>
            </a:r>
            <a:r>
              <a:rPr i="0">
                <a:solidFill>
                  <a:srgbClr val="948AE3"/>
                </a:solidFill>
              </a:rPr>
              <a:t>0</a:t>
            </a:r>
            <a:r>
              <a:rPr i="0">
                <a:solidFill>
                  <a:srgbClr val="8B888F"/>
                </a:solidFill>
              </a:rPr>
              <a:t>)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t># Hadamard gate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28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qc</a:t>
            </a:r>
            <a:r>
              <a:rPr i="0">
                <a:solidFill>
                  <a:srgbClr val="8B888F"/>
                </a:solidFill>
              </a:rPr>
              <a:t>.</a:t>
            </a:r>
            <a:r>
              <a:rPr i="0">
                <a:solidFill>
                  <a:srgbClr val="7BD88F"/>
                </a:solidFill>
              </a:rPr>
              <a:t>cx</a:t>
            </a:r>
            <a:r>
              <a:rPr i="0">
                <a:solidFill>
                  <a:srgbClr val="8B888F"/>
                </a:solidFill>
              </a:rPr>
              <a:t>(</a:t>
            </a:r>
            <a:r>
              <a:rPr i="0">
                <a:solidFill>
                  <a:srgbClr val="948AE3"/>
                </a:solidFill>
              </a:rPr>
              <a:t>0</a:t>
            </a:r>
            <a:r>
              <a:rPr i="0">
                <a:solidFill>
                  <a:srgbClr val="8B888F"/>
                </a:solidFill>
              </a:rPr>
              <a:t>,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rPr i="0">
                <a:solidFill>
                  <a:srgbClr val="948AE3"/>
                </a:solidFill>
              </a:rPr>
              <a:t>1</a:t>
            </a:r>
            <a:r>
              <a:rPr i="0">
                <a:solidFill>
                  <a:srgbClr val="8B888F"/>
                </a:solidFill>
              </a:rPr>
              <a:t>)</a:t>
            </a:r>
            <a:r>
              <a:rPr i="0">
                <a:solidFill>
                  <a:srgbClr val="F7F1FF"/>
                </a:solidFill>
              </a:rPr>
              <a:t> </a:t>
            </a:r>
            <a:r>
              <a:t># Controlled not gate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28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qc</a:t>
            </a:r>
            <a:r>
              <a:rPr>
                <a:solidFill>
                  <a:srgbClr val="8B888F"/>
                </a:solidFill>
              </a:rPr>
              <a:t>.</a:t>
            </a:r>
            <a:r>
              <a:t>measure_all</a:t>
            </a:r>
            <a:r>
              <a:rPr>
                <a:solidFill>
                  <a:srgbClr val="8B888F"/>
                </a:solidFill>
              </a:rPr>
              <a:t>()</a:t>
            </a:r>
            <a:endParaRPr>
              <a:solidFill>
                <a:srgbClr val="F7F1FF"/>
              </a:solidFill>
            </a:endParaRPr>
          </a:p>
        </p:txBody>
      </p:sp>
      <p:pic>
        <p:nvPicPr>
          <p:cNvPr id="238" name="output.png" descr="output.png"/>
          <p:cNvPicPr>
            <a:picLocks noChangeAspect="1"/>
          </p:cNvPicPr>
          <p:nvPr/>
        </p:nvPicPr>
        <p:blipFill>
          <a:blip r:embed="rId2">
            <a:extLst/>
          </a:blip>
          <a:srcRect l="9810" t="0" r="3978" b="0"/>
          <a:stretch>
            <a:fillRect/>
          </a:stretch>
        </p:blipFill>
        <p:spPr>
          <a:xfrm>
            <a:off x="2808646" y="6522153"/>
            <a:ext cx="8211606" cy="4864720"/>
          </a:xfrm>
          <a:prstGeom prst="rect">
            <a:avLst/>
          </a:prstGeom>
          <a:ln w="12700">
            <a:miter lim="400000"/>
          </a:ln>
        </p:spPr>
      </p:pic>
      <p:pic>
        <p:nvPicPr>
          <p:cNvPr id="239" name="qc_5.png" descr="qc_5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12299371" y="4032250"/>
            <a:ext cx="10469393" cy="7810500"/>
          </a:xfrm>
          <a:prstGeom prst="rect">
            <a:avLst/>
          </a:prstGeom>
          <a:ln w="12700">
            <a:miter lim="400000"/>
          </a:ln>
        </p:spPr>
      </p:pic>
      <p:sp>
        <p:nvSpPr>
          <p:cNvPr id="240" name="Line"/>
          <p:cNvSpPr/>
          <p:nvPr/>
        </p:nvSpPr>
        <p:spPr>
          <a:xfrm>
            <a:off x="10610141" y="9325965"/>
            <a:ext cx="4508366" cy="2223647"/>
          </a:xfrm>
          <a:prstGeom prst="line">
            <a:avLst/>
          </a:prstGeom>
          <a:ln w="635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  <p:sp>
        <p:nvSpPr>
          <p:cNvPr id="241" name="Line"/>
          <p:cNvSpPr/>
          <p:nvPr/>
        </p:nvSpPr>
        <p:spPr>
          <a:xfrm>
            <a:off x="10669158" y="9002513"/>
            <a:ext cx="9939638" cy="2493127"/>
          </a:xfrm>
          <a:prstGeom prst="line">
            <a:avLst/>
          </a:prstGeom>
          <a:ln w="635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un on real hardware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Run on real hardware</a:t>
            </a:r>
          </a:p>
        </p:txBody>
      </p:sp>
      <p:sp>
        <p:nvSpPr>
          <p:cNvPr id="244" name="Quantum hello world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Quantum hello world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Find QPU"/>
          <p:cNvSpPr txBox="1"/>
          <p:nvPr>
            <p:ph type="title"/>
          </p:nvPr>
        </p:nvSpPr>
        <p:spPr>
          <a:xfrm>
            <a:off x="673100" y="304800"/>
            <a:ext cx="23050500" cy="2921000"/>
          </a:xfrm>
          <a:prstGeom prst="rect">
            <a:avLst/>
          </a:prstGeom>
        </p:spPr>
        <p:txBody>
          <a:bodyPr/>
          <a:lstStyle/>
          <a:p>
            <a:pPr/>
            <a:r>
              <a:t>Find QPU</a:t>
            </a:r>
          </a:p>
        </p:txBody>
      </p:sp>
      <p:sp>
        <p:nvSpPr>
          <p:cNvPr id="247" name="Rounded Rectangle"/>
          <p:cNvSpPr/>
          <p:nvPr/>
        </p:nvSpPr>
        <p:spPr>
          <a:xfrm>
            <a:off x="1397000" y="38100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48" name="from qiskit_ibm_runtime import QiskitRuntimeService…"/>
          <p:cNvSpPr txBox="1"/>
          <p:nvPr/>
        </p:nvSpPr>
        <p:spPr>
          <a:xfrm>
            <a:off x="1791307" y="4076700"/>
            <a:ext cx="13625117" cy="772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qiskit_ibm_runtime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QiskitRuntimeService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service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QiskitRuntimeService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CE566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    </a:t>
            </a:r>
            <a:r>
              <a:rPr i="1">
                <a:solidFill>
                  <a:srgbClr val="FD9353"/>
                </a:solidFill>
              </a:rPr>
              <a:t>channel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"</a:t>
            </a:r>
            <a:r>
              <a:t>ibm_quantum_platform</a:t>
            </a:r>
            <a:r>
              <a:rPr>
                <a:solidFill>
                  <a:srgbClr val="8B888F"/>
                </a:solidFill>
              </a:rPr>
              <a:t>",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    </a:t>
            </a:r>
            <a:r>
              <a:rPr i="1"/>
              <a:t>token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TOKEN</a:t>
            </a:r>
            <a:r>
              <a:rPr>
                <a:solidFill>
                  <a:srgbClr val="8B888F"/>
                </a:solidFill>
              </a:rPr>
              <a:t>,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4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    </a:t>
            </a:r>
            <a:r>
              <a:t>instance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8B888F"/>
                </a:solidFill>
              </a:rPr>
              <a:t>'</a:t>
            </a:r>
            <a:r>
              <a:rPr i="0">
                <a:solidFill>
                  <a:srgbClr val="FCE566"/>
                </a:solidFill>
              </a:rPr>
              <a:t>auto</a:t>
            </a:r>
            <a:r>
              <a:rPr i="0">
                <a:solidFill>
                  <a:srgbClr val="8B888F"/>
                </a:solidFill>
              </a:rPr>
              <a:t>',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8B8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4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# 1. Select a real quantum processor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backend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service</a:t>
            </a:r>
            <a:r>
              <a:rPr>
                <a:solidFill>
                  <a:srgbClr val="8B888F"/>
                </a:solidFill>
              </a:rPr>
              <a:t>.</a:t>
            </a:r>
            <a:r>
              <a:t>least_busy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4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    </a:t>
            </a:r>
            <a:r>
              <a:t>operational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948AE3"/>
                </a:solidFill>
              </a:rPr>
              <a:t>True</a:t>
            </a:r>
            <a:r>
              <a:rPr i="0">
                <a:solidFill>
                  <a:srgbClr val="8B888F"/>
                </a:solidFill>
              </a:rPr>
              <a:t>,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4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    </a:t>
            </a:r>
            <a:r>
              <a:t>simulator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948AE3"/>
                </a:solidFill>
              </a:rPr>
              <a:t>False</a:t>
            </a:r>
            <a:r>
              <a:rPr i="0">
                <a:solidFill>
                  <a:srgbClr val="8B888F"/>
                </a:solidFill>
              </a:rPr>
              <a:t>,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4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    </a:t>
            </a:r>
            <a:r>
              <a:t>min_num_qubits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948AE3"/>
                </a:solidFill>
              </a:rPr>
              <a:t>2</a:t>
            </a:r>
            <a:r>
              <a:rPr i="0">
                <a:solidFill>
                  <a:srgbClr val="8B888F"/>
                </a:solidFill>
              </a:rPr>
              <a:t>,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8B8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CE566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7BD88F"/>
                </a:solidFill>
              </a:rPr>
              <a:t>print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5AD4E6"/>
                </a:solidFill>
              </a:rPr>
              <a:t>f</a:t>
            </a:r>
            <a:r>
              <a:t>"Selected QPU: </a:t>
            </a:r>
            <a:r>
              <a:rPr>
                <a:solidFill>
                  <a:srgbClr val="948AE3"/>
                </a:solidFill>
              </a:rPr>
              <a:t>{</a:t>
            </a:r>
            <a:r>
              <a:rPr>
                <a:solidFill>
                  <a:srgbClr val="F7F1FF"/>
                </a:solidFill>
              </a:rPr>
              <a:t>backend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F7F1FF"/>
                </a:solidFill>
              </a:rPr>
              <a:t>name</a:t>
            </a:r>
            <a:r>
              <a:rPr>
                <a:solidFill>
                  <a:srgbClr val="948AE3"/>
                </a:solidFill>
              </a:rPr>
              <a:t>}</a:t>
            </a:r>
            <a:r>
              <a:t>"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  <p:sp>
        <p:nvSpPr>
          <p:cNvPr id="249" name="Selected QPU: ibm_marrakesh"/>
          <p:cNvSpPr txBox="1"/>
          <p:nvPr/>
        </p:nvSpPr>
        <p:spPr>
          <a:xfrm>
            <a:off x="17968230" y="7327900"/>
            <a:ext cx="4509394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Selected QPU: ibm_marrakesh</a:t>
            </a:r>
          </a:p>
        </p:txBody>
      </p:sp>
      <p:sp>
        <p:nvSpPr>
          <p:cNvPr id="250" name="Line"/>
          <p:cNvSpPr/>
          <p:nvPr/>
        </p:nvSpPr>
        <p:spPr>
          <a:xfrm flipH="1">
            <a:off x="12462589" y="8814097"/>
            <a:ext cx="7361833" cy="2533254"/>
          </a:xfrm>
          <a:prstGeom prst="line">
            <a:avLst/>
          </a:prstGeom>
          <a:ln w="1270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ounded Rectangle"/>
          <p:cNvSpPr/>
          <p:nvPr/>
        </p:nvSpPr>
        <p:spPr>
          <a:xfrm>
            <a:off x="76200" y="101600"/>
            <a:ext cx="21590000" cy="8255000"/>
          </a:xfrm>
          <a:prstGeom prst="roundRect">
            <a:avLst>
              <a:gd name="adj" fmla="val 230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53" name="from qiskit.transpiler import generate_preset_pass_manager…"/>
          <p:cNvSpPr txBox="1"/>
          <p:nvPr/>
        </p:nvSpPr>
        <p:spPr>
          <a:xfrm>
            <a:off x="445107" y="203199"/>
            <a:ext cx="15794237" cy="805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</a:t>
            </a:r>
            <a:r>
              <a:rPr>
                <a:solidFill>
                  <a:srgbClr val="8B888F"/>
                </a:solidFill>
              </a:rPr>
              <a:t>.</a:t>
            </a:r>
            <a:r>
              <a:t>transpiler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generate_preset_pass_manager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1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8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# 2. Adapt the circuit to IBM hardware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pm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generate_preset_pass_manager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    </a:t>
            </a:r>
            <a:r>
              <a:rPr i="1"/>
              <a:t>backend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backend</a:t>
            </a:r>
            <a:r>
              <a:rPr>
                <a:solidFill>
                  <a:srgbClr val="8B888F"/>
                </a:solidFill>
              </a:rPr>
              <a:t>,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8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    </a:t>
            </a:r>
            <a:r>
              <a:t>optimization_level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948AE3"/>
                </a:solidFill>
              </a:rPr>
              <a:t>1</a:t>
            </a:r>
            <a:r>
              <a:rPr i="0">
                <a:solidFill>
                  <a:srgbClr val="8B888F"/>
                </a:solidFill>
              </a:rPr>
              <a:t>,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8B8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isa_qc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pm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run</a:t>
            </a:r>
            <a:r>
              <a:rPr>
                <a:solidFill>
                  <a:srgbClr val="8B888F"/>
                </a:solidFill>
              </a:rPr>
              <a:t>(</a:t>
            </a:r>
            <a:r>
              <a:t>qc</a:t>
            </a:r>
            <a:r>
              <a:rPr>
                <a:solidFill>
                  <a:srgbClr val="8B888F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800">
                <a:solidFill>
                  <a:srgbClr val="69676C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# 3. Execute on a real quantum computer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sampler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IBMSampler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FD9353"/>
                </a:solidFill>
              </a:rPr>
              <a:t>mode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backend</a:t>
            </a:r>
            <a:r>
              <a:rPr>
                <a:solidFill>
                  <a:srgbClr val="8B888F"/>
                </a:solidFill>
              </a:rPr>
              <a:t>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job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sampler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run</a:t>
            </a:r>
            <a:r>
              <a:rPr>
                <a:solidFill>
                  <a:srgbClr val="8B888F"/>
                </a:solidFill>
              </a:rPr>
              <a:t>([</a:t>
            </a:r>
            <a:r>
              <a:t>isa_qc</a:t>
            </a:r>
            <a:r>
              <a:rPr>
                <a:solidFill>
                  <a:srgbClr val="8B888F"/>
                </a:solidFill>
              </a:rPr>
              <a:t>],</a:t>
            </a:r>
            <a:r>
              <a:t> </a:t>
            </a:r>
            <a:r>
              <a:rPr i="1">
                <a:solidFill>
                  <a:srgbClr val="FD9353"/>
                </a:solidFill>
              </a:rPr>
              <a:t>shots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1024</a:t>
            </a:r>
            <a:r>
              <a:rPr>
                <a:solidFill>
                  <a:srgbClr val="8B888F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CE566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7BD88F"/>
                </a:solidFill>
              </a:rPr>
              <a:t>print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5AD4E6"/>
                </a:solidFill>
              </a:rPr>
              <a:t>f</a:t>
            </a:r>
            <a:r>
              <a:t>"Job ID: </a:t>
            </a:r>
            <a:r>
              <a:rPr>
                <a:solidFill>
                  <a:srgbClr val="948AE3"/>
                </a:solidFill>
              </a:rPr>
              <a:t>{</a:t>
            </a:r>
            <a:r>
              <a:rPr>
                <a:solidFill>
                  <a:srgbClr val="F7F1FF"/>
                </a:solidFill>
              </a:rPr>
              <a:t>job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job_id</a:t>
            </a:r>
            <a:r>
              <a:rPr>
                <a:solidFill>
                  <a:srgbClr val="8B888F"/>
                </a:solidFill>
              </a:rPr>
              <a:t>()</a:t>
            </a:r>
            <a:r>
              <a:rPr>
                <a:solidFill>
                  <a:srgbClr val="948AE3"/>
                </a:solidFill>
              </a:rPr>
              <a:t>}</a:t>
            </a:r>
            <a:r>
              <a:t>"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  <p:sp>
        <p:nvSpPr>
          <p:cNvPr id="254" name="Job ID: db75vbur6oqs7386r6tg"/>
          <p:cNvSpPr txBox="1"/>
          <p:nvPr/>
        </p:nvSpPr>
        <p:spPr>
          <a:xfrm>
            <a:off x="15291209" y="3619500"/>
            <a:ext cx="5967215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457200">
              <a:lnSpc>
                <a:spcPct val="100000"/>
              </a:lnSpc>
              <a:spcBef>
                <a:spcPts val="0"/>
              </a:spcBef>
              <a:defRPr sz="38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Job ID: db75vbur6oqs7386r6tg</a:t>
            </a:r>
          </a:p>
        </p:txBody>
      </p:sp>
      <p:sp>
        <p:nvSpPr>
          <p:cNvPr id="255" name="Line"/>
          <p:cNvSpPr/>
          <p:nvPr/>
        </p:nvSpPr>
        <p:spPr>
          <a:xfrm flipH="1">
            <a:off x="9846388" y="4930179"/>
            <a:ext cx="7405589" cy="2835773"/>
          </a:xfrm>
          <a:prstGeom prst="line">
            <a:avLst/>
          </a:prstGeom>
          <a:ln w="1270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  <p:pic>
        <p:nvPicPr>
          <p:cNvPr id="256" name="Screenshot 2026-10-14 at 00.04.02.png" descr="Screenshot 2026-10-14 at 00.04.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20316" y="8391626"/>
            <a:ext cx="20096017" cy="5292128"/>
          </a:xfrm>
          <a:prstGeom prst="rect">
            <a:avLst/>
          </a:prstGeom>
          <a:ln w="12700">
            <a:miter lim="400000"/>
          </a:ln>
        </p:spPr>
      </p:pic>
      <p:sp>
        <p:nvSpPr>
          <p:cNvPr id="257" name="Line"/>
          <p:cNvSpPr/>
          <p:nvPr/>
        </p:nvSpPr>
        <p:spPr>
          <a:xfrm flipH="1">
            <a:off x="6874589" y="4923192"/>
            <a:ext cx="10598828" cy="7160760"/>
          </a:xfrm>
          <a:prstGeom prst="line">
            <a:avLst/>
          </a:prstGeom>
          <a:ln w="127000">
            <a:solidFill>
              <a:srgbClr val="AB1802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/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ounded Rectangle"/>
          <p:cNvSpPr/>
          <p:nvPr/>
        </p:nvSpPr>
        <p:spPr>
          <a:xfrm>
            <a:off x="304800" y="254000"/>
            <a:ext cx="23774400" cy="13208000"/>
          </a:xfrm>
          <a:prstGeom prst="roundRect">
            <a:avLst>
              <a:gd name="adj" fmla="val 1588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260" name="sim_vs_real.png" descr="sim_vs_re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561894" y="409432"/>
            <a:ext cx="17260212" cy="1289713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VQ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Variational Quantum Eigensolver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Variational Quantum Eigensolver</a:t>
            </a:r>
          </a:p>
        </p:txBody>
      </p:sp>
      <p:sp>
        <p:nvSpPr>
          <p:cNvPr id="265" name="A hybrid quantum-classical algorithm for finding minimum-energy states.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5300"/>
              </a:spcBef>
              <a:buSzTx/>
              <a:buNone/>
              <a:defRPr sz="5200"/>
            </a:pPr>
            <a:r>
              <a:t>A hybrid quantum-classical algorithm for finding minimum-energy states.</a:t>
            </a:r>
            <a:br/>
            <a:br/>
          </a:p>
          <a:p>
            <a:pPr marL="1515533" indent="-1375833">
              <a:lnSpc>
                <a:spcPct val="100000"/>
              </a:lnSpc>
              <a:spcBef>
                <a:spcPts val="5300"/>
              </a:spcBef>
              <a:buClr>
                <a:srgbClr val="535353"/>
              </a:buClr>
              <a:buFont typeface="Times Roman"/>
              <a:defRPr sz="5200"/>
            </a:pPr>
            <a:r>
              <a:t>Quantum part: Prepares quantum states and measures their energy.</a:t>
            </a:r>
          </a:p>
          <a:p>
            <a:pPr marL="1515533" indent="-1375833">
              <a:lnSpc>
                <a:spcPct val="100000"/>
              </a:lnSpc>
              <a:spcBef>
                <a:spcPts val="5300"/>
              </a:spcBef>
              <a:buClr>
                <a:srgbClr val="535353"/>
              </a:buClr>
              <a:buFont typeface="Times Roman"/>
              <a:defRPr sz="5200"/>
            </a:pPr>
            <a:r>
              <a:t>Classical part: Optimizes the quantum circuit parameters to minimize energy.</a:t>
            </a:r>
          </a:p>
          <a:p>
            <a:pPr marL="0" indent="0">
              <a:lnSpc>
                <a:spcPct val="100000"/>
              </a:lnSpc>
              <a:spcBef>
                <a:spcPts val="5300"/>
              </a:spcBef>
              <a:buSzTx/>
              <a:buNone/>
              <a:defRPr sz="5200"/>
            </a:pPr>
          </a:p>
          <a:p>
            <a:pPr marL="0" indent="0">
              <a:lnSpc>
                <a:spcPct val="100000"/>
              </a:lnSpc>
              <a:spcBef>
                <a:spcPts val="5300"/>
              </a:spcBef>
              <a:buSzTx/>
              <a:buNone/>
              <a:defRPr sz="5200"/>
            </a:pPr>
            <a:r>
              <a:t>Applications: Optimization problems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tep-by-Step"/>
          <p:cNvSpPr txBox="1"/>
          <p:nvPr>
            <p:ph type="body" idx="21"/>
          </p:nvPr>
        </p:nvSpPr>
        <p:spPr>
          <a:xfrm>
            <a:off x="2387600" y="8001000"/>
            <a:ext cx="19621500" cy="1016000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spcBef>
                <a:spcPts val="6500"/>
              </a:spcBef>
              <a:defRPr sz="6400"/>
            </a:lvl1pPr>
          </a:lstStyle>
          <a:p>
            <a:pPr/>
            <a:r>
              <a:t>Step-by-Step</a:t>
            </a:r>
          </a:p>
        </p:txBody>
      </p:sp>
      <p:sp>
        <p:nvSpPr>
          <p:cNvPr id="268" name="VQE"/>
          <p:cNvSpPr txBox="1"/>
          <p:nvPr>
            <p:ph type="body" idx="22"/>
          </p:nvPr>
        </p:nvSpPr>
        <p:spPr>
          <a:xfrm>
            <a:off x="2374900" y="5543549"/>
            <a:ext cx="19621500" cy="1549401"/>
          </a:xfrm>
          <a:prstGeom prst="rect">
            <a:avLst/>
          </a:prstGeom>
        </p:spPr>
        <p:txBody>
          <a:bodyPr/>
          <a:lstStyle>
            <a:lvl1pPr>
              <a:defRPr cap="all" sz="10000"/>
            </a:lvl1pPr>
          </a:lstStyle>
          <a:p>
            <a:pPr/>
            <a:r>
              <a:t>VQE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VQE step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1</a:t>
            </a:r>
          </a:p>
        </p:txBody>
      </p:sp>
      <p:sp>
        <p:nvSpPr>
          <p:cNvPr id="271" name="Define the Problem"/>
          <p:cNvSpPr txBox="1"/>
          <p:nvPr>
            <p:ph type="body" sz="quarter" idx="1"/>
          </p:nvPr>
        </p:nvSpPr>
        <p:spPr>
          <a:xfrm>
            <a:off x="2282622" y="7124598"/>
            <a:ext cx="7829956" cy="22862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Define the Problem</a:t>
            </a:r>
          </a:p>
        </p:txBody>
      </p:sp>
      <p:sp>
        <p:nvSpPr>
          <p:cNvPr id="272" name="Equation"/>
          <p:cNvSpPr txBox="1"/>
          <p:nvPr/>
        </p:nvSpPr>
        <p:spPr>
          <a:xfrm>
            <a:off x="13267024" y="6496303"/>
            <a:ext cx="9127552" cy="72339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max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3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4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  <p:sp>
        <p:nvSpPr>
          <p:cNvPr id="273" name="Equation"/>
          <p:cNvSpPr txBox="1"/>
          <p:nvPr/>
        </p:nvSpPr>
        <p:spPr>
          <a:xfrm>
            <a:off x="16292486" y="9550292"/>
            <a:ext cx="3076629" cy="66974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∈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0,1</m:t>
                  </m:r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VQE step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2</a:t>
            </a:r>
          </a:p>
        </p:txBody>
      </p:sp>
      <p:sp>
        <p:nvSpPr>
          <p:cNvPr id="276" name="Build a Quadratic Program…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pPr>
            <a:r>
              <a:t>Build a Quadratic Program</a:t>
            </a:r>
          </a:p>
          <a:p>
            <a:pPr marL="0" indent="0">
              <a:buSzTx/>
              <a:buNone/>
            </a:pPr>
            <a:r>
              <a:t>Describe the variables and the objective function in a structured mathematical model that would be converted into Qiskit.</a:t>
            </a:r>
          </a:p>
        </p:txBody>
      </p:sp>
      <p:sp>
        <p:nvSpPr>
          <p:cNvPr id="277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78" name="from qiskit_optimization import QuadraticProgram…"/>
          <p:cNvSpPr txBox="1"/>
          <p:nvPr/>
        </p:nvSpPr>
        <p:spPr>
          <a:xfrm>
            <a:off x="11991728" y="3502133"/>
            <a:ext cx="11678143" cy="543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qiskit_optimization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QuadraticProgram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small_problem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QuadraticProgram</a:t>
            </a:r>
            <a:r>
              <a:rPr>
                <a:solidFill>
                  <a:srgbClr val="8B888F"/>
                </a:solidFill>
              </a:rPr>
              <a:t>("</a:t>
            </a:r>
            <a:r>
              <a:rPr>
                <a:solidFill>
                  <a:srgbClr val="FCE566"/>
                </a:solidFill>
              </a:rPr>
              <a:t>Two-qubit VQE</a:t>
            </a:r>
            <a:r>
              <a:rPr>
                <a:solidFill>
                  <a:srgbClr val="8B888F"/>
                </a:solidFill>
              </a:rPr>
              <a:t>")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small_problem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binary_var</a:t>
            </a:r>
            <a:r>
              <a:rPr>
                <a:solidFill>
                  <a:srgbClr val="8B888F"/>
                </a:solidFill>
              </a:rPr>
              <a:t>("</a:t>
            </a:r>
            <a:r>
              <a:rPr>
                <a:solidFill>
                  <a:srgbClr val="FCE566"/>
                </a:solidFill>
              </a:rPr>
              <a:t>a</a:t>
            </a:r>
            <a:r>
              <a:rPr>
                <a:solidFill>
                  <a:srgbClr val="8B888F"/>
                </a:solidFill>
              </a:rPr>
              <a:t>")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small_problem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binary_var</a:t>
            </a:r>
            <a:r>
              <a:rPr>
                <a:solidFill>
                  <a:srgbClr val="8B888F"/>
                </a:solidFill>
              </a:rPr>
              <a:t>("</a:t>
            </a:r>
            <a:r>
              <a:rPr>
                <a:solidFill>
                  <a:srgbClr val="FCE566"/>
                </a:solidFill>
              </a:rPr>
              <a:t>b</a:t>
            </a:r>
            <a:r>
              <a:rPr>
                <a:solidFill>
                  <a:srgbClr val="8B888F"/>
                </a:solidFill>
              </a:rPr>
              <a:t>")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small_problem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maximize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8B888F"/>
              </a:solidFill>
            </a:endParaRPr>
          </a:p>
          <a:p>
            <a:pPr lvl="1"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   </a:t>
            </a:r>
            <a:r>
              <a:rPr i="1">
                <a:solidFill>
                  <a:srgbClr val="FD9353"/>
                </a:solidFill>
              </a:rPr>
              <a:t>linear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{"</a:t>
            </a:r>
            <a:r>
              <a:rPr>
                <a:solidFill>
                  <a:srgbClr val="FCE566"/>
                </a:solidFill>
              </a:rPr>
              <a:t>a</a:t>
            </a:r>
            <a:r>
              <a:rPr>
                <a:solidFill>
                  <a:srgbClr val="8B888F"/>
                </a:solidFill>
              </a:rPr>
              <a:t>":</a:t>
            </a:r>
            <a:r>
              <a:t> </a:t>
            </a:r>
            <a:r>
              <a:rPr>
                <a:solidFill>
                  <a:srgbClr val="948AE3"/>
                </a:solidFill>
              </a:rPr>
              <a:t>3</a:t>
            </a:r>
            <a:r>
              <a:rPr>
                <a:solidFill>
                  <a:srgbClr val="8B888F"/>
                </a:solidFill>
              </a:rPr>
              <a:t>,</a:t>
            </a:r>
            <a:r>
              <a:t> 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b</a:t>
            </a:r>
            <a:r>
              <a:rPr>
                <a:solidFill>
                  <a:srgbClr val="8B888F"/>
                </a:solidFill>
              </a:rPr>
              <a:t>":</a:t>
            </a:r>
            <a:r>
              <a:t> 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},</a:t>
            </a:r>
            <a:r>
              <a:t> </a:t>
            </a:r>
          </a:p>
          <a:p>
            <a:pPr lvl="1"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</a:t>
            </a:r>
            <a:r>
              <a:rPr i="1">
                <a:solidFill>
                  <a:srgbClr val="FD9353"/>
                </a:solidFill>
              </a:rPr>
              <a:t>quadratic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{("</a:t>
            </a:r>
            <a:r>
              <a:rPr>
                <a:solidFill>
                  <a:srgbClr val="FCE566"/>
                </a:solidFill>
              </a:rPr>
              <a:t>a</a:t>
            </a:r>
            <a:r>
              <a:rPr>
                <a:solidFill>
                  <a:srgbClr val="8B888F"/>
                </a:solidFill>
              </a:rPr>
              <a:t>",</a:t>
            </a:r>
            <a:r>
              <a:t> 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b</a:t>
            </a:r>
            <a:r>
              <a:rPr>
                <a:solidFill>
                  <a:srgbClr val="8B888F"/>
                </a:solidFill>
              </a:rPr>
              <a:t>"):</a:t>
            </a:r>
            <a:r>
              <a:t> </a:t>
            </a:r>
            <a:r>
              <a:rPr>
                <a:solidFill>
                  <a:srgbClr val="948AE3"/>
                </a:solidFill>
              </a:rPr>
              <a:t>-4</a:t>
            </a:r>
            <a:r>
              <a:rPr>
                <a:solidFill>
                  <a:srgbClr val="8B888F"/>
                </a:solidFill>
              </a:rPr>
              <a:t>}</a:t>
            </a:r>
            <a:endParaRPr>
              <a:solidFill>
                <a:srgbClr val="8B888F"/>
              </a:solidFill>
            </a:endParaRPr>
          </a:p>
          <a:p>
            <a:pPr lvl="1"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)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7BD88F"/>
                </a:solidFill>
              </a:rPr>
              <a:t>print</a:t>
            </a:r>
            <a:r>
              <a:rPr>
                <a:solidFill>
                  <a:srgbClr val="8B888F"/>
                </a:solidFill>
              </a:rPr>
              <a:t>(</a:t>
            </a:r>
            <a:r>
              <a:t>small_problem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prettyprint</a:t>
            </a:r>
            <a:r>
              <a:rPr>
                <a:solidFill>
                  <a:srgbClr val="8B888F"/>
                </a:solidFill>
              </a:rPr>
              <a:t>())</a:t>
            </a:r>
          </a:p>
        </p:txBody>
      </p:sp>
      <p:pic>
        <p:nvPicPr>
          <p:cNvPr id="279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5411346" y="8649389"/>
            <a:ext cx="4838909" cy="45200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VQE step 3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3</a:t>
            </a:r>
          </a:p>
        </p:txBody>
      </p:sp>
      <p:sp>
        <p:nvSpPr>
          <p:cNvPr id="282" name="Convert to Ising…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pPr>
            <a:r>
              <a:t>Convert to Ising</a:t>
            </a:r>
          </a:p>
          <a:p>
            <a:pPr marL="0" indent="0">
              <a:buSzTx/>
              <a:buNone/>
            </a:pPr>
            <a:r>
              <a:t>Transform the optimization problem into an energy-minimization problem represented by a Hamiltonian.</a:t>
            </a:r>
          </a:p>
        </p:txBody>
      </p:sp>
      <p:sp>
        <p:nvSpPr>
          <p:cNvPr id="283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84" name="cost_operator, _ = small_problem.to_ising()"/>
          <p:cNvSpPr txBox="1"/>
          <p:nvPr/>
        </p:nvSpPr>
        <p:spPr>
          <a:xfrm>
            <a:off x="11991728" y="7962900"/>
            <a:ext cx="11678143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cost_operator</a:t>
            </a:r>
            <a:r>
              <a:rPr>
                <a:solidFill>
                  <a:srgbClr val="8B888F"/>
                </a:solidFill>
              </a:rPr>
              <a:t>,</a:t>
            </a:r>
            <a:r>
              <a:t> _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small_problem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to_ising</a:t>
            </a:r>
            <a:r>
              <a:rPr>
                <a:solidFill>
                  <a:srgbClr val="8B888F"/>
                </a:solidFill>
              </a:rPr>
              <a:t>()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VQE step 4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4</a:t>
            </a:r>
          </a:p>
        </p:txBody>
      </p:sp>
      <p:sp>
        <p:nvSpPr>
          <p:cNvPr id="287" name="Create a Quantum Circuit…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pPr>
            <a:r>
              <a:t>Create a Quantum Circuit</a:t>
            </a:r>
          </a:p>
          <a:p>
            <a: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pPr>
            <a:r>
              <a:t>Build a parameterized circuit (ansatz) that prepares candidate quantum states.</a:t>
            </a:r>
          </a:p>
        </p:txBody>
      </p:sp>
      <p:sp>
        <p:nvSpPr>
          <p:cNvPr id="288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289" name="anzats.png" descr="anzat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081779" y="8424149"/>
            <a:ext cx="11498042" cy="4575011"/>
          </a:xfrm>
          <a:prstGeom prst="rect">
            <a:avLst/>
          </a:prstGeom>
          <a:ln w="12700">
            <a:miter lim="400000"/>
          </a:ln>
        </p:spPr>
      </p:pic>
      <p:sp>
        <p:nvSpPr>
          <p:cNvPr id="290" name="from qiskit.circuit.library import n_local…"/>
          <p:cNvSpPr txBox="1"/>
          <p:nvPr/>
        </p:nvSpPr>
        <p:spPr>
          <a:xfrm>
            <a:off x="11950079" y="3932674"/>
            <a:ext cx="11498042" cy="434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</a:t>
            </a:r>
            <a:r>
              <a:rPr>
                <a:solidFill>
                  <a:srgbClr val="8B888F"/>
                </a:solidFill>
              </a:rPr>
              <a:t>.</a:t>
            </a:r>
            <a:r>
              <a:t>circuit</a:t>
            </a:r>
            <a:r>
              <a:rPr>
                <a:solidFill>
                  <a:srgbClr val="8B888F"/>
                </a:solidFill>
              </a:rPr>
              <a:t>.</a:t>
            </a:r>
            <a:r>
              <a:t>library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n_local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12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small_ansatz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</a:t>
            </a:r>
            <a:r>
              <a:rPr>
                <a:solidFill>
                  <a:srgbClr val="7BD88F"/>
                </a:solidFill>
              </a:rPr>
              <a:t>n_local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  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,</a:t>
            </a:r>
            <a:r>
              <a:t> 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ry</a:t>
            </a:r>
            <a:r>
              <a:rPr>
                <a:solidFill>
                  <a:srgbClr val="8B888F"/>
                </a:solidFill>
              </a:rPr>
              <a:t>",</a:t>
            </a:r>
            <a:r>
              <a:t> 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cz</a:t>
            </a:r>
            <a:r>
              <a:rPr>
                <a:solidFill>
                  <a:srgbClr val="8B888F"/>
                </a:solidFill>
              </a:rPr>
              <a:t>",</a:t>
            </a:r>
            <a:r>
              <a:t> </a:t>
            </a:r>
            <a:r>
              <a:rPr i="1">
                <a:solidFill>
                  <a:srgbClr val="FD9353"/>
                </a:solidFill>
              </a:rPr>
              <a:t>reps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,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  </a:t>
            </a:r>
            <a:r>
              <a:rPr i="1">
                <a:solidFill>
                  <a:srgbClr val="FD9353"/>
                </a:solidFill>
              </a:rPr>
              <a:t>entanglement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“</a:t>
            </a:r>
            <a:r>
              <a:rPr>
                <a:solidFill>
                  <a:srgbClr val="FCE566"/>
                </a:solidFill>
              </a:rPr>
              <a:t>full</a:t>
            </a:r>
            <a:r>
              <a:rPr>
                <a:solidFill>
                  <a:srgbClr val="8B888F"/>
                </a:solidFill>
              </a:rPr>
              <a:t>”,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)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small_ansatz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draw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FD9353"/>
                </a:solidFill>
              </a:rPr>
              <a:t>output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8B888F"/>
                </a:solidFill>
              </a:rPr>
              <a:t>"</a:t>
            </a:r>
            <a:r>
              <a:rPr>
                <a:solidFill>
                  <a:srgbClr val="FCE566"/>
                </a:solidFill>
              </a:rPr>
              <a:t>mpl</a:t>
            </a:r>
            <a:r>
              <a:rPr>
                <a:solidFill>
                  <a:srgbClr val="8B888F"/>
                </a:solidFill>
              </a:rPr>
              <a:t>",</a:t>
            </a:r>
            <a:r>
              <a:t> </a:t>
            </a:r>
            <a:r>
              <a:rPr i="1">
                <a:solidFill>
                  <a:srgbClr val="FD9353"/>
                </a:solidFill>
              </a:rPr>
              <a:t>scale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1.1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VQE step 5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5</a:t>
            </a:r>
          </a:p>
        </p:txBody>
      </p:sp>
      <p:sp>
        <p:nvSpPr>
          <p:cNvPr id="293" name="Run Hybrid Optimization…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pPr>
            <a:r>
              <a:t>Run Hybrid Optimization</a:t>
            </a:r>
          </a:p>
          <a:p>
            <a: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pPr>
            <a:r>
              <a:t>Quantum measurements estimate energy. COBYLA updates circuit parameters to minimize it.</a:t>
            </a:r>
          </a:p>
        </p:txBody>
      </p:sp>
      <p:sp>
        <p:nvSpPr>
          <p:cNvPr id="294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95" name="from qiskit.primitives import StatevectorSampler…"/>
          <p:cNvSpPr txBox="1"/>
          <p:nvPr/>
        </p:nvSpPr>
        <p:spPr>
          <a:xfrm>
            <a:off x="12081778" y="4152899"/>
            <a:ext cx="11498042" cy="822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</a:t>
            </a:r>
            <a:r>
              <a:rPr>
                <a:solidFill>
                  <a:srgbClr val="8B888F"/>
                </a:solidFill>
              </a:rPr>
              <a:t>.</a:t>
            </a:r>
            <a:r>
              <a:t>primitives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StatevectorSampler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qiskit_algorithms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SamplingVQE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small_vqe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SamplingVQE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    </a:t>
            </a:r>
            <a:r>
              <a:rPr i="1">
                <a:solidFill>
                  <a:srgbClr val="FD9353"/>
                </a:solidFill>
              </a:rPr>
              <a:t>sampler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StatevectorSampler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8B888F"/>
              </a:solidFill>
            </a:endParaRPr>
          </a:p>
          <a:p>
            <a:pPr lvl="1"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       </a:t>
            </a:r>
            <a:r>
              <a:rPr i="1">
                <a:solidFill>
                  <a:srgbClr val="FD9353"/>
                </a:solidFill>
              </a:rPr>
              <a:t>default_shots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1024</a:t>
            </a:r>
            <a:r>
              <a:rPr>
                <a:solidFill>
                  <a:srgbClr val="8B888F"/>
                </a:solidFill>
              </a:rPr>
              <a:t>,</a:t>
            </a:r>
            <a:r>
              <a:rPr>
                <a:solidFill>
                  <a:srgbClr val="F7F1FF"/>
                </a:solidFill>
              </a:rPr>
              <a:t> </a:t>
            </a:r>
            <a:r>
              <a:rPr i="1">
                <a:solidFill>
                  <a:srgbClr val="FD9353"/>
                </a:solidFill>
              </a:rPr>
              <a:t>seed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42,</a:t>
            </a:r>
            <a:endParaRPr>
              <a:solidFill>
                <a:srgbClr val="948AE3"/>
              </a:solidFill>
            </a:endParaRPr>
          </a:p>
          <a:p>
            <a:pPr lvl="3"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948AE3"/>
                </a:solidFill>
              </a:rPr>
              <a:t>    </a:t>
            </a:r>
            <a:r>
              <a:rPr>
                <a:solidFill>
                  <a:srgbClr val="8B888F"/>
                </a:solidFill>
              </a:rPr>
              <a:t>),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i="1">
                <a:solidFill>
                  <a:srgbClr val="FD9353"/>
                </a:solidFill>
              </a:rPr>
              <a:t>ansatz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small_ansatz</a:t>
            </a:r>
            <a:r>
              <a:rPr>
                <a:solidFill>
                  <a:srgbClr val="8B888F"/>
                </a:solidFill>
              </a:rPr>
              <a:t>,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i="1" sz="3500">
                <a:solidFill>
                  <a:srgbClr val="FD9353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0">
                <a:solidFill>
                  <a:srgbClr val="F7F1FF"/>
                </a:solidFill>
              </a:rPr>
              <a:t>    </a:t>
            </a:r>
            <a:r>
              <a:t>optimizer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7BD88F"/>
                </a:solidFill>
              </a:rPr>
              <a:t>COBYLA</a:t>
            </a:r>
            <a:r>
              <a:rPr i="0">
                <a:solidFill>
                  <a:srgbClr val="8B888F"/>
                </a:solidFill>
              </a:rPr>
              <a:t>(</a:t>
            </a:r>
            <a:r>
              <a:t>maxiter</a:t>
            </a:r>
            <a:r>
              <a:rPr>
                <a:solidFill>
                  <a:srgbClr val="FC618D"/>
                </a:solidFill>
              </a:rPr>
              <a:t>=</a:t>
            </a:r>
            <a:r>
              <a:rPr i="0">
                <a:solidFill>
                  <a:srgbClr val="948AE3"/>
                </a:solidFill>
              </a:rPr>
              <a:t>20</a:t>
            </a:r>
            <a:r>
              <a:rPr i="0">
                <a:solidFill>
                  <a:srgbClr val="8B888F"/>
                </a:solidFill>
              </a:rPr>
              <a:t>),</a:t>
            </a:r>
            <a:endParaRPr i="0"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</a:t>
            </a:r>
            <a:r>
              <a:rPr i="1">
                <a:solidFill>
                  <a:srgbClr val="FD9353"/>
                </a:solidFill>
              </a:rPr>
              <a:t>callback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record_small_energy</a:t>
            </a:r>
            <a:r>
              <a:rPr>
                <a:solidFill>
                  <a:srgbClr val="8B888F"/>
                </a:solidFill>
              </a:rPr>
              <a:t>,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8B8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small_result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small_vqe</a:t>
            </a:r>
            <a:r>
              <a:rPr>
                <a:solidFill>
                  <a:srgbClr val="8B888F"/>
                </a:solidFill>
              </a:rPr>
              <a:t>.</a:t>
            </a:r>
            <a:r>
              <a:t>compute_minimum_eigenvalue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F7F1FF"/>
                </a:solidFill>
              </a:rPr>
              <a:t>cost_operator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VQE step 5.1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5000"/>
            </a:pPr>
            <a:r>
              <a:t>VQE step 5.1 </a:t>
            </a:r>
          </a:p>
          <a:p>
            <a:pPr/>
            <a:r>
              <a:t>Initialize Parameters</a:t>
            </a:r>
          </a:p>
        </p:txBody>
      </p:sp>
      <p:sp>
        <p:nvSpPr>
          <p:cNvPr id="298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299" name="Start with an initial rotation angles θ."/>
          <p:cNvSpPr txBox="1"/>
          <p:nvPr>
            <p:ph type="body" sz="half" idx="1"/>
          </p:nvPr>
        </p:nvSpPr>
        <p:spPr>
          <a:xfrm>
            <a:off x="593864" y="5209408"/>
            <a:ext cx="11207472" cy="614198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000"/>
            </a:lvl1pPr>
          </a:lstStyle>
          <a:p>
            <a:pPr/>
            <a:r>
              <a:t>Start with an initial rotation angles θ.</a:t>
            </a:r>
          </a:p>
        </p:txBody>
      </p:sp>
      <p:pic>
        <p:nvPicPr>
          <p:cNvPr id="300" name="Screenshot 2026-10-13 at 17.31.58.png" descr="Screenshot 2026-10-13 at 17.31.5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013614" y="4464050"/>
            <a:ext cx="7634373" cy="76073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VQE step 5.2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5000"/>
            </a:pPr>
            <a:r>
              <a:t>VQE step 5.2 </a:t>
            </a:r>
          </a:p>
          <a:p>
            <a:pPr/>
            <a:r>
              <a:t>Prepare Quantum State</a:t>
            </a:r>
          </a:p>
        </p:txBody>
      </p:sp>
      <p:sp>
        <p:nvSpPr>
          <p:cNvPr id="303" name="Apply the parameterized gates to prepare a candidate quantum state.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Apply the parameterized gates to prepare a candidate quantum state.</a:t>
            </a:r>
          </a:p>
        </p:txBody>
      </p:sp>
      <p:sp>
        <p:nvSpPr>
          <p:cNvPr id="304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05" name="anzats.png" descr="anzats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2081778" y="5980195"/>
            <a:ext cx="11498042" cy="457501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VQE step 5.3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5000"/>
            </a:pPr>
            <a:r>
              <a:t>VQE step 5.3 </a:t>
            </a:r>
          </a:p>
          <a:p>
            <a:pPr/>
            <a:r>
              <a:t>Measure</a:t>
            </a:r>
          </a:p>
        </p:txBody>
      </p:sp>
      <p:sp>
        <p:nvSpPr>
          <p:cNvPr id="308" name="Apply the parameterized gates to prepare a candidate quantum state.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Apply the parameterized gates to prepare a candidate quantum state.</a:t>
            </a:r>
          </a:p>
        </p:txBody>
      </p:sp>
      <p:sp>
        <p:nvSpPr>
          <p:cNvPr id="309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10" name="result.png" descr="result.png"/>
          <p:cNvPicPr>
            <a:picLocks noChangeAspect="1"/>
          </p:cNvPicPr>
          <p:nvPr/>
        </p:nvPicPr>
        <p:blipFill>
          <a:blip r:embed="rId2">
            <a:extLst/>
          </a:blip>
          <a:srcRect l="50113" t="0" r="0" b="0"/>
          <a:stretch>
            <a:fillRect/>
          </a:stretch>
        </p:blipFill>
        <p:spPr>
          <a:xfrm>
            <a:off x="12471994" y="4036020"/>
            <a:ext cx="10717478" cy="846327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VQE step 5.4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5000"/>
            </a:pPr>
            <a:r>
              <a:t>VQE step 5.4</a:t>
            </a:r>
          </a:p>
          <a:p>
            <a:pPr/>
            <a:r>
              <a:t>Estimate Ising Energy</a:t>
            </a:r>
          </a:p>
        </p:txBody>
      </p:sp>
      <p:sp>
        <p:nvSpPr>
          <p:cNvPr id="313" name="Calculate the expected energy from the measured probabilities and Hamiltonian.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Calculate the expected energy from the measured probabilities and Hamiltonian.</a:t>
            </a:r>
          </a:p>
        </p:txBody>
      </p:sp>
      <p:sp>
        <p:nvSpPr>
          <p:cNvPr id="314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15" name="Equation"/>
          <p:cNvSpPr txBox="1"/>
          <p:nvPr/>
        </p:nvSpPr>
        <p:spPr>
          <a:xfrm>
            <a:off x="14030177" y="7370446"/>
            <a:ext cx="7601245" cy="179450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=</m:t>
                  </m:r>
                  <m:limLow>
                    <m:e>
                      <m:r>
                        <a:rPr xmlns:a="http://schemas.openxmlformats.org/drawingml/2006/main" sz="6400" i="1">
                          <a:solidFill>
                            <a:srgbClr val="FEFEFE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</m:e>
                    <m:lim>
                      <m:r>
                        <a:rPr xmlns:a="http://schemas.openxmlformats.org/drawingml/2006/main" sz="6400" i="1">
                          <a:solidFill>
                            <a:srgbClr val="FEFEFE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lim>
                  </m:limLow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)</m:t>
                  </m:r>
                  <m:sSub>
                    <m:e>
                      <m:r>
                        <a:rPr xmlns:a="http://schemas.openxmlformats.org/drawingml/2006/main" sz="6400" i="1">
                          <a:solidFill>
                            <a:srgbClr val="FEFEFE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</m:e>
                    <m:sub>
                      <m:r>
                        <a:rPr xmlns:a="http://schemas.openxmlformats.org/drawingml/2006/main" sz="6400" i="1">
                          <a:solidFill>
                            <a:srgbClr val="FEFEFE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</m:sub>
                  </m:sSub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64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VQE step 5.5…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5000"/>
            </a:pPr>
            <a:r>
              <a:t>VQE step 5.5</a:t>
            </a:r>
          </a:p>
          <a:p>
            <a:pPr/>
            <a:r>
              <a:t>Update Parameters</a:t>
            </a:r>
          </a:p>
        </p:txBody>
      </p:sp>
      <p:sp>
        <p:nvSpPr>
          <p:cNvPr id="318" name="COBYLA calculate new rotation angles."/>
          <p:cNvSpPr txBox="1"/>
          <p:nvPr>
            <p:ph type="body" sz="half" idx="1"/>
          </p:nvPr>
        </p:nvSpPr>
        <p:spPr>
          <a:xfrm>
            <a:off x="593864" y="5196708"/>
            <a:ext cx="11207472" cy="614198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COBYLA calculate new rotation angles.</a:t>
            </a:r>
          </a:p>
        </p:txBody>
      </p:sp>
      <p:sp>
        <p:nvSpPr>
          <p:cNvPr id="319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20" name="Screenshot 2026-10-13 at 17.31.58.png" descr="Screenshot 2026-10-13 at 17.31.5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970622" y="3503017"/>
            <a:ext cx="4669009" cy="4652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321" name="Screenshot 2026-10-13 at 17.32.09.png" descr="Screenshot 2026-10-13 at 17.32.09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854022" y="3492607"/>
            <a:ext cx="4274131" cy="4673271"/>
          </a:xfrm>
          <a:prstGeom prst="rect">
            <a:avLst/>
          </a:prstGeom>
          <a:ln w="12700">
            <a:miter lim="400000"/>
          </a:ln>
        </p:spPr>
      </p:pic>
      <p:pic>
        <p:nvPicPr>
          <p:cNvPr id="322" name="Screenshot 2026-10-13 at 17.32.19.png" descr="Screenshot 2026-10-13 at 17.32.19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5370263" y="7873592"/>
            <a:ext cx="4921073" cy="504543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VQE step 6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6</a:t>
            </a:r>
          </a:p>
        </p:txBody>
      </p:sp>
      <p:sp>
        <p:nvSpPr>
          <p:cNvPr id="325" name="Measure &amp; Decode"/>
          <p:cNvSpPr txBox="1"/>
          <p:nvPr>
            <p:ph type="body" sz="quarter" idx="1"/>
          </p:nvPr>
        </p:nvSpPr>
        <p:spPr>
          <a:xfrm>
            <a:off x="1019705" y="2246272"/>
            <a:ext cx="11207472" cy="21678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Measure &amp; Decode</a:t>
            </a:r>
          </a:p>
        </p:txBody>
      </p:sp>
      <p:sp>
        <p:nvSpPr>
          <p:cNvPr id="326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27" name="result.png" descr="result.png"/>
          <p:cNvPicPr>
            <a:picLocks noChangeAspect="1"/>
          </p:cNvPicPr>
          <p:nvPr/>
        </p:nvPicPr>
        <p:blipFill>
          <a:blip r:embed="rId2">
            <a:extLst/>
          </a:blip>
          <a:srcRect l="50113" t="0" r="0" b="0"/>
          <a:stretch>
            <a:fillRect/>
          </a:stretch>
        </p:blipFill>
        <p:spPr>
          <a:xfrm>
            <a:off x="12471994" y="4036020"/>
            <a:ext cx="10717478" cy="846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328" name="result.png" descr="result.png"/>
          <p:cNvPicPr>
            <a:picLocks noChangeAspect="1"/>
          </p:cNvPicPr>
          <p:nvPr/>
        </p:nvPicPr>
        <p:blipFill>
          <a:blip r:embed="rId2">
            <a:extLst/>
          </a:blip>
          <a:srcRect l="0" t="0" r="49982" b="0"/>
          <a:stretch>
            <a:fillRect/>
          </a:stretch>
        </p:blipFill>
        <p:spPr>
          <a:xfrm>
            <a:off x="824706" y="4036020"/>
            <a:ext cx="10745684" cy="846327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VQE step 7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step 7</a:t>
            </a:r>
          </a:p>
        </p:txBody>
      </p:sp>
      <p:sp>
        <p:nvSpPr>
          <p:cNvPr id="331" name="Rounded Rectangle"/>
          <p:cNvSpPr/>
          <p:nvPr/>
        </p:nvSpPr>
        <p:spPr>
          <a:xfrm>
            <a:off x="11600740" y="3174363"/>
            <a:ext cx="12460119" cy="101866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32" name="Equation"/>
          <p:cNvSpPr txBox="1"/>
          <p:nvPr/>
        </p:nvSpPr>
        <p:spPr>
          <a:xfrm>
            <a:off x="1633824" y="7366499"/>
            <a:ext cx="9127552" cy="72339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max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3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4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  <p:sp>
        <p:nvSpPr>
          <p:cNvPr id="333" name="Equation"/>
          <p:cNvSpPr txBox="1"/>
          <p:nvPr/>
        </p:nvSpPr>
        <p:spPr>
          <a:xfrm>
            <a:off x="4072713" y="8899268"/>
            <a:ext cx="3076630" cy="66974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∈</m:t>
                  </m:r>
                  <m:r>
                    <a:rPr xmlns:a="http://schemas.openxmlformats.org/drawingml/2006/main" sz="6400" i="1">
                      <a:solidFill>
                        <a:srgbClr val="525252"/>
                      </a:solidFill>
                      <a:latin typeface="Cambria Math" panose="02040503050406030204" pitchFamily="18" charset="0"/>
                    </a:rPr>
                    <m:t>0,1</m:t>
                  </m:r>
                </m:oMath>
              </m:oMathPara>
            </a14:m>
            <a:endParaRPr sz="6400">
              <a:solidFill>
                <a:srgbClr val="535353"/>
              </a:solidFill>
            </a:endParaRPr>
          </a:p>
        </p:txBody>
      </p:sp>
      <p:sp>
        <p:nvSpPr>
          <p:cNvPr id="334" name="Equation"/>
          <p:cNvSpPr txBox="1"/>
          <p:nvPr/>
        </p:nvSpPr>
        <p:spPr>
          <a:xfrm>
            <a:off x="13454774" y="6038150"/>
            <a:ext cx="8752050" cy="58277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3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3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*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*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0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4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*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*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0</m:t>
                  </m:r>
                </m:oMath>
              </m:oMathPara>
            </a14:m>
            <a:endParaRPr sz="6400">
              <a:solidFill>
                <a:srgbClr val="FFFFFF"/>
              </a:solidFill>
            </a:endParaRPr>
          </a:p>
        </p:txBody>
      </p:sp>
      <p:sp>
        <p:nvSpPr>
          <p:cNvPr id="335" name="Equation"/>
          <p:cNvSpPr txBox="1"/>
          <p:nvPr/>
        </p:nvSpPr>
        <p:spPr>
          <a:xfrm>
            <a:off x="15342773" y="8874478"/>
            <a:ext cx="4976053" cy="71932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q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0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q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0</m:t>
                  </m:r>
                </m:oMath>
              </m:oMathPara>
            </a14:m>
            <a:endParaRPr sz="6400">
              <a:solidFill>
                <a:srgbClr val="FFFFFF"/>
              </a:solidFill>
            </a:endParaRPr>
          </a:p>
        </p:txBody>
      </p:sp>
      <p:sp>
        <p:nvSpPr>
          <p:cNvPr id="336" name="Equation"/>
          <p:cNvSpPr txBox="1"/>
          <p:nvPr/>
        </p:nvSpPr>
        <p:spPr>
          <a:xfrm>
            <a:off x="15890600" y="10537521"/>
            <a:ext cx="3880399" cy="56652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defTabSz="914400" latinLnBrk="1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00000"/>
                </a:solidFill>
              </a:defRPr>
            </a:pPr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6400" i="1">
                      <a:solidFill>
                        <a:srgbClr val="FEFEFE"/>
                      </a:solidFill>
                      <a:latin typeface="Cambria Math" panose="02040503050406030204" pitchFamily="18" charset="0"/>
                    </a:rPr>
                    <m:t>0</m:t>
                  </m:r>
                </m:oMath>
              </m:oMathPara>
            </a14:m>
            <a:endParaRPr sz="6400">
              <a:solidFill>
                <a:srgbClr val="FFFFFF"/>
              </a:solidFill>
            </a:endParaRPr>
          </a:p>
        </p:txBody>
      </p:sp>
      <p:sp>
        <p:nvSpPr>
          <p:cNvPr id="337" name="Measure &amp; Decode"/>
          <p:cNvSpPr txBox="1"/>
          <p:nvPr>
            <p:ph type="body" sz="quarter" idx="1"/>
          </p:nvPr>
        </p:nvSpPr>
        <p:spPr>
          <a:xfrm>
            <a:off x="1019705" y="2246272"/>
            <a:ext cx="11207472" cy="21678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6500"/>
              </a:spcBef>
              <a:buSzTx/>
              <a:buNone/>
              <a:defRPr sz="6400"/>
            </a:lvl1pPr>
          </a:lstStyle>
          <a:p>
            <a:pPr/>
            <a:r>
              <a:t>Measure &amp; Decode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Vqe on QPU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Vqe on QPU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42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5679" y="2794456"/>
            <a:ext cx="22812642" cy="81270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45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4900" y="1700819"/>
            <a:ext cx="23454200" cy="1031436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48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46100" y="1605794"/>
            <a:ext cx="23291800" cy="105044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51" name="vqe_qpu_result.png" descr="vqe_qpu_resul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948754" y="711200"/>
            <a:ext cx="16486492" cy="12319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Shortest-path problem"/>
          <p:cNvSpPr txBox="1"/>
          <p:nvPr>
            <p:ph type="ctrTitle"/>
          </p:nvPr>
        </p:nvSpPr>
        <p:spPr>
          <a:xfrm>
            <a:off x="666750" y="4873773"/>
            <a:ext cx="23050500" cy="1999954"/>
          </a:xfrm>
          <a:prstGeom prst="rect">
            <a:avLst/>
          </a:prstGeom>
        </p:spPr>
        <p:txBody>
          <a:bodyPr/>
          <a:lstStyle/>
          <a:p>
            <a:pPr/>
            <a:r>
              <a:t>Shortest-path problem</a:t>
            </a:r>
          </a:p>
        </p:txBody>
      </p:sp>
      <p:sp>
        <p:nvSpPr>
          <p:cNvPr id="354" name="OR"/>
          <p:cNvSpPr txBox="1"/>
          <p:nvPr>
            <p:ph type="subTitle" sz="quarter" idx="1"/>
          </p:nvPr>
        </p:nvSpPr>
        <p:spPr>
          <a:xfrm>
            <a:off x="666750" y="7234911"/>
            <a:ext cx="23050500" cy="1032869"/>
          </a:xfrm>
          <a:prstGeom prst="rect">
            <a:avLst/>
          </a:prstGeom>
        </p:spPr>
        <p:txBody>
          <a:bodyPr/>
          <a:lstStyle/>
          <a:p>
            <a:pPr/>
            <a:r>
              <a:t>OR</a:t>
            </a:r>
          </a:p>
        </p:txBody>
      </p:sp>
      <p:sp>
        <p:nvSpPr>
          <p:cNvPr id="355" name="How to get from Moscow to Florianópolis?"/>
          <p:cNvSpPr txBox="1"/>
          <p:nvPr/>
        </p:nvSpPr>
        <p:spPr>
          <a:xfrm>
            <a:off x="666750" y="8628964"/>
            <a:ext cx="23050500" cy="181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>
            <a:lvl1pPr algn="ctr">
              <a:lnSpc>
                <a:spcPct val="100000"/>
              </a:lnSpc>
              <a:spcBef>
                <a:spcPts val="0"/>
              </a:spcBef>
              <a:defRPr sz="5200"/>
            </a:lvl1pPr>
          </a:lstStyle>
          <a:p>
            <a:pPr/>
            <a:r>
              <a:t>How to get from Moscow to Florianópolis?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58" name="nodes.png" descr="nodes.png"/>
          <p:cNvPicPr>
            <a:picLocks noChangeAspect="1"/>
          </p:cNvPicPr>
          <p:nvPr/>
        </p:nvPicPr>
        <p:blipFill>
          <a:blip r:embed="rId2">
            <a:extLst/>
          </a:blip>
          <a:srcRect l="5761" t="6146" r="4394" b="2713"/>
          <a:stretch>
            <a:fillRect/>
          </a:stretch>
        </p:blipFill>
        <p:spPr>
          <a:xfrm>
            <a:off x="581818" y="1700609"/>
            <a:ext cx="23220416" cy="11483273"/>
          </a:xfrm>
          <a:prstGeom prst="rect">
            <a:avLst/>
          </a:prstGeom>
          <a:ln w="12700">
            <a:miter lim="400000"/>
          </a:ln>
        </p:spPr>
      </p:pic>
      <p:sp>
        <p:nvSpPr>
          <p:cNvPr id="359" name="0. Problem Definition"/>
          <p:cNvSpPr txBox="1"/>
          <p:nvPr>
            <p:ph type="title" idx="4294967295"/>
          </p:nvPr>
        </p:nvSpPr>
        <p:spPr>
          <a:xfrm>
            <a:off x="673100" y="355600"/>
            <a:ext cx="23050500" cy="1332409"/>
          </a:xfrm>
          <a:prstGeom prst="rect">
            <a:avLst/>
          </a:prstGeom>
        </p:spPr>
        <p:txBody>
          <a:bodyPr/>
          <a:lstStyle>
            <a:lvl1pPr defTabSz="709930">
              <a:defRPr sz="8600">
                <a:solidFill>
                  <a:srgbClr val="FFFFFF"/>
                </a:solidFill>
              </a:defRPr>
            </a:lvl1pPr>
          </a:lstStyle>
          <a:p>
            <a:pPr/>
            <a:r>
              <a:t>0. Problem Definition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earch Spa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Search Space</a:t>
            </a:r>
          </a:p>
        </p:txBody>
      </p:sp>
      <p:sp>
        <p:nvSpPr>
          <p:cNvPr id="362" name="10 flights → 10 binary variables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1833033" indent="-1693333">
              <a:buClr>
                <a:srgbClr val="535353"/>
              </a:buClr>
              <a:buFont typeface="Times Roman"/>
            </a:pPr>
            <a:r>
              <a:t>10 flights → 10 binary variables</a:t>
            </a:r>
          </a:p>
          <a:p>
            <a:pPr marL="1833033" indent="-1693333">
              <a:buClr>
                <a:srgbClr val="535353"/>
              </a:buClr>
              <a:buFont typeface="Times Roman"/>
            </a:pPr>
            <a:r>
              <a:t>2¹⁰ = 1,024 possible combinations</a:t>
            </a:r>
          </a:p>
          <a:p>
            <a:pPr marL="1833033" indent="-1693333">
              <a:buClr>
                <a:srgbClr val="535353"/>
              </a:buClr>
              <a:buFont typeface="Times Roman"/>
            </a:pPr>
            <a:r>
              <a:t>Only 4 valid routes - [ We don’t know this! :-) ]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65" name="1. Math Formulation"/>
          <p:cNvSpPr txBox="1"/>
          <p:nvPr>
            <p:ph type="title" idx="4294967295"/>
          </p:nvPr>
        </p:nvSpPr>
        <p:spPr>
          <a:xfrm>
            <a:off x="673100" y="355600"/>
            <a:ext cx="23050500" cy="1332409"/>
          </a:xfrm>
          <a:prstGeom prst="rect">
            <a:avLst/>
          </a:prstGeom>
        </p:spPr>
        <p:txBody>
          <a:bodyPr/>
          <a:lstStyle>
            <a:lvl1pPr defTabSz="709930">
              <a:defRPr sz="8600">
                <a:solidFill>
                  <a:srgbClr val="FFFFFF"/>
                </a:solidFill>
              </a:defRPr>
            </a:lvl1pPr>
          </a:lstStyle>
          <a:p>
            <a:pPr/>
            <a:r>
              <a:t>1. Math Formulation</a:t>
            </a:r>
          </a:p>
        </p:txBody>
      </p:sp>
      <p:pic>
        <p:nvPicPr>
          <p:cNvPr id="366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5938" y="2311399"/>
            <a:ext cx="15406276" cy="1027085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367" name="Table 1"/>
          <p:cNvGraphicFramePr/>
          <p:nvPr/>
        </p:nvGraphicFramePr>
        <p:xfrm>
          <a:off x="16725899" y="2330915"/>
          <a:ext cx="7148712" cy="1028355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297067"/>
                <a:gridCol w="4172930"/>
                <a:gridCol w="1666012"/>
              </a:tblGrid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50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Bit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50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Flight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50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Cost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x0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Moscow → Baku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4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x1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Moscow → Istanbul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2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x2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Baku → Doha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2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x3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Baku → Marakeş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4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x4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Istanbul → São Paulo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10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x5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Doha → São Paulo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5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x6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Doha → Rio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6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x7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9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São Paulo → Florianópolis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1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x8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Rio → Florianópolis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2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  <a:tr h="933713"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x9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3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Marakeş → São Paulo</a:t>
                      </a:r>
                    </a:p>
                  </a:txBody>
                  <a:tcPr marL="12700" marR="12700" marT="12700" marB="12700" anchor="ctr" anchorCtr="0" horzOverflow="overflow"/>
                </a:tc>
                <a:tc>
                  <a:txBody>
                    <a:bodyPr/>
                    <a:lstStyle/>
                    <a:p>
                      <a:pPr defTabSz="457200">
                        <a:spcBef>
                          <a:spcPts val="1200"/>
                        </a:spcBef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4500">
                          <a:solidFill>
                            <a:srgbClr val="FFFFFF"/>
                          </a:solidFill>
                          <a:latin typeface="Times Roman"/>
                          <a:ea typeface="Times Roman"/>
                          <a:cs typeface="Times Roman"/>
                          <a:sym typeface="Times Roman"/>
                        </a:rPr>
                        <a:t>4</a:t>
                      </a:r>
                    </a:p>
                  </a:txBody>
                  <a:tcPr marL="12700" marR="12700" marT="12700" marB="1270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pic>
        <p:nvPicPr>
          <p:cNvPr id="370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36892" y="1940453"/>
            <a:ext cx="23050501" cy="11359094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2. To QUBO"/>
          <p:cNvSpPr txBox="1"/>
          <p:nvPr>
            <p:ph type="title" idx="4294967295"/>
          </p:nvPr>
        </p:nvSpPr>
        <p:spPr>
          <a:xfrm>
            <a:off x="673100" y="355600"/>
            <a:ext cx="23050500" cy="1332409"/>
          </a:xfrm>
          <a:prstGeom prst="rect">
            <a:avLst/>
          </a:prstGeom>
        </p:spPr>
        <p:txBody>
          <a:bodyPr/>
          <a:lstStyle>
            <a:lvl1pPr defTabSz="709930">
              <a:defRPr sz="8600">
                <a:solidFill>
                  <a:srgbClr val="FFFFFF"/>
                </a:solidFill>
              </a:defRPr>
            </a:lvl1pPr>
          </a:lstStyle>
          <a:p>
            <a:pPr/>
            <a:r>
              <a:t>2. To QUBO</a:t>
            </a:r>
          </a:p>
        </p:txBody>
      </p:sp>
      <p:sp>
        <p:nvSpPr>
          <p:cNvPr id="372" name="from qiskit_optimization.converters import QuadraticProgramToQubo…"/>
          <p:cNvSpPr txBox="1"/>
          <p:nvPr/>
        </p:nvSpPr>
        <p:spPr>
          <a:xfrm>
            <a:off x="10211108" y="10426700"/>
            <a:ext cx="13317912" cy="157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26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qiskit_optimization</a:t>
            </a:r>
            <a:r>
              <a:rPr>
                <a:solidFill>
                  <a:srgbClr val="8B888F"/>
                </a:solidFill>
              </a:rPr>
              <a:t>.</a:t>
            </a:r>
            <a:r>
              <a:t>converters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QuadraticProgramToQubo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7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converter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QuadraticProgramToQubo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FD9353"/>
                </a:solidFill>
              </a:rPr>
              <a:t>penalty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7</a:t>
            </a:r>
            <a:r>
              <a:rPr>
                <a:solidFill>
                  <a:srgbClr val="8B888F"/>
                </a:solidFill>
              </a:rPr>
              <a:t>)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37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qubo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converter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convert</a:t>
            </a:r>
            <a:r>
              <a:rPr>
                <a:solidFill>
                  <a:srgbClr val="8B888F"/>
                </a:solidFill>
              </a:rPr>
              <a:t>(</a:t>
            </a:r>
            <a:r>
              <a:t>problem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Rounded Rectangle"/>
          <p:cNvSpPr/>
          <p:nvPr/>
        </p:nvSpPr>
        <p:spPr>
          <a:xfrm>
            <a:off x="221541" y="2914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75" name="3. QAOA Init"/>
          <p:cNvSpPr txBox="1"/>
          <p:nvPr>
            <p:ph type="title" idx="4294967295"/>
          </p:nvPr>
        </p:nvSpPr>
        <p:spPr>
          <a:xfrm>
            <a:off x="673100" y="355600"/>
            <a:ext cx="23050500" cy="1332409"/>
          </a:xfrm>
          <a:prstGeom prst="rect">
            <a:avLst/>
          </a:prstGeom>
        </p:spPr>
        <p:txBody>
          <a:bodyPr/>
          <a:lstStyle>
            <a:lvl1pPr defTabSz="709930">
              <a:defRPr sz="8600">
                <a:solidFill>
                  <a:srgbClr val="FFFFFF"/>
                </a:solidFill>
              </a:defRPr>
            </a:lvl1pPr>
          </a:lstStyle>
          <a:p>
            <a:pPr/>
            <a:r>
              <a:t>3. QAOA Init</a:t>
            </a:r>
          </a:p>
        </p:txBody>
      </p:sp>
      <p:sp>
        <p:nvSpPr>
          <p:cNvPr id="376" name="from qiskit.primitives import StatevectorSampler…"/>
          <p:cNvSpPr txBox="1"/>
          <p:nvPr/>
        </p:nvSpPr>
        <p:spPr>
          <a:xfrm>
            <a:off x="1009959" y="3105150"/>
            <a:ext cx="22364083" cy="7505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</a:t>
            </a:r>
            <a:r>
              <a:rPr>
                <a:solidFill>
                  <a:srgbClr val="8B888F"/>
                </a:solidFill>
              </a:rPr>
              <a:t>.</a:t>
            </a:r>
            <a:r>
              <a:t>primitives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StatevectorSampler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qiskit_algorithms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</a:t>
            </a:r>
            <a:r>
              <a:rPr>
                <a:solidFill>
                  <a:srgbClr val="948AE3"/>
                </a:solidFill>
              </a:rPr>
              <a:t>QAOA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qiskit_algorithms</a:t>
            </a:r>
            <a:r>
              <a:rPr>
                <a:solidFill>
                  <a:srgbClr val="8B888F"/>
                </a:solidFill>
              </a:rPr>
              <a:t>.</a:t>
            </a:r>
            <a:r>
              <a:t>optimizers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</a:t>
            </a:r>
            <a:r>
              <a:rPr>
                <a:solidFill>
                  <a:srgbClr val="948AE3"/>
                </a:solidFill>
              </a:rPr>
              <a:t>COBYLA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 i="1">
                <a:solidFill>
                  <a:srgbClr val="FC618D"/>
                </a:solidFill>
              </a:rPr>
              <a:t>from</a:t>
            </a:r>
            <a:r>
              <a:t> qiskit_optimization</a:t>
            </a:r>
            <a:r>
              <a:rPr>
                <a:solidFill>
                  <a:srgbClr val="8B888F"/>
                </a:solidFill>
              </a:rPr>
              <a:t>.</a:t>
            </a:r>
            <a:r>
              <a:t>algorithms </a:t>
            </a:r>
            <a:r>
              <a:rPr i="1">
                <a:solidFill>
                  <a:srgbClr val="FC618D"/>
                </a:solidFill>
              </a:rPr>
              <a:t>import</a:t>
            </a:r>
            <a:r>
              <a:t> MinimumEigenOptimizer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qaoa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QAOA</a:t>
            </a:r>
            <a:r>
              <a:rPr>
                <a:solidFill>
                  <a:srgbClr val="8B888F"/>
                </a:solidFill>
              </a:rPr>
              <a:t>(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8B888F"/>
                </a:solidFill>
              </a:rPr>
              <a:t>   </a:t>
            </a:r>
            <a:r>
              <a:rPr i="1">
                <a:solidFill>
                  <a:srgbClr val="FD9353"/>
                </a:solidFill>
              </a:rPr>
              <a:t>sampler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StatevectorSampler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FD9353"/>
                </a:solidFill>
              </a:rPr>
              <a:t>default_shots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1024</a:t>
            </a:r>
            <a:r>
              <a:rPr>
                <a:solidFill>
                  <a:srgbClr val="8B888F"/>
                </a:solidFill>
              </a:rPr>
              <a:t>,</a:t>
            </a:r>
            <a:r>
              <a:rPr>
                <a:solidFill>
                  <a:srgbClr val="F7F1FF"/>
                </a:solidFill>
              </a:rPr>
              <a:t> </a:t>
            </a:r>
            <a:r>
              <a:rPr i="1">
                <a:solidFill>
                  <a:srgbClr val="FD9353"/>
                </a:solidFill>
              </a:rPr>
              <a:t>seed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42</a:t>
            </a:r>
            <a:r>
              <a:rPr>
                <a:solidFill>
                  <a:srgbClr val="8B888F"/>
                </a:solidFill>
              </a:rPr>
              <a:t>),</a:t>
            </a:r>
            <a:endParaRPr>
              <a:solidFill>
                <a:srgbClr val="F7F1F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</a:t>
            </a:r>
            <a:r>
              <a:rPr i="1">
                <a:solidFill>
                  <a:srgbClr val="FD9353"/>
                </a:solidFill>
              </a:rPr>
              <a:t>optimizer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COBYLA</a:t>
            </a:r>
            <a:r>
              <a:rPr>
                <a:solidFill>
                  <a:srgbClr val="8B888F"/>
                </a:solidFill>
              </a:rPr>
              <a:t>(</a:t>
            </a:r>
            <a:r>
              <a:rPr i="1">
                <a:solidFill>
                  <a:srgbClr val="FD9353"/>
                </a:solidFill>
              </a:rPr>
              <a:t>maxiter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100</a:t>
            </a:r>
            <a:r>
              <a:rPr>
                <a:solidFill>
                  <a:srgbClr val="8B888F"/>
                </a:solidFill>
              </a:rPr>
              <a:t>),</a:t>
            </a:r>
            <a:r>
              <a:t> </a:t>
            </a: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</a:t>
            </a:r>
            <a:r>
              <a:rPr i="1">
                <a:solidFill>
                  <a:srgbClr val="FD9353"/>
                </a:solidFill>
              </a:rPr>
              <a:t>reps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948AE3"/>
                </a:solidFill>
              </a:rPr>
              <a:t>2</a:t>
            </a:r>
            <a:r>
              <a:rPr>
                <a:solidFill>
                  <a:srgbClr val="8B888F"/>
                </a:solidFill>
              </a:rPr>
              <a:t>)</a:t>
            </a:r>
            <a:endParaRPr>
              <a:solidFill>
                <a:srgbClr val="8B888F"/>
              </a:solidFill>
            </a:endParaR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457200">
              <a:lnSpc>
                <a:spcPct val="100000"/>
              </a:lnSpc>
              <a:spcBef>
                <a:spcPts val="0"/>
              </a:spcBef>
              <a:defRPr sz="4500">
                <a:solidFill>
                  <a:srgbClr val="7BD88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rPr>
                <a:solidFill>
                  <a:srgbClr val="F7F1FF"/>
                </a:solidFill>
              </a:rPr>
              <a:t>optimyzer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 </a:t>
            </a:r>
            <a:r>
              <a:t>MinimumEigenOptimizer</a:t>
            </a:r>
            <a:r>
              <a:rPr>
                <a:solidFill>
                  <a:srgbClr val="8B888F"/>
                </a:solidFill>
              </a:rPr>
              <a:t>(</a:t>
            </a:r>
            <a:r>
              <a:rPr>
                <a:solidFill>
                  <a:srgbClr val="F7F1FF"/>
                </a:solidFill>
              </a:rPr>
              <a:t>qaoa</a:t>
            </a:r>
            <a:r>
              <a:rPr>
                <a:solidFill>
                  <a:srgbClr val="8B888F"/>
                </a:solidFill>
              </a:rPr>
              <a:t>,</a:t>
            </a:r>
            <a:r>
              <a:rPr>
                <a:solidFill>
                  <a:srgbClr val="F7F1FF"/>
                </a:solidFill>
              </a:rPr>
              <a:t> </a:t>
            </a:r>
            <a:r>
              <a:rPr i="1">
                <a:solidFill>
                  <a:srgbClr val="FD9353"/>
                </a:solidFill>
              </a:rPr>
              <a:t>converters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rPr>
                <a:solidFill>
                  <a:srgbClr val="F7F1FF"/>
                </a:solidFill>
              </a:rPr>
              <a:t>converter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79" name="4. Hybrid Optimisation"/>
          <p:cNvSpPr txBox="1"/>
          <p:nvPr>
            <p:ph type="title" idx="4294967295"/>
          </p:nvPr>
        </p:nvSpPr>
        <p:spPr>
          <a:xfrm>
            <a:off x="673100" y="355600"/>
            <a:ext cx="23050500" cy="1332409"/>
          </a:xfrm>
          <a:prstGeom prst="rect">
            <a:avLst/>
          </a:prstGeom>
        </p:spPr>
        <p:txBody>
          <a:bodyPr/>
          <a:lstStyle>
            <a:lvl1pPr defTabSz="709930">
              <a:defRPr sz="8600">
                <a:solidFill>
                  <a:srgbClr val="FFFFFF"/>
                </a:solidFill>
              </a:defRPr>
            </a:lvl1pPr>
          </a:lstStyle>
          <a:p>
            <a:pPr/>
            <a:r>
              <a:t>4. Hybrid Optimisation</a:t>
            </a:r>
          </a:p>
        </p:txBody>
      </p:sp>
      <p:sp>
        <p:nvSpPr>
          <p:cNvPr id="380" name="result = optimyzer.solve(problem)"/>
          <p:cNvSpPr txBox="1"/>
          <p:nvPr/>
        </p:nvSpPr>
        <p:spPr>
          <a:xfrm>
            <a:off x="12922708" y="6515099"/>
            <a:ext cx="11644985" cy="68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4000">
                <a:solidFill>
                  <a:srgbClr val="F7F1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result </a:t>
            </a:r>
            <a:r>
              <a:rPr i="1">
                <a:solidFill>
                  <a:srgbClr val="FC618D"/>
                </a:solidFill>
              </a:rPr>
              <a:t>=</a:t>
            </a:r>
            <a:r>
              <a:t> optimyzer</a:t>
            </a:r>
            <a:r>
              <a:rPr>
                <a:solidFill>
                  <a:srgbClr val="8B888F"/>
                </a:solidFill>
              </a:rPr>
              <a:t>.</a:t>
            </a:r>
            <a:r>
              <a:rPr>
                <a:solidFill>
                  <a:srgbClr val="7BD88F"/>
                </a:solidFill>
              </a:rPr>
              <a:t>solve</a:t>
            </a:r>
            <a:r>
              <a:rPr>
                <a:solidFill>
                  <a:srgbClr val="8B888F"/>
                </a:solidFill>
              </a:rPr>
              <a:t>(</a:t>
            </a:r>
            <a:r>
              <a:t>problem</a:t>
            </a:r>
            <a:r>
              <a:rPr>
                <a:solidFill>
                  <a:srgbClr val="8B888F"/>
                </a:solidFill>
              </a:rPr>
              <a:t>)</a:t>
            </a:r>
          </a:p>
        </p:txBody>
      </p:sp>
      <p:sp>
        <p:nvSpPr>
          <p:cNvPr id="381" name="Convert QUBO to Ising…"/>
          <p:cNvSpPr txBox="1"/>
          <p:nvPr/>
        </p:nvSpPr>
        <p:spPr>
          <a:xfrm>
            <a:off x="1121171" y="3571240"/>
            <a:ext cx="10956232" cy="8707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1066800" indent="-1066800">
              <a:buSzPct val="100000"/>
              <a:buAutoNum type="arabicPeriod" startAt="1"/>
              <a:defRPr>
                <a:solidFill>
                  <a:srgbClr val="FFFFFF"/>
                </a:solidFill>
              </a:defRPr>
            </a:pPr>
            <a:r>
              <a:t>Convert QUBO to Ising</a:t>
            </a:r>
          </a:p>
          <a:p>
            <a:pPr marL="1066800" indent="-1066800">
              <a:buSzPct val="100000"/>
              <a:buAutoNum type="arabicPeriod" startAt="1"/>
              <a:defRPr>
                <a:solidFill>
                  <a:srgbClr val="FFFFFF"/>
                </a:solidFill>
              </a:defRPr>
            </a:pPr>
            <a:r>
              <a:t>Execute quantum circuits</a:t>
            </a:r>
          </a:p>
          <a:p>
            <a:pPr marL="1066800" indent="-1066800">
              <a:buSzPct val="100000"/>
              <a:buAutoNum type="arabicPeriod" startAt="1"/>
              <a:defRPr>
                <a:solidFill>
                  <a:srgbClr val="FFFFFF"/>
                </a:solidFill>
              </a:defRPr>
            </a:pPr>
            <a:r>
              <a:t>Measure</a:t>
            </a:r>
          </a:p>
          <a:p>
            <a:pPr marL="1066800" indent="-1066800">
              <a:buSzPct val="100000"/>
              <a:buAutoNum type="arabicPeriod" startAt="1"/>
              <a:defRPr>
                <a:solidFill>
                  <a:srgbClr val="FFFFFF"/>
                </a:solidFill>
              </a:defRPr>
            </a:pPr>
            <a:r>
              <a:t>Optimise with COBYLA</a:t>
            </a:r>
          </a:p>
          <a:p>
            <a:pPr marL="1066800" indent="-1066800">
              <a:buSzPct val="100000"/>
              <a:buAutoNum type="arabicPeriod" startAt="1"/>
              <a:defRPr>
                <a:solidFill>
                  <a:srgbClr val="FFFFFF"/>
                </a:solidFill>
              </a:defRPr>
            </a:pPr>
            <a:r>
              <a:t>Select the best solution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ounded Rectangle"/>
          <p:cNvSpPr/>
          <p:nvPr/>
        </p:nvSpPr>
        <p:spPr>
          <a:xfrm>
            <a:off x="221541" y="278763"/>
            <a:ext cx="23940918" cy="13158474"/>
          </a:xfrm>
          <a:prstGeom prst="roundRect">
            <a:avLst>
              <a:gd name="adj" fmla="val 1870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84" name="4. Hybrid Optimisation"/>
          <p:cNvSpPr txBox="1"/>
          <p:nvPr>
            <p:ph type="title" idx="4294967295"/>
          </p:nvPr>
        </p:nvSpPr>
        <p:spPr>
          <a:xfrm>
            <a:off x="673100" y="355600"/>
            <a:ext cx="23050500" cy="1332409"/>
          </a:xfrm>
          <a:prstGeom prst="rect">
            <a:avLst/>
          </a:prstGeom>
        </p:spPr>
        <p:txBody>
          <a:bodyPr/>
          <a:lstStyle>
            <a:lvl1pPr defTabSz="709930">
              <a:defRPr sz="8600">
                <a:solidFill>
                  <a:srgbClr val="FFFFFF"/>
                </a:solidFill>
              </a:defRPr>
            </a:lvl1pPr>
          </a:lstStyle>
          <a:p>
            <a:pPr/>
            <a:r>
              <a:t>4. Hybrid Optimisation</a:t>
            </a:r>
          </a:p>
        </p:txBody>
      </p:sp>
      <p:pic>
        <p:nvPicPr>
          <p:cNvPr id="385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09848" y="7240772"/>
            <a:ext cx="11577004" cy="5999991"/>
          </a:xfrm>
          <a:prstGeom prst="rect">
            <a:avLst/>
          </a:prstGeom>
          <a:ln w="12700">
            <a:miter lim="400000"/>
          </a:ln>
        </p:spPr>
      </p:pic>
      <p:sp>
        <p:nvSpPr>
          <p:cNvPr id="386" name="0101000101.   Moscow → Baku → Doha → Rio de Janeiro → Florianópolis; cost: 14…"/>
          <p:cNvSpPr txBox="1"/>
          <p:nvPr/>
        </p:nvSpPr>
        <p:spPr>
          <a:xfrm>
            <a:off x="3861389" y="2392403"/>
            <a:ext cx="16661222" cy="44596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>
              <a:lnSpc>
                <a:spcPct val="100000"/>
              </a:lnSpc>
              <a:spcBef>
                <a:spcPts val="5300"/>
              </a:spcBef>
              <a:defRPr sz="3800">
                <a:solidFill>
                  <a:srgbClr val="FFFFFF"/>
                </a:solidFill>
              </a:defRPr>
            </a:pPr>
            <a:r>
              <a:t>0101000101.   Moscow → Baku → Doha → Rio de Janeiro → Florianópolis; cost: 14</a:t>
            </a:r>
          </a:p>
          <a:p>
            <a:pPr>
              <a:lnSpc>
                <a:spcPct val="100000"/>
              </a:lnSpc>
              <a:spcBef>
                <a:spcPts val="5300"/>
              </a:spcBef>
              <a:defRPr sz="3800">
                <a:solidFill>
                  <a:srgbClr val="FFFFFF"/>
                </a:solidFill>
              </a:defRPr>
            </a:pPr>
            <a:r>
              <a:t>0010100101.   Moscow → Baku → Doha → São Paulo → Florianópolis; cost: 12</a:t>
            </a:r>
          </a:p>
          <a:p>
            <a:pPr>
              <a:lnSpc>
                <a:spcPct val="100000"/>
              </a:lnSpc>
              <a:spcBef>
                <a:spcPts val="5300"/>
              </a:spcBef>
              <a:defRPr sz="3800">
                <a:solidFill>
                  <a:srgbClr val="FFFFFF"/>
                </a:solidFill>
              </a:defRPr>
            </a:pPr>
            <a:r>
              <a:t>1010001001.   Moscow → Baku → Marakeş → São Paulo → Florianópolis; cost: 13</a:t>
            </a:r>
          </a:p>
          <a:p>
            <a:pPr>
              <a:lnSpc>
                <a:spcPct val="100000"/>
              </a:lnSpc>
              <a:spcBef>
                <a:spcPts val="5300"/>
              </a:spcBef>
              <a:defRPr sz="3800">
                <a:solidFill>
                  <a:srgbClr val="FFFFFF"/>
                </a:solidFill>
              </a:defRPr>
            </a:pPr>
            <a:r>
              <a:t>0010010010.   Moscow → Istanbul → São Paulo → Florianópolis; cost: 13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How to get from Moscow to Florianópolis?"/>
          <p:cNvSpPr txBox="1"/>
          <p:nvPr>
            <p:ph type="body" idx="22"/>
          </p:nvPr>
        </p:nvSpPr>
        <p:spPr>
          <a:xfrm>
            <a:off x="2381250" y="482600"/>
            <a:ext cx="19621500" cy="1358901"/>
          </a:xfrm>
          <a:prstGeom prst="rect">
            <a:avLst/>
          </a:prstGeom>
        </p:spPr>
        <p:txBody>
          <a:bodyPr/>
          <a:lstStyle>
            <a:lvl1pPr>
              <a:defRPr sz="8700"/>
            </a:lvl1pPr>
          </a:lstStyle>
          <a:p>
            <a:pPr/>
            <a:r>
              <a:t>How to get from Moscow to Florianópolis?</a:t>
            </a:r>
          </a:p>
        </p:txBody>
      </p:sp>
      <p:pic>
        <p:nvPicPr>
          <p:cNvPr id="389" name="result.png" descr="resul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31810" y="2506129"/>
            <a:ext cx="23520380" cy="1089198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ounded Rectangle"/>
          <p:cNvSpPr/>
          <p:nvPr/>
        </p:nvSpPr>
        <p:spPr>
          <a:xfrm>
            <a:off x="254000" y="177800"/>
            <a:ext cx="23876001" cy="13360400"/>
          </a:xfrm>
          <a:prstGeom prst="roundRect">
            <a:avLst>
              <a:gd name="adj" fmla="val 1426"/>
            </a:avLst>
          </a:prstGeom>
          <a:solidFill>
            <a:schemeClr val="accent6">
              <a:hueOff val="-133706"/>
              <a:satOff val="8281"/>
              <a:lumOff val="-27269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sz="5000">
                <a:solidFill>
                  <a:srgbClr val="FFFFFF"/>
                </a:solidFill>
              </a:defRPr>
            </a:pPr>
          </a:p>
        </p:txBody>
      </p:sp>
      <p:sp>
        <p:nvSpPr>
          <p:cNvPr id="392" name="Quantum Leap"/>
          <p:cNvSpPr txBox="1"/>
          <p:nvPr>
            <p:ph type="ctrTitle"/>
          </p:nvPr>
        </p:nvSpPr>
        <p:spPr>
          <a:xfrm>
            <a:off x="673100" y="35366"/>
            <a:ext cx="23050500" cy="1691780"/>
          </a:xfrm>
          <a:prstGeom prst="rect">
            <a:avLst/>
          </a:prstGeom>
        </p:spPr>
        <p:txBody>
          <a:bodyPr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Quantum Leap</a:t>
            </a:r>
          </a:p>
        </p:txBody>
      </p:sp>
      <p:sp>
        <p:nvSpPr>
          <p:cNvPr id="393" name="Building Real Quantum Programs with Python"/>
          <p:cNvSpPr txBox="1"/>
          <p:nvPr>
            <p:ph type="subTitle" sz="quarter" idx="1"/>
          </p:nvPr>
        </p:nvSpPr>
        <p:spPr>
          <a:xfrm>
            <a:off x="673100" y="1986079"/>
            <a:ext cx="23050500" cy="1288158"/>
          </a:xfrm>
          <a:prstGeom prst="rect">
            <a:avLst/>
          </a:prstGeom>
        </p:spPr>
        <p:txBody>
          <a:bodyPr/>
          <a:lstStyle>
            <a:lvl1pPr defTabSz="610870">
              <a:defRPr cap="all" sz="7400">
                <a:solidFill>
                  <a:srgbClr val="FFFFFF"/>
                </a:solidFill>
              </a:defRPr>
            </a:lvl1pPr>
          </a:lstStyle>
          <a:p>
            <a:pPr/>
            <a:r>
              <a:t>Building Real Quantum Programs with Python</a:t>
            </a:r>
          </a:p>
        </p:txBody>
      </p:sp>
      <p:pic>
        <p:nvPicPr>
          <p:cNvPr id="394" name="qr.png" descr="qr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40800" y="5067300"/>
            <a:ext cx="6502400" cy="650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95" name="qr (1).png" descr="qr (1)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039530" y="5067300"/>
            <a:ext cx="6502401" cy="6502400"/>
          </a:xfrm>
          <a:prstGeom prst="rect">
            <a:avLst/>
          </a:prstGeom>
          <a:ln w="12700">
            <a:miter lim="400000"/>
          </a:ln>
        </p:spPr>
      </p:pic>
      <p:pic>
        <p:nvPicPr>
          <p:cNvPr id="396" name="qr (2).png" descr="qr (2)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42069" y="5067300"/>
            <a:ext cx="6502401" cy="65024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535353"/>
      </a:dk1>
      <a:lt1>
        <a:srgbClr val="340053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Gill Sans Light"/>
        <a:ea typeface="Gill Sans Light"/>
        <a:cs typeface="Gill Sans Light"/>
      </a:majorFont>
      <a:minorFont>
        <a:latin typeface="Gill Sans Light"/>
        <a:ea typeface="Gill Sans Light"/>
        <a:cs typeface="Gill Sans Light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50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Gill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825500" rtl="0" fontAlgn="auto" latinLnBrk="0" hangingPunct="0">
          <a:lnSpc>
            <a:spcPct val="120000"/>
          </a:lnSpc>
          <a:spcBef>
            <a:spcPts val="6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6400" u="none" kumimoji="0" normalizeH="0">
            <a:ln>
              <a:noFill/>
            </a:ln>
            <a:solidFill>
              <a:srgbClr val="535353"/>
            </a:solidFill>
            <a:effectLst/>
            <a:uFillTx/>
            <a:latin typeface="+mn-lt"/>
            <a:ea typeface="+mn-ea"/>
            <a:cs typeface="+mn-cs"/>
            <a:sym typeface="Gill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000000"/>
      </a:dk1>
      <a:lt1>
        <a:srgbClr val="FFFFFF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Gill Sans Light"/>
        <a:ea typeface="Gill Sans Light"/>
        <a:cs typeface="Gill Sans Light"/>
      </a:majorFont>
      <a:minorFont>
        <a:latin typeface="Gill Sans Light"/>
        <a:ea typeface="Gill Sans Light"/>
        <a:cs typeface="Gill Sans Light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50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Gill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825500" rtl="0" fontAlgn="auto" latinLnBrk="0" hangingPunct="0">
          <a:lnSpc>
            <a:spcPct val="120000"/>
          </a:lnSpc>
          <a:spcBef>
            <a:spcPts val="6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6400" u="none" kumimoji="0" normalizeH="0">
            <a:ln>
              <a:noFill/>
            </a:ln>
            <a:solidFill>
              <a:srgbClr val="535353"/>
            </a:solidFill>
            <a:effectLst/>
            <a:uFillTx/>
            <a:latin typeface="+mn-lt"/>
            <a:ea typeface="+mn-ea"/>
            <a:cs typeface="+mn-cs"/>
            <a:sym typeface="Gill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