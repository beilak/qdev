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7505e9f8ba44875" /><Relationship Type="http://schemas.openxmlformats.org/officeDocument/2006/relationships/extended-properties" Target="/docProps/app.xml" Id="R7907b048eacd4bdb" /><Relationship Type="http://schemas.openxmlformats.org/officeDocument/2006/relationships/officeDocument" Target="/ppt/presentation.xml" Id="Rdcc09c89a30646b7" /></Relationships>
</file>

<file path=ppt/presentation.xml><?xml version="1.0" encoding="utf-8"?>
<p:presentation xmlns:p="http://schemas.openxmlformats.org/presentationml/2006/main">
  <p:sldMasterIdLst>
    <p:sldMasterId xmlns:r="http://schemas.openxmlformats.org/officeDocument/2006/relationships" id="2147483648" r:id="R041fe3f6617644c7"/>
  </p:sldMasterIdLst>
  <p:notesMasterIdLst>
    <p:notesMasterId xmlns:r="http://schemas.openxmlformats.org/officeDocument/2006/relationships" r:id="R6ce8a0c8368b4889"/>
  </p:notesMasterIdLst>
  <p:sldIdLst>
    <p:sldId xmlns:r="http://schemas.openxmlformats.org/officeDocument/2006/relationships" id="256" r:id="R66a11645db294e2c"/>
    <p:sldId xmlns:r="http://schemas.openxmlformats.org/officeDocument/2006/relationships" id="257" r:id="R67e0462aba9a45cd"/>
    <p:sldId xmlns:r="http://schemas.openxmlformats.org/officeDocument/2006/relationships" id="258" r:id="R9eeb5d9d14874fec"/>
    <p:sldId xmlns:r="http://schemas.openxmlformats.org/officeDocument/2006/relationships" id="259" r:id="R69d90755c261436e"/>
    <p:sldId xmlns:r="http://schemas.openxmlformats.org/officeDocument/2006/relationships" id="260" r:id="R9627156b8f1f4e75"/>
    <p:sldId xmlns:r="http://schemas.openxmlformats.org/officeDocument/2006/relationships" id="261" r:id="Reace686ee3834e53"/>
    <p:sldId xmlns:r="http://schemas.openxmlformats.org/officeDocument/2006/relationships" id="262" r:id="R2305b8a6cf3443cb"/>
    <p:sldId xmlns:r="http://schemas.openxmlformats.org/officeDocument/2006/relationships" id="263" r:id="Rd90dd3f78232491f"/>
    <p:sldId xmlns:r="http://schemas.openxmlformats.org/officeDocument/2006/relationships" id="264" r:id="Rfb695845d1d842d0"/>
    <p:sldId xmlns:r="http://schemas.openxmlformats.org/officeDocument/2006/relationships" id="265" r:id="R5750e94da663459f"/>
    <p:sldId xmlns:r="http://schemas.openxmlformats.org/officeDocument/2006/relationships" id="266" r:id="R568c3aeab59e4777"/>
    <p:sldId xmlns:r="http://schemas.openxmlformats.org/officeDocument/2006/relationships" id="267" r:id="R324e829ab737408f"/>
    <p:sldId xmlns:r="http://schemas.openxmlformats.org/officeDocument/2006/relationships" id="268" r:id="Rde95cc21d67f4100"/>
    <p:sldId xmlns:r="http://schemas.openxmlformats.org/officeDocument/2006/relationships" id="269" r:id="Rebd8a054df4449ce"/>
    <p:sldId xmlns:r="http://schemas.openxmlformats.org/officeDocument/2006/relationships" id="270" r:id="R0dab09f8744a420c"/>
    <p:sldId xmlns:r="http://schemas.openxmlformats.org/officeDocument/2006/relationships" id="271" r:id="R429941190cfa4311"/>
    <p:sldId xmlns:r="http://schemas.openxmlformats.org/officeDocument/2006/relationships" id="272" r:id="R9dc4165e61ac428d"/>
    <p:sldId xmlns:r="http://schemas.openxmlformats.org/officeDocument/2006/relationships" id="273" r:id="Rc99b7b2ebd4047f7"/>
    <p:sldId xmlns:r="http://schemas.openxmlformats.org/officeDocument/2006/relationships" id="274" r:id="Reba0121751f442cb"/>
    <p:sldId xmlns:r="http://schemas.openxmlformats.org/officeDocument/2006/relationships" id="275" r:id="R1ed68bb618df4ea5"/>
    <p:sldId xmlns:r="http://schemas.openxmlformats.org/officeDocument/2006/relationships" id="276" r:id="R99343db8bd0b4e78"/>
    <p:sldId xmlns:r="http://schemas.openxmlformats.org/officeDocument/2006/relationships" id="277" r:id="R54ff763572fd4e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b9411869874a30" /><Relationship Type="http://schemas.openxmlformats.org/officeDocument/2006/relationships/slideMaster" Target="/ppt/slideMasters/slideMaster1.xml" Id="R041fe3f6617644c7" /><Relationship Type="http://schemas.openxmlformats.org/officeDocument/2006/relationships/notesMaster" Target="/ppt/notesMasters/notesMaster1.xml" Id="R6ce8a0c8368b4889" /><Relationship Type="http://schemas.openxmlformats.org/officeDocument/2006/relationships/presProps" Target="/ppt/presProps.xml" Id="R80e2f3efc26f4524" /><Relationship Type="http://schemas.openxmlformats.org/officeDocument/2006/relationships/tableStyles" Target="/ppt/tableStyles.xml" Id="Rdae4aad90ce14c2d" /><Relationship Type="http://schemas.openxmlformats.org/officeDocument/2006/relationships/slide" Target="/ppt/slides/slide1.xml" Id="R66a11645db294e2c" /><Relationship Type="http://schemas.openxmlformats.org/officeDocument/2006/relationships/slide" Target="/ppt/slides/slide2.xml" Id="R67e0462aba9a45cd" /><Relationship Type="http://schemas.openxmlformats.org/officeDocument/2006/relationships/slide" Target="/ppt/slides/slide3.xml" Id="R9eeb5d9d14874fec" /><Relationship Type="http://schemas.openxmlformats.org/officeDocument/2006/relationships/slide" Target="/ppt/slides/slide4.xml" Id="R69d90755c261436e" /><Relationship Type="http://schemas.openxmlformats.org/officeDocument/2006/relationships/slide" Target="/ppt/slides/slide5.xml" Id="R9627156b8f1f4e75" /><Relationship Type="http://schemas.openxmlformats.org/officeDocument/2006/relationships/slide" Target="/ppt/slides/slide6.xml" Id="Reace686ee3834e53" /><Relationship Type="http://schemas.openxmlformats.org/officeDocument/2006/relationships/slide" Target="/ppt/slides/slide7.xml" Id="R2305b8a6cf3443cb" /><Relationship Type="http://schemas.openxmlformats.org/officeDocument/2006/relationships/slide" Target="/ppt/slides/slide8.xml" Id="Rd90dd3f78232491f" /><Relationship Type="http://schemas.openxmlformats.org/officeDocument/2006/relationships/slide" Target="/ppt/slides/slide9.xml" Id="Rfb695845d1d842d0" /><Relationship Type="http://schemas.openxmlformats.org/officeDocument/2006/relationships/slide" Target="/ppt/slides/slide10.xml" Id="R5750e94da663459f" /><Relationship Type="http://schemas.openxmlformats.org/officeDocument/2006/relationships/slide" Target="/ppt/slides/slide11.xml" Id="R568c3aeab59e4777" /><Relationship Type="http://schemas.openxmlformats.org/officeDocument/2006/relationships/slide" Target="/ppt/slides/slide12.xml" Id="R324e829ab737408f" /><Relationship Type="http://schemas.openxmlformats.org/officeDocument/2006/relationships/slide" Target="/ppt/slides/slide13.xml" Id="Rde95cc21d67f4100" /><Relationship Type="http://schemas.openxmlformats.org/officeDocument/2006/relationships/slide" Target="/ppt/slides/slide14.xml" Id="Rebd8a054df4449ce" /><Relationship Type="http://schemas.openxmlformats.org/officeDocument/2006/relationships/slide" Target="/ppt/slides/slide15.xml" Id="R0dab09f8744a420c" /><Relationship Type="http://schemas.openxmlformats.org/officeDocument/2006/relationships/slide" Target="/ppt/slides/slide16.xml" Id="R429941190cfa4311" /><Relationship Type="http://schemas.openxmlformats.org/officeDocument/2006/relationships/slide" Target="/ppt/slides/slide17.xml" Id="R9dc4165e61ac428d" /><Relationship Type="http://schemas.openxmlformats.org/officeDocument/2006/relationships/slide" Target="/ppt/slides/slide18.xml" Id="Rc99b7b2ebd4047f7" /><Relationship Type="http://schemas.openxmlformats.org/officeDocument/2006/relationships/slide" Target="/ppt/slides/slide19.xml" Id="Reba0121751f442cb" /><Relationship Type="http://schemas.openxmlformats.org/officeDocument/2006/relationships/slide" Target="/ppt/slides/slide20.xml" Id="R1ed68bb618df4ea5" /><Relationship Type="http://schemas.openxmlformats.org/officeDocument/2006/relationships/slide" Target="/ppt/slides/slide21.xml" Id="R99343db8bd0b4e78" /><Relationship Type="http://schemas.openxmlformats.org/officeDocument/2006/relationships/slide" Target="/ppt/slides/slide22.xml" Id="R54ff763572fd4e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9ab0a35e1241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f6efde79a54f7d" /><Relationship Type="http://schemas.openxmlformats.org/officeDocument/2006/relationships/notesMaster" Target="/ppt/notesMasters/notesMaster1.xml" Id="R81f197534a224e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4c1b0160b74ec3" /><Relationship Type="http://schemas.openxmlformats.org/officeDocument/2006/relationships/notesMaster" Target="/ppt/notesMasters/notesMaster1.xml" Id="R142afb5243ab42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d4f1b7a826468e" /><Relationship Type="http://schemas.openxmlformats.org/officeDocument/2006/relationships/notesMaster" Target="/ppt/notesMasters/notesMaster1.xml" Id="R9118abe844024c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87ea06025d46ce" /><Relationship Type="http://schemas.openxmlformats.org/officeDocument/2006/relationships/notesMaster" Target="/ppt/notesMasters/notesMaster1.xml" Id="R41c53226350947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72618b82144e7d" /><Relationship Type="http://schemas.openxmlformats.org/officeDocument/2006/relationships/notesMaster" Target="/ppt/notesMasters/notesMaster1.xml" Id="Red297b7704704e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c7bb609de1494e" /><Relationship Type="http://schemas.openxmlformats.org/officeDocument/2006/relationships/notesMaster" Target="/ppt/notesMasters/notesMaster1.xml" Id="R1cf13998a64744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e1431ef0164ac8" /><Relationship Type="http://schemas.openxmlformats.org/officeDocument/2006/relationships/notesMaster" Target="/ppt/notesMasters/notesMaster1.xml" Id="R2cdbea0402d346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e145d9e7ad4932" /><Relationship Type="http://schemas.openxmlformats.org/officeDocument/2006/relationships/notesMaster" Target="/ppt/notesMasters/notesMaster1.xml" Id="Rd69fed7d46f441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1e590562fb4208" /><Relationship Type="http://schemas.openxmlformats.org/officeDocument/2006/relationships/notesMaster" Target="/ppt/notesMasters/notesMaster1.xml" Id="R7ecced0b49ea48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48b9b1f9dd489d" /><Relationship Type="http://schemas.openxmlformats.org/officeDocument/2006/relationships/notesMaster" Target="/ppt/notesMasters/notesMaster1.xml" Id="R8b44353b2fdb4a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e81d8af5254c8b" /><Relationship Type="http://schemas.openxmlformats.org/officeDocument/2006/relationships/notesMaster" Target="/ppt/notesMasters/notesMaster1.xml" Id="R85146a9143ae481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b400fca4e840ab" /><Relationship Type="http://schemas.openxmlformats.org/officeDocument/2006/relationships/notesMaster" Target="/ppt/notesMasters/notesMaster1.xml" Id="R2f034eade303480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205c176c16a430f" /><Relationship Type="http://schemas.openxmlformats.org/officeDocument/2006/relationships/notesMaster" Target="/ppt/notesMasters/notesMaster1.xml" Id="R6f8e4d2d04604db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466787ace3f497c" /><Relationship Type="http://schemas.openxmlformats.org/officeDocument/2006/relationships/notesMaster" Target="/ppt/notesMasters/notesMaster1.xml" Id="R6558bffc6c3c44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2998f3a29554e20" /><Relationship Type="http://schemas.openxmlformats.org/officeDocument/2006/relationships/notesMaster" Target="/ppt/notesMasters/notesMaster1.xml" Id="Rccf8277061a74a6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dc1797bb06643e3" /><Relationship Type="http://schemas.openxmlformats.org/officeDocument/2006/relationships/notesMaster" Target="/ppt/notesMasters/notesMaster1.xml" Id="Rf2346e7626cd402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3801ccccac4c9b" /><Relationship Type="http://schemas.openxmlformats.org/officeDocument/2006/relationships/notesMaster" Target="/ppt/notesMasters/notesMaster1.xml" Id="Rd31b7cc1686b479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38efeb813274473" /><Relationship Type="http://schemas.openxmlformats.org/officeDocument/2006/relationships/notesMaster" Target="/ppt/notesMasters/notesMaster1.xml" Id="R92197ac8fd1142b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dcc70542fb84cae" /><Relationship Type="http://schemas.openxmlformats.org/officeDocument/2006/relationships/notesMaster" Target="/ppt/notesMasters/notesMaster1.xml" Id="R397e86c758eb435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4b93529e2ec4660" /><Relationship Type="http://schemas.openxmlformats.org/officeDocument/2006/relationships/notesMaster" Target="/ppt/notesMasters/notesMaster1.xml" Id="Re6d887ffa6b84c5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29b02e272e341fa" /><Relationship Type="http://schemas.openxmlformats.org/officeDocument/2006/relationships/notesMaster" Target="/ppt/notesMasters/notesMaster1.xml" Id="R2bee62e6468449c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8005261ae184fbb" /><Relationship Type="http://schemas.openxmlformats.org/officeDocument/2006/relationships/notesMaster" Target="/ppt/notesMasters/notesMaster1.xml" Id="R4325e452daed4d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 minutes</a:t>
            </a:r>
          </a:p>
          <a:p xmlns:a="http://schemas.openxmlformats.org/drawingml/2006/main">
            <a:r>
              <a:t/>
            </a:r>
          </a:p>
          <a:p xmlns:a="http://schemas.openxmlformats.org/drawingml/2006/main">
            <a:r>
              <a:t>Opening: “I will show you a small quantum program, read its output, and show the same workflow on a real device.” State that Python knowledge is enough. Avoid promises about business speedups.</a:t>
            </a:r>
          </a:p>
          <a:p xmlns:a="http://schemas.openxmlformats.org/drawingml/2006/main">
            <a:r>
              <a:t/>
            </a:r>
          </a:p>
          <a:p xmlns:a="http://schemas.openxmlformats.org/drawingml/2006/main">
            <a:r>
              <a:t>Source material: presentations/for_engineers/PythoNN/Q_PythoNN.pdf, p. 1; supplied conference title</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
            </a:r>
          </a:p>
          <a:p xmlns:a="http://schemas.openxmlformats.org/drawingml/2006/main">
            <a:r>
              <a:t>Python constructs and submits a circuit. A simulator computes its behavior on a classical machine. A quantum processor executes the compiled gates. Both return measurement samples. A shot means one circuit execution followed by measurement. Transition: what do the gates act on?</a:t>
            </a:r>
          </a:p>
          <a:p xmlns:a="http://schemas.openxmlformats.org/drawingml/2006/main">
            <a:r>
              <a:t/>
            </a:r>
          </a:p>
          <a:p xmlns:a="http://schemas.openxmlformats.org/drawingml/2006/main">
            <a:r>
              <a:t>Source material: src/first_step/Q_Hello_World.ipynb, cells 4, 6, 7; src/optimization_problem/VQE_conference.ipynb, cells 11–12</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A qubit can have complex amplitudes alpha and beta. Their squared magnitudes determine measurement probabilities. The H gate on a zero input gives equal probabilities. Measurement returns one classical bit. Explain phase only as a property gates can use to change later probabilities. Do not say the machine reads every answer simultaneously. The old “greater capacity” phrase hides this distinction.</a:t>
            </a:r>
          </a:p>
          <a:p xmlns:a="http://schemas.openxmlformats.org/drawingml/2006/main">
            <a:r>
              <a:t/>
            </a:r>
          </a:p>
          <a:p xmlns:a="http://schemas.openxmlformats.org/drawingml/2006/main">
            <a:r>
              <a:t>Source material: presentations/for_engineers/PythoNN/Q_PythoNN.pdf, pp. 5–8; presentations/for_engineers/2023_first_pres/Quantum.pptx, slide 7; src/first_step/Q_Hello_World.ipynb, cell 4</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X flips a computational-basis value. H prepares equal probabilities from zero. CX flips its target when its control is one, stated for basis inputs. It can create entanglement on a superposed control. CCX has two controls. RY uses an adjustable angle. CZ changes a phase and can entangle suitable inputs. Avoid implying that CX copies arbitrary unknown quantum states.</a:t>
            </a:r>
          </a:p>
          <a:p xmlns:a="http://schemas.openxmlformats.org/drawingml/2006/main">
            <a:r>
              <a:t/>
            </a:r>
          </a:p>
          <a:p xmlns:a="http://schemas.openxmlformats.org/drawingml/2006/main">
            <a:r>
              <a:t>Source material: src/classic_on_quantum/half_adder.ipynb, cells 4–5; src/first_step/Q_Hello_World.ipynb, cell 4; src/optimization_problem/VQE_conference.ipynb, cells 2–5</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Use ordinary binary addition as a bridge. Inputs stay in q0 and q1. q2 stores the XOR sum and q3 stores the AND carry, both starting at zero. The notebook measures q2 into c0 and q3 into c1. Qiskit prints c1c0, hence 1+1 gives 10. This circuit demonstrates reversible logic, without a speedup claim. Local rehearsal checked all four input cases.</a:t>
            </a:r>
          </a:p>
          <a:p xmlns:a="http://schemas.openxmlformats.org/drawingml/2006/main">
            <a:r>
              <a:t/>
            </a:r>
          </a:p>
          <a:p xmlns:a="http://schemas.openxmlformats.org/drawingml/2006/main">
            <a:r>
              <a:t>Source material: src/classic_on_quantum/half_adder.ipynb, cells 3–6</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Build the exact three-qubit circuit from the supplied Hello World notebook. H prepares the first qubit. Each CX correlates another qubit. Before measurement the ideal circuit prepares the GHZ state (|000&gt; + |111&gt;)/sqrt(2), which is entangled. The older decks use the two-qubit Bell version. Distinguish these variants. Computational-basis counts alone do not certify entanglement because a classical mixture can give the same histogram.</a:t>
            </a:r>
          </a:p>
          <a:p xmlns:a="http://schemas.openxmlformats.org/drawingml/2006/main">
            <a:r>
              <a:t/>
            </a:r>
          </a:p>
          <a:p xmlns:a="http://schemas.openxmlformats.org/drawingml/2006/main">
            <a:r>
              <a:t>Source material: src/first_step/Q_Hello_World.ipynb, cell 4; presentations/for_engineers/PythoNN/Q_PythoNN.pdf, p. 10; presentations/for_engineers/ItFest/Бейлак_Алиев_финал.pptx, slide 10</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Run the circuit from the previous slide. StatevectorSampler is a local ideal simulator in Qiskit. It produces sampled counts. measure_all creates the register named meas, which explains data.meas. The half-adder has register c instead, so use data.c for that circuit. Show this run live, allow about one minute including a question about expected counts. Documentation: https://quantum.cloud.ibm.com/docs/en/api/qiskit/qiskit.primitives.StatevectorSampler</a:t>
            </a:r>
          </a:p>
          <a:p xmlns:a="http://schemas.openxmlformats.org/drawingml/2006/main">
            <a:r>
              <a:t/>
            </a:r>
          </a:p>
          <a:p xmlns:a="http://schemas.openxmlformats.org/drawingml/2006/main">
            <a:r>
              <a:t>Source material: src/first_step/Q_Hello_World.ipynb, cell 6, migrated using StatevectorSampler already used in src/optimization_problem/VQE_conference.ipynb, cell 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 notebook saved 537 occurrences of 000 and 487 of 111, totaling 1,024. This is a historical simulator result. An ideal circuit gives equal probabilities, but finite counts need not match. The updated local rehearsal gave 515 and 509. Never present either histogram as fresh hardware data. Ask why 001 is absent in the ideal simulator. Note that noise can introduce other strings on a device.</a:t>
            </a:r>
          </a:p>
          <a:p xmlns:a="http://schemas.openxmlformats.org/drawingml/2006/main">
            <a:r>
              <a:t/>
            </a:r>
          </a:p>
          <a:p xmlns:a="http://schemas.openxmlformats.org/drawingml/2006/main">
            <a:r>
              <a:t>Source material: src/first_step/Q_Hello_World.ipynb, cell 6, saved output</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Introduce the supplied objective and enumerate four possibilities so the audience knows the correct answer before discussing VQE. q0 represents a and q1 represents b. 01 therefore means a=1 and b=0, with objective 3. Enumeration is the classical reference for this toy problem. The exercise shows the mechanism of a variational algorithm.</a:t>
            </a:r>
          </a:p>
          <a:p xmlns:a="http://schemas.openxmlformats.org/drawingml/2006/main">
            <a:r>
              <a:t/>
            </a:r>
          </a:p>
          <a:p xmlns:a="http://schemas.openxmlformats.org/drawingml/2006/main">
            <a:r>
              <a:t>Source material: src/optimization_problem/VQE_conference.ipynb, cells 1–3</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VQE means Variational Quantum Eigensolver. An ansatz is an adjustable trial circuit. The notebook uses RY rotations and CZ gates. SamplingVQE estimates a diagonal Ising cost from sampled outcomes. COBYLA changes angles on the classical CPU. The model conversion turns maximization into energy minimization. CZ is a circuit design choice: the ab term does not itself require an entangled optimal state. Here the optimum is a basis state. Documentation: https://qiskit-community.github.io/qiskit-algorithms/stubs/qiskit_algorithms.SamplingVQE.html</a:t>
            </a:r>
          </a:p>
          <a:p xmlns:a="http://schemas.openxmlformats.org/drawingml/2006/main">
            <a:r>
              <a:t/>
            </a:r>
          </a:p>
          <a:p xmlns:a="http://schemas.openxmlformats.org/drawingml/2006/main">
            <a:r>
              <a:t>Source material: src/optimization_problem/VQE_conference.ipynb, cells 2, 4, 6–7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This is the central loop, with model construction and imports in the notebook and rehearsal script. small_problem is the objective on slide 9. cost_operator and small_ansatz come from cell 2. Show the seed and evaluation budget. The run uses 1,024 shots per sampled energy estimate and a COBYLA budget of 20 evaluations. The sampled cost need not improve at every evaluation. Run the supplied local rehearsal if there is time. Documentation: https://qiskit-community.github.io/qiskit-algorithms/stubs/qiskit_algorithms.SamplingVQE.html</a:t>
            </a:r>
          </a:p>
          <a:p xmlns:a="http://schemas.openxmlformats.org/drawingml/2006/main">
            <a:r>
              <a:t/>
            </a:r>
          </a:p>
          <a:p xmlns:a="http://schemas.openxmlformats.org/drawingml/2006/main">
            <a:r>
              <a:t>Source material: src/optimization_problem/VQE_conference.ipynb, cells 2, 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 saved simulator output has 984 occurrences of 01 out of 1,024. Group the remaining 40 under Other because the saved text explicitly reports the mode, not each remaining count. The most frequent bitstring directly decodes to the optimum. This differs from selecting a rare good candidate from many samples. Local rehearsal reproduced 984/1024 in this environment.</a:t>
            </a:r>
          </a:p>
          <a:p xmlns:a="http://schemas.openxmlformats.org/drawingml/2006/main">
            <a:r>
              <a:t/>
            </a:r>
          </a:p>
          <a:p xmlns:a="http://schemas.openxmlformats.org/drawingml/2006/main">
            <a:r>
              <a:t>Source material: src/optimization_problem/VQE_conference.ipynb, cells 7–9, saved output</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minutes</a:t>
            </a:r>
          </a:p>
          <a:p xmlns:a="http://schemas.openxmlformats.org/drawingml/2006/main">
            <a:r>
              <a:t/>
            </a:r>
          </a:p>
          <a:p xmlns:a="http://schemas.openxmlformats.org/drawingml/2006/main">
            <a:r>
              <a:t>Prerequisite: configure an IBM Quantum Platform account and an accessible service instance using current instructions. QiskitRuntimeService() loads the saved account. Bind the trained angles before hardware execution: measured_circuit = small_ansatz.assign_parameters(small_result.optimal_point), then measured_circuit.measure_all(). Compile for the selected backend and submit one SamplerV2 job. Print and save job.job_id(). Read counts with job.result()[0].data.meas.get_counts(). Do not wait for a queue on stage. The supplied notebook defaults to retrieval of its existing job. No new QPU job was submitted while preparing this deck. Current account guide: https://quantum.cloud.ibm.com/docs/en/guides/initialize-account</a:t>
            </a:r>
          </a:p>
          <a:p xmlns:a="http://schemas.openxmlformats.org/drawingml/2006/main">
            <a:r>
              <a:t>Sampler API: https://quantum.cloud.ibm.com/docs/en/api/qiskit-ibm-runtime/sampler-v2</a:t>
            </a:r>
          </a:p>
          <a:p xmlns:a="http://schemas.openxmlformats.org/drawingml/2006/main">
            <a:r>
              <a:t>Service API: https://quantum.cloud.ibm.com/docs/en/api/qiskit-ibm-runtime/qiskit-runtime-service</a:t>
            </a:r>
          </a:p>
          <a:p xmlns:a="http://schemas.openxmlformats.org/drawingml/2006/main">
            <a:r>
              <a:t/>
            </a:r>
          </a:p>
          <a:p xmlns:a="http://schemas.openxmlformats.org/drawingml/2006/main">
            <a:r>
              <a:t>Source material: src/optimization_problem/VQE_conference.ipynb, cell 11; execution pattern from src/first_step/Q_Hello_World.ipynb, cell 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These counts come from the saved output of job dasegqjojkfs738p8fng on ibm_marrakesh. They were not fetched again for this draft. The angles were optimized on the local simulator and held fixed on the device. This is one hardware sampling job, not full VQE training on a QPU. 986 versus 984 occurrences of the mode does not establish a fidelity improvement or quantum advantage. Recheck the job metadata and backend name before the talk.</a:t>
            </a:r>
          </a:p>
          <a:p xmlns:a="http://schemas.openxmlformats.org/drawingml/2006/main">
            <a:r>
              <a:t/>
            </a:r>
          </a:p>
          <a:p xmlns:a="http://schemas.openxmlformats.org/drawingml/2006/main">
            <a:r>
              <a:t>Source material: src/optimization_problem/VQE_conference.ipynb, cells 11–13</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Use the supplied three-qubit target 010. The initial distribution assigns probability 1/8 to every string. The notebook applies one Grover iteration. An exact local statevector calculation gives 25/32 = 78.125% for 010. The target is built into a toy oracle. This example does not load or search a Python database. The asymptotic O(sqrt(N)) statement concerns oracle queries under the search model. Oracle implementation and data loading cost still matter. Documentation: https://quantum.cloud.ibm.com/docs/en/api/qiskit/qiskit.circuit.library.grover_operator</a:t>
            </a:r>
          </a:p>
          <a:p xmlns:a="http://schemas.openxmlformats.org/drawingml/2006/main">
            <a:r>
              <a:t>Query model: https://quantum.cloud.ibm.com/learning/en/courses/fundamentals-of-quantum-algorithms/grover-algorithm/unstructured-search</a:t>
            </a:r>
          </a:p>
          <a:p xmlns:a="http://schemas.openxmlformats.org/drawingml/2006/main">
            <a:r>
              <a:t/>
            </a:r>
          </a:p>
          <a:p xmlns:a="http://schemas.openxmlformats.org/drawingml/2006/main">
            <a:r>
              <a:t>Source material: src/grover/Grover.ipynb, cells 5–8; presentations/for_engineers/ItFest/Бейлак_Алиев_финал.pptx, slides 12–17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 current graph uses seven cities and eight directed edges, so the edge-based QUBO has eight binary variables and eight qubits. Start Moscow, end Florianopolis, with Baku required. The cheapest route follows Moscow, Baku, Doha, Florianopolis with toy cost 4+2+5=11. The notebook saved a successful candidate but only about 1.9% of all samples were feasible. Its text describes an older graph and seven qubits, which needs correction. The current code has no executed NetworkX baseline comparison despite its narrative promise. We independently enumerated the three feasible paths for this small graph: costs 11, 12, 12.</a:t>
            </a:r>
          </a:p>
          <a:p xmlns:a="http://schemas.openxmlformats.org/drawingml/2006/main">
            <a:r>
              <a:t/>
            </a:r>
          </a:p>
          <a:p xmlns:a="http://schemas.openxmlformats.org/drawingml/2006/main">
            <a:r>
              <a:t>Source material: src/traveling_salesman/travel_between_city/TSP.ipynb, cells 1, 3, 5, 9</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
            </a:r>
          </a:p>
          <a:p xmlns:a="http://schemas.openxmlformats.org/drawingml/2006/main">
            <a:r>
              <a:t>Summarize what the supplied evidence actually supports. The circuits run and produce samples. A tiny objective can yield a dominant optimum in the saved VQE run. The saved hardware experiment executes fixed angles on a device. Grover illustrates amplitude amplification under a toy oracle. The route example exposes constraint handling and poor feasible sampling. None of these establishes a speed advantage. Keep this limit concise and tied to the examples.</a:t>
            </a:r>
          </a:p>
          <a:p xmlns:a="http://schemas.openxmlformats.org/drawingml/2006/main">
            <a:r>
              <a:t/>
            </a:r>
          </a:p>
          <a:p xmlns:a="http://schemas.openxmlformats.org/drawingml/2006/main">
            <a:r>
              <a:t>Source material: src/first_step/Q_Hello_World.ipynb, src/optimization_problem/VQE_conference.ipynb, src/grover/Grover.ipynb, src/traveling_salesman/travel_between_city/TSP.ipynb</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 minutes</a:t>
            </a:r>
          </a:p>
          <a:p xmlns:a="http://schemas.openxmlformats.org/drawingml/2006/main">
            <a:r>
              <a:t/>
            </a:r>
          </a:p>
          <a:p xmlns:a="http://schemas.openxmlformats.org/drawingml/2006/main">
            <a:r>
              <a:t>Closing: “You can build a circuit, sample it locally, and submit its compiled version to a quantum processor. The result is a distribution you need to interpret.” Point to the supplied repository. The GitHub link comes from the notebooks, but the current uncommitted notebook versions may not be published. Before sharing it publicly, verify that the exact rehearsal material is available at the intended revision. Invite questions.</a:t>
            </a:r>
          </a:p>
          <a:p xmlns:a="http://schemas.openxmlformats.org/drawingml/2006/main">
            <a:r>
              <a:t/>
            </a:r>
          </a:p>
          <a:p xmlns:a="http://schemas.openxmlformats.org/drawingml/2006/main">
            <a:r>
              <a:t>Source material: All five supplied notebooks; project repository linked in the source notebooks</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Five model variables comprise three binary choices plus two bounded integers. QUBO conversion introduces a total of fourteen binary variables. The saved solution is x1=1, x2=1, x3=0, x4=10, x5=5, objective 47. The constraint requires x4+x5 &gt;= 15. This optimum can be verified directly for the toy model. MinimumEigenOptimizer chooses the best feasible decoded sample. The notebook states that the returned assignment is rare, but does not save a numerical frequency for it. Do not invent one or say that the modal string represents this answer.</a:t>
            </a:r>
          </a:p>
          <a:p xmlns:a="http://schemas.openxmlformats.org/drawingml/2006/main">
            <a:r>
              <a:t/>
            </a:r>
          </a:p>
          <a:p xmlns:a="http://schemas.openxmlformats.org/drawingml/2006/main">
            <a:r>
              <a:t>Source material: src/optimization_problem/VQE_conference.ipynb, cells 14–20</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The deprecated qiskit-ibm-provider / backend.run path applies to IBM cloud execution. Do not generalize the removal to every backend or to local Aer. Aer remains a separate simulator package. The draft uses StatevectorSampler for the ideal local examples, matching the current VQE notebook. qiskit[optimaze] in Grover is an invalid extra, not a valid dependency choice. Legacy Colab badges point to paths without src and should be checked. GroverOperator remains available in the installed 2.5.2 environment but is deprecated. Documentation: https://quantum.cloud.ibm.com/docs/en/guides/install-qiskit</a:t>
            </a:r>
          </a:p>
          <a:p xmlns:a="http://schemas.openxmlformats.org/drawingml/2006/main">
            <a:r>
              <a:t>https://quantum.cloud.ibm.com/docs/en/api/qiskit/qiskit.primitives.StatevectorSampler</a:t>
            </a:r>
          </a:p>
          <a:p xmlns:a="http://schemas.openxmlformats.org/drawingml/2006/main">
            <a:r>
              <a:t>https://quantum.cloud.ibm.com/docs/en/api/qiskit-ibm-runtime/sampler-v2</a:t>
            </a:r>
          </a:p>
          <a:p xmlns:a="http://schemas.openxmlformats.org/drawingml/2006/main">
            <a:r>
              <a:t>https://quantum.cloud.ibm.com/docs/api/qiskit/2.2/qiskit.circuit.library.GroverOperator</a:t>
            </a:r>
          </a:p>
          <a:p xmlns:a="http://schemas.openxmlformats.org/drawingml/2006/main">
            <a:r>
              <a:t/>
            </a:r>
          </a:p>
          <a:p xmlns:a="http://schemas.openxmlformats.org/drawingml/2006/main">
            <a:r>
              <a:t>Source material: Legacy cells in Hello World, half_adder and Grover. Modern cells in VQE and TSP.</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The older material includes historical hardware counts, job titles, contact details and broad QML labels. Osprey had 433 qubits in 2022. The ItFest timeline associates that figure with 2024, which should be corrected. Do not substitute a new largest-qubit claim unless needed and verified. The qubit wording needs measurement probabilities. The QML/QNN teaser has no corresponding implementation in the five supplied notebooks, so it is outside the core talk. The route markdown needs the current seven-city, eight-edge graph. The VQE claim that an ab interaction gives entanglement a necessary role is too strong: this optimum is a product basis state.</a:t>
            </a:r>
          </a:p>
          <a:p xmlns:a="http://schemas.openxmlformats.org/drawingml/2006/main">
            <a:r>
              <a:t/>
            </a:r>
          </a:p>
          <a:p xmlns:a="http://schemas.openxmlformats.org/drawingml/2006/main">
            <a:r>
              <a:t>Source material: presentations/for_engineers/2023_first_pres/Quantum.pptx, slides 5, 7–9, 16; presentations/for_engineers/ItFest/Бейлак_Алиев_финал.pptx, slides 3, 7; presentations/for_engineers/PythoNN/Q_PythoNN.pdf, pp. 3, 7, 12; src/traveling_salesman/travel_between_city/TSP.ipynb, markdown cells</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These links support migration and accuracy checks, not additional case studies. Checked 27 September 2026. The detailed source audit maps findings to the supplied notebook cells and old slides. The legacy migration guide is archived and serves as evidence of the removed IBM execution path. Use current API pages for implementation.</a:t>
            </a:r>
          </a:p>
          <a:p xmlns:a="http://schemas.openxmlformats.org/drawingml/2006/main">
            <a:r>
              <a:t>sampler: https://quantum.cloud.ibm.com/docs/en/api/qiskit/qiskit.primitives.StatevectorSampler</a:t>
            </a:r>
          </a:p>
          <a:p xmlns:a="http://schemas.openxmlformats.org/drawingml/2006/main">
            <a:r>
              <a:t>runtime: https://quantum.cloud.ibm.com/docs/en/api/qiskit-ibm-runtime/sampler-v2</a:t>
            </a:r>
          </a:p>
          <a:p xmlns:a="http://schemas.openxmlformats.org/drawingml/2006/main">
            <a:r>
              <a:t>account: https://quantum.cloud.ibm.com/docs/en/guides/initialize-account</a:t>
            </a:r>
          </a:p>
          <a:p xmlns:a="http://schemas.openxmlformats.org/drawingml/2006/main">
            <a:r>
              <a:t>service: https://quantum.cloud.ibm.com/docs/en/api/qiskit-ibm-runtime/qiskit-runtime-service</a:t>
            </a:r>
          </a:p>
          <a:p xmlns:a="http://schemas.openxmlformats.org/drawingml/2006/main">
            <a:r>
              <a:t>bits: https://quantum.cloud.ibm.com/docs/en/guides/bit-ordering</a:t>
            </a:r>
          </a:p>
          <a:p xmlns:a="http://schemas.openxmlformats.org/drawingml/2006/main">
            <a:r>
              <a:t>grover: https://quantum.cloud.ibm.com/docs/en/api/qiskit/qiskit.circuit.library.grover_operator</a:t>
            </a:r>
          </a:p>
          <a:p xmlns:a="http://schemas.openxmlformats.org/drawingml/2006/main">
            <a:r>
              <a:t>deprecated: https://quantum.cloud.ibm.com/docs/api/qiskit/2.2/qiskit.circuit.library.GroverOperator</a:t>
            </a:r>
          </a:p>
          <a:p xmlns:a="http://schemas.openxmlformats.org/drawingml/2006/main">
            <a:r>
              <a:t>query: https://quantum.cloud.ibm.com/learning/en/courses/fundamentals-of-quantum-algorithms/grover-algorithm/unstructured-search</a:t>
            </a:r>
          </a:p>
          <a:p xmlns:a="http://schemas.openxmlformats.org/drawingml/2006/main">
            <a:r>
              <a:t>vqe: https://qiskit-community.github.io/qiskit-algorithms/stubs/qiskit_algorithms.SamplingVQE.html</a:t>
            </a:r>
          </a:p>
          <a:p xmlns:a="http://schemas.openxmlformats.org/drawingml/2006/main">
            <a:r>
              <a:t>qubo: https://qiskit-community.github.io/qiskit-optimization/tutorials/03_minimum_eigen_optimizer.html</a:t>
            </a:r>
          </a:p>
          <a:p xmlns:a="http://schemas.openxmlformats.org/drawingml/2006/main">
            <a:r>
              <a:t>install: https://quantum.cloud.ibm.com/docs/en/guides/install-qiskit</a:t>
            </a:r>
          </a:p>
          <a:p xmlns:a="http://schemas.openxmlformats.org/drawingml/2006/main">
            <a:r>
              <a:t>osprey: https://research.ibm.com/blog/research-annual-letter-2022</a:t>
            </a:r>
          </a:p>
          <a:p xmlns:a="http://schemas.openxmlformats.org/drawingml/2006/main">
            <a:r>
              <a:t>migration: https://github.com/Qiskit/documentation/blob/2d2c2fcad47dd9e7ac1cc6807527dfccd796ea24/docs/migration-guides/qiskit-runtime.mdx</a:t>
            </a:r>
          </a:p>
          <a:p xmlns:a="http://schemas.openxmlformats.org/drawingml/2006/main">
            <a:r>
              <a:t>repo: https://github.com/beilak/qdev</a:t>
            </a:r>
          </a:p>
          <a:p xmlns:a="http://schemas.openxmlformats.org/drawingml/2006/main">
            <a:r>
              <a:t/>
            </a:r>
          </a:p>
          <a:p xmlns:a="http://schemas.openxmlformats.org/drawingml/2006/main">
            <a:r>
              <a:t>Source material: Official documentation used only to check and update supplied material</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583aa070f094a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5bb79324324206" /><Relationship Type="http://schemas.openxmlformats.org/officeDocument/2006/relationships/slideLayout" Target="/ppt/slideLayouts/slideLayout1.xml" Id="R983e5952772941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3e5952772941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f820e9e71eb47aa" /><Relationship Type="http://schemas.openxmlformats.org/officeDocument/2006/relationships/notesSlide" Target="/ppt/notesSlides/notesSlide1.xml" Id="Rda74d6b59c9343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7d2f99519e4749" /><Relationship Type="http://schemas.openxmlformats.org/officeDocument/2006/relationships/notesSlide" Target="/ppt/notesSlides/notesSlide2.xml" Id="R8671b073210942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f34005afb34546" /><Relationship Type="http://schemas.openxmlformats.org/officeDocument/2006/relationships/notesSlide" Target="/ppt/notesSlides/notesSlide3.xml" Id="R3fe5a95f490a48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59c37233ceb4093" /><Relationship Type="http://schemas.openxmlformats.org/officeDocument/2006/relationships/notesSlide" Target="/ppt/notesSlides/notesSlide4.xml" Id="Rd195a4385aa046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0fbf1c2fa974f42" /><Relationship Type="http://schemas.openxmlformats.org/officeDocument/2006/relationships/hyperlink" Target="https://quantum.cloud.ibm.com/docs/en/guides/bit-ordering" TargetMode="External" Id="Rbd43397532a14eec" /><Relationship Type="http://schemas.openxmlformats.org/officeDocument/2006/relationships/notesSlide" Target="/ppt/notesSlides/notesSlide5.xml" Id="R1be929cd4ed349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0b001dd4ee4a49" /><Relationship Type="http://schemas.openxmlformats.org/officeDocument/2006/relationships/notesSlide" Target="/ppt/notesSlides/notesSlide6.xml" Id="R6271ff851b2e4e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e995eda2e44b1d" /><Relationship Type="http://schemas.openxmlformats.org/officeDocument/2006/relationships/hyperlink" Target="https://quantum.cloud.ibm.com/docs/en/api/qiskit/qiskit.primitives.StatevectorSampler" TargetMode="External" Id="R1c99d2692c8e4ee8" /><Relationship Type="http://schemas.openxmlformats.org/officeDocument/2006/relationships/notesSlide" Target="/ppt/notesSlides/notesSlide7.xml" Id="R29fc50677f7a48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b8d9ba1622f4bf7" /><Relationship Type="http://schemas.openxmlformats.org/officeDocument/2006/relationships/chart" Target="/ppt/slides/charts/chart1.xml" Id="Rf13e8e1d02ae45e0" /><Relationship Type="http://schemas.openxmlformats.org/officeDocument/2006/relationships/notesSlide" Target="/ppt/notesSlides/notesSlide8.xml" Id="Rb1d97a9ec1bd4b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006ebfc89b43e7" /><Relationship Type="http://schemas.openxmlformats.org/officeDocument/2006/relationships/hyperlink" Target="https://quantum.cloud.ibm.com/docs/en/guides/bit-ordering" TargetMode="External" Id="R48045274e4494fa8" /><Relationship Type="http://schemas.openxmlformats.org/officeDocument/2006/relationships/notesSlide" Target="/ppt/notesSlides/notesSlide9.xml" Id="R367eb765cab248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34afb7c075e4731" /><Relationship Type="http://schemas.openxmlformats.org/officeDocument/2006/relationships/notesSlide" Target="/ppt/notesSlides/notesSlide10.xml" Id="R2c7998c4b40641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c8bbf6137c54256" /><Relationship Type="http://schemas.openxmlformats.org/officeDocument/2006/relationships/hyperlink" Target="https://qiskit-community.github.io/qiskit-algorithms/stubs/qiskit_algorithms.SamplingVQE.html" TargetMode="External" Id="R215e3c98c7ff4d9f" /><Relationship Type="http://schemas.openxmlformats.org/officeDocument/2006/relationships/notesSlide" Target="/ppt/notesSlides/notesSlide11.xml" Id="Rb72a16f819d4450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e0b0ed834c74be8" /><Relationship Type="http://schemas.openxmlformats.org/officeDocument/2006/relationships/chart" Target="/ppt/slides/charts/chart2.xml" Id="R7fcfe14e31314b0f" /><Relationship Type="http://schemas.openxmlformats.org/officeDocument/2006/relationships/notesSlide" Target="/ppt/notesSlides/notesSlide12.xml" Id="R7be0d802c52a4e6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ccb2e873a2c4be1" /><Relationship Type="http://schemas.openxmlformats.org/officeDocument/2006/relationships/hyperlink" Target="https://quantum.cloud.ibm.com/docs/en/guides/initialize-account" TargetMode="External" Id="Raac78bd249414966" /><Relationship Type="http://schemas.openxmlformats.org/officeDocument/2006/relationships/notesSlide" Target="/ppt/notesSlides/notesSlide13.xml" Id="R1e7fb05ed5834e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20a4e03c5fd4b58" /><Relationship Type="http://schemas.openxmlformats.org/officeDocument/2006/relationships/chart" Target="/ppt/slides/charts/chart3.xml" Id="R8b8b487fa0804118" /><Relationship Type="http://schemas.openxmlformats.org/officeDocument/2006/relationships/notesSlide" Target="/ppt/notesSlides/notesSlide14.xml" Id="R137f7551203b448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b1d60d97fbd44e8" /><Relationship Type="http://schemas.openxmlformats.org/officeDocument/2006/relationships/chart" Target="/ppt/slides/charts/chart4.xml" Id="R0be8d6940d8146e3" /><Relationship Type="http://schemas.openxmlformats.org/officeDocument/2006/relationships/hyperlink" Target="https://quantum.cloud.ibm.com/docs/en/api/qiskit/qiskit.circuit.library.grover_operator" TargetMode="External" Id="R2ab81aa505cc4406" /><Relationship Type="http://schemas.openxmlformats.org/officeDocument/2006/relationships/notesSlide" Target="/ppt/notesSlides/notesSlide15.xml" Id="R00d7a780a34340c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3342684dc5b4be4" /><Relationship Type="http://schemas.openxmlformats.org/officeDocument/2006/relationships/hyperlink" Target="https://qiskit-community.github.io/qiskit-optimization/tutorials/03_minimum_eigen_optimizer.html" TargetMode="External" Id="Rfec17ae0cad5434a" /><Relationship Type="http://schemas.openxmlformats.org/officeDocument/2006/relationships/notesSlide" Target="/ppt/notesSlides/notesSlide16.xml" Id="R29a26d89dedb486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4d0c528d6cf4170" /><Relationship Type="http://schemas.openxmlformats.org/officeDocument/2006/relationships/notesSlide" Target="/ppt/notesSlides/notesSlide17.xml" Id="R4ebd64638f3f42a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f9ccb21fa96477f" /><Relationship Type="http://schemas.openxmlformats.org/officeDocument/2006/relationships/hyperlink" Target="https://github.com/beilak/qdev" TargetMode="External" Id="R53898beaa04d4736" /><Relationship Type="http://schemas.openxmlformats.org/officeDocument/2006/relationships/notesSlide" Target="/ppt/notesSlides/notesSlide18.xml" Id="R69c15b154e7e460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b90e35f45a14abb" /><Relationship Type="http://schemas.openxmlformats.org/officeDocument/2006/relationships/hyperlink" Target="https://qiskit-community.github.io/qiskit-optimization/tutorials/03_minimum_eigen_optimizer.html" TargetMode="External" Id="R9f6b2226e1914905" /><Relationship Type="http://schemas.openxmlformats.org/officeDocument/2006/relationships/notesSlide" Target="/ppt/notesSlides/notesSlide19.xml" Id="Raaa49b68d98c447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289544474f84a24" /><Relationship Type="http://schemas.openxmlformats.org/officeDocument/2006/relationships/hyperlink" Target="https://quantum.cloud.ibm.com/docs/en/guides/install-qiskit" TargetMode="External" Id="R068c3f92ea6a46ee" /><Relationship Type="http://schemas.openxmlformats.org/officeDocument/2006/relationships/notesSlide" Target="/ppt/notesSlides/notesSlide20.xml" Id="R12d10c6674fd427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b2ed179ecac4c7f" /><Relationship Type="http://schemas.openxmlformats.org/officeDocument/2006/relationships/hyperlink" Target="https://research.ibm.com/blog/research-annual-letter-2022" TargetMode="External" Id="R27ab4701b3c049a1" /><Relationship Type="http://schemas.openxmlformats.org/officeDocument/2006/relationships/notesSlide" Target="/ppt/notesSlides/notesSlide21.xml" Id="R807aa35e3d10498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61b9aafdf6d48f1" /><Relationship Type="http://schemas.openxmlformats.org/officeDocument/2006/relationships/hyperlink" Target="https://quantum.cloud.ibm.com/docs/en/guides/install-qiskit" TargetMode="External" Id="R2205ea9eef6b4837" /><Relationship Type="http://schemas.openxmlformats.org/officeDocument/2006/relationships/hyperlink" Target="https://quantum.cloud.ibm.com/docs/en/api/qiskit/qiskit.primitives.StatevectorSampler" TargetMode="External" Id="Rfe27e23df7c244ad" /><Relationship Type="http://schemas.openxmlformats.org/officeDocument/2006/relationships/hyperlink" Target="https://quantum.cloud.ibm.com/docs/en/guides/initialize-account" TargetMode="External" Id="Rf18d6d7c2e5f45b4" /><Relationship Type="http://schemas.openxmlformats.org/officeDocument/2006/relationships/hyperlink" Target="https://quantum.cloud.ibm.com/docs/en/api/qiskit-ibm-runtime/sampler-v2" TargetMode="External" Id="Re5af97cfa0784331" /><Relationship Type="http://schemas.openxmlformats.org/officeDocument/2006/relationships/hyperlink" Target="https://qiskit-community.github.io/qiskit-algorithms/stubs/qiskit_algorithms.SamplingVQE.html" TargetMode="External" Id="Rc7cb2215092c4bd2" /><Relationship Type="http://schemas.openxmlformats.org/officeDocument/2006/relationships/hyperlink" Target="https://qiskit-community.github.io/qiskit-optimization/tutorials/03_minimum_eigen_optimizer.html" TargetMode="External" Id="Rfffde819bc89413f" /><Relationship Type="http://schemas.openxmlformats.org/officeDocument/2006/relationships/hyperlink" Target="https://quantum.cloud.ibm.com/docs/en/api/qiskit/qiskit.circuit.library.grover_operator" TargetMode="External" Id="Rd8ae675d8c6044b3" /><Relationship Type="http://schemas.openxmlformats.org/officeDocument/2006/relationships/hyperlink" Target="https://quantum.cloud.ibm.com/docs/en/guides/bit-ordering" TargetMode="External" Id="R8c3873dd67af4462" /><Relationship Type="http://schemas.openxmlformats.org/officeDocument/2006/relationships/notesSlide" Target="/ppt/notesSlides/notesSlide22.xml" Id="R6778a128ab444c5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Saved simulator run</c:v>
          </c:tx>
          <c:spPr>
            <a:solidFill xmlns:a="http://schemas.openxmlformats.org/drawingml/2006/main">
              <a:srgbClr val="708596"/>
            </a:solidFill>
          </c:spPr>
          <c:cat>
            <c:strRef>
              <c:f>'Chart Data'!$A$2:$A$3</c:f>
              <c:strCache>
                <c:ptCount val="2"/>
                <c:pt idx="0">
                  <c:v>"000"</c:v>
                </c:pt>
                <c:pt idx="1">
                  <c:v>"111"</c:v>
                </c:pt>
              </c:strCache>
            </c:strRef>
          </c:cat>
          <c:val>
            <c:numRef>
              <c:f>'Chart Data'!$B$2:$B$3</c:f>
              <c:numCache>
                <c:formatCode>0.###</c:formatCode>
                <c:ptCount val="2"/>
                <c:pt idx="0">
                  <c:v>537</c:v>
                </c:pt>
                <c:pt idx="1">
                  <c:v>487</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24"/>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Saved simulator run</c:v>
          </c:tx>
          <c:spPr>
            <a:solidFill xmlns:a="http://schemas.openxmlformats.org/drawingml/2006/main">
              <a:srgbClr val="708596"/>
            </a:solidFill>
          </c:spPr>
          <c:cat>
            <c:strRef>
              <c:f>'Chart Data'!$A$2:$A$3</c:f>
              <c:strCache>
                <c:ptCount val="2"/>
                <c:pt idx="0">
                  <c:v>"01"</c:v>
                </c:pt>
                <c:pt idx="1">
                  <c:v>Other</c:v>
                </c:pt>
              </c:strCache>
            </c:strRef>
          </c:cat>
          <c:val>
            <c:numRef>
              <c:f>'Chart Data'!$B$2:$B$3</c:f>
              <c:numCache>
                <c:formatCode>0.###</c:formatCode>
                <c:ptCount val="2"/>
                <c:pt idx="0">
                  <c:v>984</c:v>
                </c:pt>
                <c:pt idx="1">
                  <c:v>40</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24"/>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ibm_marrakesh</c:v>
          </c:tx>
          <c:spPr>
            <a:solidFill xmlns:a="http://schemas.openxmlformats.org/drawingml/2006/main">
              <a:srgbClr val="708596"/>
            </a:solidFill>
          </c:spPr>
          <c:cat>
            <c:strRef>
              <c:f>'Chart Data'!$A$2:$A$5</c:f>
              <c:strCache>
                <c:ptCount val="4"/>
                <c:pt idx="0">
                  <c:v>"00"</c:v>
                </c:pt>
                <c:pt idx="1">
                  <c:v>"01"</c:v>
                </c:pt>
                <c:pt idx="2">
                  <c:v>"10"</c:v>
                </c:pt>
                <c:pt idx="3">
                  <c:v>"11"</c:v>
                </c:pt>
              </c:strCache>
            </c:strRef>
          </c:cat>
          <c:val>
            <c:numRef>
              <c:f>'Chart Data'!$B$2:$B$5</c:f>
              <c:numCache>
                <c:formatCode>0.###</c:formatCode>
                <c:ptCount val="4"/>
                <c:pt idx="0">
                  <c:v>7</c:v>
                </c:pt>
                <c:pt idx="1">
                  <c:v>986</c:v>
                </c:pt>
                <c:pt idx="2">
                  <c:v>13</c:v>
                </c:pt>
                <c:pt idx="3">
                  <c:v>18</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24"/>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P(010), percent</c:v>
          </c:tx>
          <c:spPr>
            <a:solidFill xmlns:a="http://schemas.openxmlformats.org/drawingml/2006/main">
              <a:srgbClr val="708596"/>
            </a:solidFill>
          </c:spPr>
          <c:dLbls>
            <c:dLbl>
              <c:idx val="0"/>
              <c:tx>
                <c:rich>
                  <a:bodyPr xmlns:a="http://schemas.openxmlformats.org/drawingml/2006/main"/>
                  <a:lstStyle xmlns:a="http://schemas.openxmlformats.org/drawingml/2006/main"/>
                  <a:p xmlns:a="http://schemas.openxmlformats.org/drawingml/2006/main">
                    <a:r>
                      <a:rPr sz="1500">
                        <a:solidFill>
                          <a:srgbClr val="172026"/>
                        </a:solidFill>
                        <a:latin typeface="Arial"/>
                        <a:ea typeface="Arial"/>
                        <a:cs typeface="Arial"/>
                      </a:rPr>
                      <a:t>12.5%</a:t>
                    </a:r>
                  </a:p>
                </c:rich>
              </c:tx>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00">
                        <a:solidFill>
                          <a:srgbClr val="172026"/>
                        </a:solidFill>
                        <a:latin typeface="Arial"/>
                        <a:ea typeface="Arial"/>
                        <a:cs typeface="Arial"/>
                      </a:rPr>
                      <a:t>78.125%</a:t>
                    </a:r>
                  </a:p>
                </c:rich>
              </c:tx>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0"/>
              <c:showCatName val="0"/>
              <c:showSerName val="0"/>
              <c:showPercent val="0"/>
              <c:showBubbleSize val="0"/>
            </c:dLbl>
          </c:dLbls>
          <c:cat>
            <c:strRef>
              <c:f>'Chart Data'!$A$2:$A$3</c:f>
              <c:strCache>
                <c:ptCount val="2"/>
                <c:pt idx="0">
                  <c:v>Before</c:v>
                </c:pt>
                <c:pt idx="1">
                  <c:v>After one iteration</c:v>
                </c:pt>
              </c:strCache>
            </c:strRef>
          </c:cat>
          <c:val>
            <c:numRef>
              <c:f>'Chart Data'!$B$2:$B$3</c:f>
              <c:numCache>
                <c:formatCode>0.###</c:formatCode>
                <c:ptCount val="2"/>
                <c:pt idx="0">
                  <c:v>12.5</c:v>
                </c:pt>
                <c:pt idx="1">
                  <c:v>78.125</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A9E1F6F-EAEF-4AB5-A099-C53833D0C3A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Quantum Leap</a:t>
            </a:r>
          </a:p>
        </p:txBody>
      </p:sp>
      <p:sp>
        <p:nvSpPr>
          <p:cNvPr id="2" name="">
            <a:extLst xmlns:a="http://schemas.openxmlformats.org/drawingml/2006/main">
              <a:ext uri="{FF2B5EF4-FFF2-40B4-BE49-F238E27FC236}">
                <a16:creationId xmlns:a16="http://schemas.microsoft.com/office/drawing/2014/main" id="{9E60C0FD-92AD-4313-A4B7-69782085B3F7}"/>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54FC7D5-5CCA-42A8-9B04-CF176E569372}"/>
              </a:ext>
            </a:extLst>
          </p:cNvPr>
          <p:cNvSpPr>
            <a:spLocks xmlns:a="http://schemas.openxmlformats.org/drawingml/2006/main" noGrp="1"/>
          </p:cNvSpPr>
          <p:nvPr/>
        </p:nvSpPr>
        <p:spPr>
          <a:xfrm xmlns:a="http://schemas.openxmlformats.org/drawingml/2006/main">
            <a:off x="685800" y="2076450"/>
            <a:ext cx="1028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0">
                <a:solidFill>
                  <a:srgbClr val="172026"/>
                </a:solidFill>
                <a:latin typeface="Arial"/>
                <a:ea typeface="Arial"/>
                <a:cs typeface="Arial"/>
              </a:defRPr>
            </a:pPr>
            <a:r>
              <a:rPr sz="4050" b="0">
                <a:solidFill>
                  <a:srgbClr val="172026"/>
                </a:solidFill>
                <a:latin typeface="Arial"/>
                <a:ea typeface="Arial"/>
                <a:cs typeface="Arial"/>
              </a:rPr>
              <a:t>Building Real Quantum</a:t>
            </a:r>
          </a:p>
          <a:p xmlns:a="http://schemas.openxmlformats.org/drawingml/2006/main">
            <a:pPr>
              <a:defRPr sz="4050" b="0">
                <a:solidFill>
                  <a:srgbClr val="172026"/>
                </a:solidFill>
                <a:latin typeface="Arial"/>
                <a:ea typeface="Arial"/>
                <a:cs typeface="Arial"/>
              </a:defRPr>
            </a:pPr>
            <a:r>
              <a:rPr sz="4050" b="0">
                <a:solidFill>
                  <a:srgbClr val="172026"/>
                </a:solidFill>
                <a:latin typeface="Arial"/>
                <a:ea typeface="Arial"/>
                <a:cs typeface="Arial"/>
              </a:rPr>
              <a:t>Programs with Python</a:t>
            </a:r>
          </a:p>
        </p:txBody>
      </p:sp>
      <p:sp>
        <p:nvSpPr>
          <p:cNvPr id="4" name="">
            <a:extLst xmlns:a="http://schemas.openxmlformats.org/drawingml/2006/main">
              <a:ext uri="{FF2B5EF4-FFF2-40B4-BE49-F238E27FC236}">
                <a16:creationId xmlns:a16="http://schemas.microsoft.com/office/drawing/2014/main" id="{A9CCA5C5-F5F7-4B55-8197-1170C99AC724}"/>
              </a:ext>
            </a:extLst>
          </p:cNvPr>
          <p:cNvSpPr>
            <a:spLocks xmlns:a="http://schemas.openxmlformats.org/drawingml/2006/main" noGrp="1"/>
          </p:cNvSpPr>
          <p:nvPr/>
        </p:nvSpPr>
        <p:spPr>
          <a:xfrm xmlns:a="http://schemas.openxmlformats.org/drawingml/2006/main">
            <a:off x="685800" y="4800600"/>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Beilak Aliev</a:t>
            </a:r>
          </a:p>
        </p:txBody>
      </p:sp>
      <p:sp>
        <p:nvSpPr>
          <p:cNvPr id="5" name="">
            <a:extLst xmlns:a="http://schemas.openxmlformats.org/drawingml/2006/main">
              <a:ext uri="{FF2B5EF4-FFF2-40B4-BE49-F238E27FC236}">
                <a16:creationId xmlns:a16="http://schemas.microsoft.com/office/drawing/2014/main" id="{5156BFB1-BB8A-4C16-AB10-E97396DF6FC2}"/>
              </a:ext>
            </a:extLst>
          </p:cNvPr>
          <p:cNvSpPr>
            <a:spLocks xmlns:a="http://schemas.openxmlformats.org/drawingml/2006/main" noGrp="1"/>
          </p:cNvSpPr>
          <p:nvPr/>
        </p:nvSpPr>
        <p:spPr>
          <a:xfrm xmlns:a="http://schemas.openxmlformats.org/drawingml/2006/main">
            <a:off x="685800" y="61245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8636D"/>
                </a:solidFill>
                <a:latin typeface="Arial"/>
                <a:ea typeface="Arial"/>
                <a:cs typeface="Arial"/>
              </a:defRPr>
            </a:pPr>
            <a:r>
              <a:rPr sz="1350" b="0">
                <a:solidFill>
                  <a:srgbClr val="58636D"/>
                </a:solidFill>
                <a:latin typeface="Arial"/>
                <a:ea typeface="Arial"/>
                <a:cs typeface="Arial"/>
              </a:rPr>
              <a:t>Conference draft / 27 September 2026</a:t>
            </a:r>
          </a:p>
        </p:txBody>
      </p:sp>
    </p:spTree>
    <p:extLst>
      <p:ext uri="{BB962C8B-B14F-4D97-AF65-F5344CB8AC3E}">
        <p14:creationId xmlns:p14="http://schemas.microsoft.com/office/powerpoint/2010/main" val="823923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97E137-0FFC-46F5-9917-CD8C132A2F0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A quantum program in Python</a:t>
            </a:r>
          </a:p>
        </p:txBody>
      </p:sp>
      <p:sp>
        <p:nvSpPr>
          <p:cNvPr id="2" name="">
            <a:extLst xmlns:a="http://schemas.openxmlformats.org/drawingml/2006/main">
              <a:ext uri="{FF2B5EF4-FFF2-40B4-BE49-F238E27FC236}">
                <a16:creationId xmlns:a16="http://schemas.microsoft.com/office/drawing/2014/main" id="{96DBCB22-1C6A-44A1-945E-936199282A15}"/>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02</a:t>
            </a:r>
          </a:p>
        </p:txBody>
      </p:sp>
      <p:graphicFrame>
        <p:nvGraphicFramePr>
          <p:cNvPr id="7" name=""/>
          <p:cNvGraphicFramePr/>
          <p:nvPr/>
        </p:nvGraphicFramePr>
        <p:xfrm>
          <a:off xmlns:a="http://schemas.openxmlformats.org/drawingml/2006/main" x="685800" y="1809750"/>
          <a:ext xmlns:a="http://schemas.openxmlformats.org/drawingml/2006/main" cx="10820400" cy="2286000"/>
        </p:xfrm>
        <a:graphic xmlns:a="http://schemas.openxmlformats.org/drawingml/2006/main">
          <a:graphicData uri="http://schemas.openxmlformats.org/drawingml/2006/table">
            <a:tbl>
              <a:tblPr/>
              <a:tblGrid>
                <a:gridCol w="3600450"/>
                <a:gridCol w="3609975"/>
                <a:gridCol w="3609975"/>
              </a:tblGrid>
              <a:tr h="762000">
                <a:tc>
                  <a:txBody>
                    <a:bodyPr lIns="133350" tIns="85725" rIns="114300" bIns="85725"/>
                    <a:lstStyle/>
                    <a:p>
                      <a:r>
                        <a:rPr sz="2100" b="1">
                          <a:solidFill>
                            <a:srgbClr val="172026"/>
                          </a:solidFill>
                          <a:latin typeface="Arial"/>
                          <a:ea typeface="Arial"/>
                          <a:cs typeface="Arial"/>
                        </a:rPr>
                        <a:t>Python</a:t>
                      </a:r>
                    </a:p>
                  </a:txBody>
                  <a:tcPr marL="91440" marR="91440" marT="45720" marB="45720" anchor="ctr">
                    <a:solidFill>
                      <a:srgbClr val="F4F6F8"/>
                    </a:solidFill>
                  </a:tcPr>
                </a:tc>
                <a:tc>
                  <a:txBody>
                    <a:bodyPr lIns="133350" tIns="85725" rIns="114300" bIns="85725"/>
                    <a:lstStyle/>
                    <a:p>
                      <a:r>
                        <a:rPr sz="2100" b="1">
                          <a:solidFill>
                            <a:srgbClr val="172026"/>
                          </a:solidFill>
                          <a:latin typeface="Arial"/>
                          <a:ea typeface="Arial"/>
                          <a:cs typeface="Arial"/>
                        </a:rPr>
                        <a:t>Execution</a:t>
                      </a:r>
                    </a:p>
                  </a:txBody>
                  <a:tcPr marL="91440" marR="91440" marT="45720" marB="45720" anchor="ctr">
                    <a:solidFill>
                      <a:srgbClr val="F4F6F8"/>
                    </a:solidFill>
                  </a:tcPr>
                </a:tc>
                <a:tc>
                  <a:txBody>
                    <a:bodyPr lIns="133350" tIns="85725" rIns="114300" bIns="85725"/>
                    <a:lstStyle/>
                    <a:p>
                      <a:r>
                        <a:rPr sz="2100" b="1">
                          <a:solidFill>
                            <a:srgbClr val="172026"/>
                          </a:solidFill>
                          <a:latin typeface="Arial"/>
                          <a:ea typeface="Arial"/>
                          <a:cs typeface="Arial"/>
                        </a:rPr>
                        <a:t>Result</a:t>
                      </a:r>
                    </a:p>
                  </a:txBody>
                  <a:tcPr marL="91440" marR="91440" marT="45720" marB="45720" anchor="ctr">
                    <a:solidFill>
                      <a:srgbClr val="F4F6F8"/>
                    </a:solidFill>
                  </a:tcPr>
                </a:tc>
              </a:tr>
              <a:tr h="762000">
                <a:tc>
                  <a:txBody>
                    <a:bodyPr lIns="133350" tIns="85725" rIns="114300" bIns="85725"/>
                    <a:lstStyle/>
                    <a:p>
                      <a:r>
                        <a:rPr sz="2100" b="0">
                          <a:solidFill>
                            <a:srgbClr val="172026"/>
                          </a:solidFill>
                          <a:latin typeface="Arial"/>
                          <a:ea typeface="Arial"/>
                          <a:cs typeface="Arial"/>
                        </a:rPr>
                        <a:t>QuantumCircuit</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Local simulator</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Counts of bitstrings</a:t>
                      </a:r>
                    </a:p>
                  </a:txBody>
                  <a:tcPr marL="91440" marR="91440" marT="45720" marB="45720" anchor="ctr">
                    <a:solidFill>
                      <a:srgbClr val="FFFFFF"/>
                    </a:solidFill>
                  </a:tcPr>
                </a:tc>
              </a:tr>
              <a:tr h="762000">
                <a:tc>
                  <a:txBody>
                    <a:bodyPr lIns="133350" tIns="85725" rIns="114300" bIns="85725"/>
                    <a:lstStyle/>
                    <a:p>
                      <a:r>
                        <a:rPr sz="2100" b="0">
                          <a:solidFill>
                            <a:srgbClr val="172026"/>
                          </a:solidFill>
                          <a:latin typeface="Arial"/>
                          <a:ea typeface="Arial"/>
                          <a:cs typeface="Arial"/>
                        </a:rPr>
                        <a:t>The same circuit model</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Cloud quantum processor</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Counts + job metadata</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B343D08-DCEB-4190-9DEF-701CF08E5E58}"/>
              </a:ext>
            </a:extLst>
          </p:cNvPr>
          <p:cNvSpPr>
            <a:spLocks xmlns:a="http://schemas.openxmlformats.org/drawingml/2006/main" noGrp="1"/>
          </p:cNvSpPr>
          <p:nvPr/>
        </p:nvSpPr>
        <p:spPr>
          <a:xfrm xmlns:a="http://schemas.openxmlformats.org/drawingml/2006/main">
            <a:off x="685800" y="46863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72026"/>
                </a:solidFill>
                <a:latin typeface="Arial"/>
                <a:ea typeface="Arial"/>
                <a:cs typeface="Arial"/>
              </a:defRPr>
            </a:pPr>
            <a:r>
              <a:rPr sz="2400" b="0">
                <a:solidFill>
                  <a:srgbClr val="172026"/>
                </a:solidFill>
                <a:latin typeface="Arial"/>
                <a:ea typeface="Arial"/>
                <a:cs typeface="Arial"/>
              </a:rPr>
              <a:t>One shot = one execution and measurement</a:t>
            </a:r>
          </a:p>
        </p:txBody>
      </p:sp>
    </p:spTree>
    <p:extLst>
      <p:ext uri="{BB962C8B-B14F-4D97-AF65-F5344CB8AC3E}">
        <p14:creationId xmlns:p14="http://schemas.microsoft.com/office/powerpoint/2010/main" val="8577413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B3E97D4-7EDC-4E3F-981A-BF6CE5F5B81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Qubits and measurement</a:t>
            </a:r>
          </a:p>
        </p:txBody>
      </p:sp>
      <p:sp>
        <p:nvSpPr>
          <p:cNvPr id="2" name="">
            <a:extLst xmlns:a="http://schemas.openxmlformats.org/drawingml/2006/main">
              <a:ext uri="{FF2B5EF4-FFF2-40B4-BE49-F238E27FC236}">
                <a16:creationId xmlns:a16="http://schemas.microsoft.com/office/drawing/2014/main" id="{6D169942-FE0B-46D9-A0F1-FCF077063521}"/>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48926861-016F-481B-B875-DB6405540A67}"/>
              </a:ext>
            </a:extLst>
          </p:cNvPr>
          <p:cNvSpPr>
            <a:spLocks xmlns:a="http://schemas.openxmlformats.org/drawingml/2006/main" noGrp="1"/>
          </p:cNvSpPr>
          <p:nvPr/>
        </p:nvSpPr>
        <p:spPr>
          <a:xfrm xmlns:a="http://schemas.openxmlformats.org/drawingml/2006/main">
            <a:off x="685800" y="175260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72026"/>
                </a:solidFill>
                <a:latin typeface="Arial"/>
                <a:ea typeface="Arial"/>
                <a:cs typeface="Arial"/>
              </a:defRPr>
            </a:pPr>
            <a:r>
              <a:rPr sz="3450" b="0">
                <a:solidFill>
                  <a:srgbClr val="172026"/>
                </a:solidFill>
                <a:latin typeface="Arial"/>
                <a:ea typeface="Arial"/>
                <a:cs typeface="Arial"/>
              </a:rPr>
              <a:t>State:  α|0⟩ + β|1⟩</a:t>
            </a:r>
          </a:p>
        </p:txBody>
      </p:sp>
      <p:sp>
        <p:nvSpPr>
          <p:cNvPr id="4" name="">
            <a:extLst xmlns:a="http://schemas.openxmlformats.org/drawingml/2006/main">
              <a:ext uri="{FF2B5EF4-FFF2-40B4-BE49-F238E27FC236}">
                <a16:creationId xmlns:a16="http://schemas.microsoft.com/office/drawing/2014/main" id="{9336E52E-71D2-40D0-B82F-0B832511FFA7}"/>
              </a:ext>
            </a:extLst>
          </p:cNvPr>
          <p:cNvSpPr>
            <a:spLocks xmlns:a="http://schemas.openxmlformats.org/drawingml/2006/main" noGrp="1"/>
          </p:cNvSpPr>
          <p:nvPr/>
        </p:nvSpPr>
        <p:spPr>
          <a:xfrm xmlns:a="http://schemas.openxmlformats.org/drawingml/2006/main">
            <a:off x="685800" y="27051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72026"/>
                </a:solidFill>
                <a:latin typeface="Arial"/>
                <a:ea typeface="Arial"/>
                <a:cs typeface="Arial"/>
              </a:defRPr>
            </a:pPr>
            <a:r>
              <a:rPr sz="2700" b="0">
                <a:solidFill>
                  <a:srgbClr val="172026"/>
                </a:solidFill>
                <a:latin typeface="Arial"/>
                <a:ea typeface="Arial"/>
                <a:cs typeface="Arial"/>
              </a:rPr>
              <a:t>P(0) = |α|²       P(1) = |β|²</a:t>
            </a:r>
          </a:p>
        </p:txBody>
      </p:sp>
      <p:sp>
        <p:nvSpPr>
          <p:cNvPr id="5" name="">
            <a:extLst xmlns:a="http://schemas.openxmlformats.org/drawingml/2006/main">
              <a:ext uri="{FF2B5EF4-FFF2-40B4-BE49-F238E27FC236}">
                <a16:creationId xmlns:a16="http://schemas.microsoft.com/office/drawing/2014/main" id="{29A03239-33FF-46BA-86B4-31997C90AD08}"/>
              </a:ext>
            </a:extLst>
          </p:cNvPr>
          <p:cNvSpPr>
            <a:spLocks xmlns:a="http://schemas.openxmlformats.org/drawingml/2006/main" noGrp="1"/>
          </p:cNvSpPr>
          <p:nvPr/>
        </p:nvSpPr>
        <p:spPr>
          <a:xfrm xmlns:a="http://schemas.openxmlformats.org/drawingml/2006/main">
            <a:off x="685800" y="37623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2463A4"/>
                </a:solidFill>
                <a:latin typeface="Arial"/>
                <a:ea typeface="Arial"/>
                <a:cs typeface="Arial"/>
              </a:defRPr>
            </a:pPr>
            <a:r>
              <a:rPr sz="2550" b="0">
                <a:solidFill>
                  <a:srgbClr val="2463A4"/>
                </a:solidFill>
                <a:latin typeface="Arial"/>
                <a:ea typeface="Arial"/>
                <a:cs typeface="Arial"/>
              </a:rPr>
              <a:t>After H on |0⟩: 50% 0, 50% 1</a:t>
            </a:r>
          </a:p>
        </p:txBody>
      </p:sp>
      <p:sp>
        <p:nvSpPr>
          <p:cNvPr id="6" name="">
            <a:extLst xmlns:a="http://schemas.openxmlformats.org/drawingml/2006/main">
              <a:ext uri="{FF2B5EF4-FFF2-40B4-BE49-F238E27FC236}">
                <a16:creationId xmlns:a16="http://schemas.microsoft.com/office/drawing/2014/main" id="{73C712DF-9D2B-4F9A-8273-2EE98AA99C3A}"/>
              </a:ext>
            </a:extLst>
          </p:cNvPr>
          <p:cNvSpPr>
            <a:spLocks xmlns:a="http://schemas.openxmlformats.org/drawingml/2006/main" noGrp="1"/>
          </p:cNvSpPr>
          <p:nvPr/>
        </p:nvSpPr>
        <p:spPr>
          <a:xfrm xmlns:a="http://schemas.openxmlformats.org/drawingml/2006/main">
            <a:off x="685800" y="47053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72026"/>
                </a:solidFill>
                <a:latin typeface="Arial"/>
                <a:ea typeface="Arial"/>
                <a:cs typeface="Arial"/>
              </a:defRPr>
            </a:pPr>
            <a:r>
              <a:rPr sz="2250" b="0">
                <a:solidFill>
                  <a:srgbClr val="172026"/>
                </a:solidFill>
                <a:latin typeface="Arial"/>
                <a:ea typeface="Arial"/>
                <a:cs typeface="Arial"/>
              </a:rPr>
              <a:t>Each measurement gives one bit.</a:t>
            </a:r>
          </a:p>
        </p:txBody>
      </p:sp>
      <p:sp>
        <p:nvSpPr>
          <p:cNvPr id="7" name="">
            <a:extLst xmlns:a="http://schemas.openxmlformats.org/drawingml/2006/main">
              <a:ext uri="{FF2B5EF4-FFF2-40B4-BE49-F238E27FC236}">
                <a16:creationId xmlns:a16="http://schemas.microsoft.com/office/drawing/2014/main" id="{AD653234-8A00-4F8D-B606-47673CD0DC80}"/>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CORRECTION</a:t>
            </a:r>
          </a:p>
        </p:txBody>
      </p:sp>
      <p:sp>
        <p:nvSpPr>
          <p:cNvPr id="8" name="">
            <a:extLst xmlns:a="http://schemas.openxmlformats.org/drawingml/2006/main">
              <a:ext uri="{FF2B5EF4-FFF2-40B4-BE49-F238E27FC236}">
                <a16:creationId xmlns:a16="http://schemas.microsoft.com/office/drawing/2014/main" id="{605155DE-9DA4-4BFB-A620-BF6BA0AA354D}"/>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The old “greater capacity” wording needs this measurement qualification.</a:t>
            </a:r>
          </a:p>
        </p:txBody>
      </p:sp>
    </p:spTree>
    <p:extLst>
      <p:ext uri="{BB962C8B-B14F-4D97-AF65-F5344CB8AC3E}">
        <p14:creationId xmlns:p14="http://schemas.microsoft.com/office/powerpoint/2010/main" val="2649790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739C16A-7D5E-4A21-A7E9-0FA549DF170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gates used in these notebooks</a:t>
            </a:r>
          </a:p>
        </p:txBody>
      </p:sp>
      <p:sp>
        <p:nvSpPr>
          <p:cNvPr id="2" name="">
            <a:extLst xmlns:a="http://schemas.openxmlformats.org/drawingml/2006/main">
              <a:ext uri="{FF2B5EF4-FFF2-40B4-BE49-F238E27FC236}">
                <a16:creationId xmlns:a16="http://schemas.microsoft.com/office/drawing/2014/main" id="{44530286-7260-48FB-BE50-427E6142CD80}"/>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04</a:t>
            </a:r>
          </a:p>
        </p:txBody>
      </p:sp>
      <p:graphicFrame>
        <p:nvGraphicFramePr>
          <p:cNvPr id="6" name=""/>
          <p:cNvGraphicFramePr/>
          <p:nvPr/>
        </p:nvGraphicFramePr>
        <p:xfrm>
          <a:off xmlns:a="http://schemas.openxmlformats.org/drawingml/2006/main" x="685800" y="1666875"/>
          <a:ext xmlns:a="http://schemas.openxmlformats.org/drawingml/2006/main" cx="10820400" cy="3524250"/>
        </p:xfrm>
        <a:graphic xmlns:a="http://schemas.openxmlformats.org/drawingml/2006/main">
          <a:graphicData uri="http://schemas.openxmlformats.org/drawingml/2006/table">
            <a:tbl>
              <a:tblPr/>
              <a:tblGrid>
                <a:gridCol w="2381250"/>
                <a:gridCol w="8439150"/>
              </a:tblGrid>
              <a:tr h="704850">
                <a:tc>
                  <a:txBody>
                    <a:bodyPr lIns="133350" tIns="85725" rIns="114300" bIns="85725"/>
                    <a:lstStyle/>
                    <a:p>
                      <a:r>
                        <a:rPr sz="2025" b="1">
                          <a:solidFill>
                            <a:srgbClr val="172026"/>
                          </a:solidFill>
                          <a:latin typeface="Arial"/>
                          <a:ea typeface="Arial"/>
                          <a:cs typeface="Arial"/>
                        </a:rPr>
                        <a:t>Gate</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Role in our examples</a:t>
                      </a:r>
                    </a:p>
                  </a:txBody>
                  <a:tcPr marL="91440" marR="91440" marT="45720" marB="45720" anchor="ctr">
                    <a:solidFill>
                      <a:srgbClr val="F4F6F8"/>
                    </a:solidFill>
                  </a:tcPr>
                </a:tc>
              </a:tr>
              <a:tr h="704850">
                <a:tc>
                  <a:txBody>
                    <a:bodyPr lIns="133350" tIns="85725" rIns="114300" bIns="85725"/>
                    <a:lstStyle/>
                    <a:p>
                      <a:r>
                        <a:rPr sz="2025" b="0">
                          <a:solidFill>
                            <a:srgbClr val="172026"/>
                          </a:solidFill>
                          <a:latin typeface="Arial"/>
                          <a:ea typeface="Arial"/>
                          <a:cs typeface="Arial"/>
                        </a:rPr>
                        <a:t>X</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Flip 0 and 1</a:t>
                      </a:r>
                    </a:p>
                  </a:txBody>
                  <a:tcPr marL="91440" marR="91440" marT="45720" marB="45720" anchor="ctr">
                    <a:solidFill>
                      <a:srgbClr val="FFFFFF"/>
                    </a:solidFill>
                  </a:tcPr>
                </a:tc>
              </a:tr>
              <a:tr h="704850">
                <a:tc>
                  <a:txBody>
                    <a:bodyPr lIns="133350" tIns="85725" rIns="114300" bIns="85725"/>
                    <a:lstStyle/>
                    <a:p>
                      <a:r>
                        <a:rPr sz="2025" b="0">
                          <a:solidFill>
                            <a:srgbClr val="172026"/>
                          </a:solidFill>
                          <a:latin typeface="Arial"/>
                          <a:ea typeface="Arial"/>
                          <a:cs typeface="Arial"/>
                        </a:rPr>
                        <a:t>H</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Prepare superposition from 0</a:t>
                      </a:r>
                    </a:p>
                  </a:txBody>
                  <a:tcPr marL="91440" marR="91440" marT="45720" marB="45720" anchor="ctr">
                    <a:solidFill>
                      <a:srgbClr val="FFFFFF"/>
                    </a:solidFill>
                  </a:tcPr>
                </a:tc>
              </a:tr>
              <a:tr h="704850">
                <a:tc>
                  <a:txBody>
                    <a:bodyPr lIns="133350" tIns="85725" rIns="114300" bIns="85725"/>
                    <a:lstStyle/>
                    <a:p>
                      <a:r>
                        <a:rPr sz="2025" b="0">
                          <a:solidFill>
                            <a:srgbClr val="172026"/>
                          </a:solidFill>
                          <a:latin typeface="Arial"/>
                          <a:ea typeface="Arial"/>
                          <a:cs typeface="Arial"/>
                        </a:rPr>
                        <a:t>CX / CCX</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Flip a target under one / two controls</a:t>
                      </a:r>
                    </a:p>
                  </a:txBody>
                  <a:tcPr marL="91440" marR="91440" marT="45720" marB="45720" anchor="ctr">
                    <a:solidFill>
                      <a:srgbClr val="FFFFFF"/>
                    </a:solidFill>
                  </a:tcPr>
                </a:tc>
              </a:tr>
              <a:tr h="704850">
                <a:tc>
                  <a:txBody>
                    <a:bodyPr lIns="133350" tIns="85725" rIns="114300" bIns="85725"/>
                    <a:lstStyle/>
                    <a:p>
                      <a:r>
                        <a:rPr sz="2025" b="0">
                          <a:solidFill>
                            <a:srgbClr val="172026"/>
                          </a:solidFill>
                          <a:latin typeface="Arial"/>
                          <a:ea typeface="Arial"/>
                          <a:cs typeface="Arial"/>
                        </a:rPr>
                        <a:t>RY(θ) / CZ</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Adjust a trial state / apply a controlled phase</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4419001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AEAA31-CB87-4E0A-85CA-BE4367C0179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A half-adder</a:t>
            </a:r>
          </a:p>
        </p:txBody>
      </p:sp>
      <p:sp>
        <p:nvSpPr>
          <p:cNvPr id="2" name="">
            <a:extLst xmlns:a="http://schemas.openxmlformats.org/drawingml/2006/main">
              <a:ext uri="{FF2B5EF4-FFF2-40B4-BE49-F238E27FC236}">
                <a16:creationId xmlns:a16="http://schemas.microsoft.com/office/drawing/2014/main" id="{A6FB01D6-64FC-452F-84EC-4A80A8890E9F}"/>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9E8FC1DA-00BE-459E-9564-C907A5235498}"/>
              </a:ext>
            </a:extLst>
          </p:cNvPr>
          <p:cNvSpPr>
            <a:spLocks xmlns:a="http://schemas.openxmlformats.org/drawingml/2006/main" noGrp="1"/>
          </p:cNvSpPr>
          <p:nvPr/>
        </p:nvSpPr>
        <p:spPr>
          <a:xfrm xmlns:a="http://schemas.openxmlformats.org/drawingml/2006/main">
            <a:off x="685800" y="1752600"/>
            <a:ext cx="638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 = QuantumCircuit(4, 2)</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qc.x(0)</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qc.x(1)</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qc.cx(0, 2)</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qc.cx(1, 2)</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qc.ccx(0, 1, 3)</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qc.measure([2, 3], [0, 1])</a:t>
            </a:r>
          </a:p>
        </p:txBody>
      </p:sp>
      <p:sp>
        <p:nvSpPr>
          <p:cNvPr id="4" name="">
            <a:extLst xmlns:a="http://schemas.openxmlformats.org/drawingml/2006/main">
              <a:ext uri="{FF2B5EF4-FFF2-40B4-BE49-F238E27FC236}">
                <a16:creationId xmlns:a16="http://schemas.microsoft.com/office/drawing/2014/main" id="{4711FFB8-9862-48AD-B3F1-BD20B888EEA0}"/>
              </a:ext>
            </a:extLst>
          </p:cNvPr>
          <p:cNvSpPr>
            <a:spLocks xmlns:a="http://schemas.openxmlformats.org/drawingml/2006/main" noGrp="1"/>
          </p:cNvSpPr>
          <p:nvPr/>
        </p:nvSpPr>
        <p:spPr>
          <a:xfrm xmlns:a="http://schemas.openxmlformats.org/drawingml/2006/main">
            <a:off x="7677150" y="2047875"/>
            <a:ext cx="381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2463A4"/>
                </a:solidFill>
                <a:latin typeface="Arial"/>
                <a:ea typeface="Arial"/>
                <a:cs typeface="Arial"/>
              </a:defRPr>
            </a:pPr>
            <a:r>
              <a:rPr sz="3600" b="1">
                <a:solidFill>
                  <a:srgbClr val="2463A4"/>
                </a:solidFill>
                <a:latin typeface="Arial"/>
                <a:ea typeface="Arial"/>
                <a:cs typeface="Arial"/>
              </a:rPr>
              <a:t>1 + 1 = 10</a:t>
            </a:r>
          </a:p>
        </p:txBody>
      </p:sp>
      <p:sp>
        <p:nvSpPr>
          <p:cNvPr id="5" name="">
            <a:extLst xmlns:a="http://schemas.openxmlformats.org/drawingml/2006/main">
              <a:ext uri="{FF2B5EF4-FFF2-40B4-BE49-F238E27FC236}">
                <a16:creationId xmlns:a16="http://schemas.microsoft.com/office/drawing/2014/main" id="{D2AC3FD4-7C1F-46A9-B788-BD3F6454D28C}"/>
              </a:ext>
            </a:extLst>
          </p:cNvPr>
          <p:cNvSpPr>
            <a:spLocks xmlns:a="http://schemas.openxmlformats.org/drawingml/2006/main" noGrp="1"/>
          </p:cNvSpPr>
          <p:nvPr/>
        </p:nvSpPr>
        <p:spPr>
          <a:xfrm xmlns:a="http://schemas.openxmlformats.org/drawingml/2006/main">
            <a:off x="7696200" y="3095625"/>
            <a:ext cx="3667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72026"/>
                </a:solidFill>
                <a:latin typeface="Arial"/>
                <a:ea typeface="Arial"/>
                <a:cs typeface="Arial"/>
              </a:defRPr>
            </a:pPr>
            <a:r>
              <a:rPr sz="2250" b="0">
                <a:solidFill>
                  <a:srgbClr val="172026"/>
                </a:solidFill>
                <a:latin typeface="Arial"/>
                <a:ea typeface="Arial"/>
                <a:cs typeface="Arial"/>
              </a:rPr>
              <a:t>c1 = carry</a:t>
            </a:r>
          </a:p>
          <a:p xmlns:a="http://schemas.openxmlformats.org/drawingml/2006/main">
            <a:pPr>
              <a:defRPr sz="2250" b="0">
                <a:solidFill>
                  <a:srgbClr val="172026"/>
                </a:solidFill>
                <a:latin typeface="Arial"/>
                <a:ea typeface="Arial"/>
                <a:cs typeface="Arial"/>
              </a:defRPr>
            </a:pPr>
            <a:r>
              <a:rPr sz="2250" b="0">
                <a:solidFill>
                  <a:srgbClr val="172026"/>
                </a:solidFill>
                <a:latin typeface="Arial"/>
                <a:ea typeface="Arial"/>
                <a:cs typeface="Arial"/>
              </a:rPr>
              <a:t>c0 = sum</a:t>
            </a:r>
          </a:p>
        </p:txBody>
      </p:sp>
      <p:sp>
        <p:nvSpPr>
          <p:cNvPr id="6" name="">
            <a:extLst xmlns:a="http://schemas.openxmlformats.org/drawingml/2006/main">
              <a:ext uri="{FF2B5EF4-FFF2-40B4-BE49-F238E27FC236}">
                <a16:creationId xmlns:a16="http://schemas.microsoft.com/office/drawing/2014/main" id="{82ABCA88-0CAF-440B-A4E1-C882E3D84EB2}"/>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BIT ORDER</a:t>
            </a:r>
          </a:p>
        </p:txBody>
      </p:sp>
      <p:sp>
        <p:nvSpPr>
          <p:cNvPr id="7" name="">
            <a:extLst xmlns:a="http://schemas.openxmlformats.org/drawingml/2006/main">
              <a:ext uri="{FF2B5EF4-FFF2-40B4-BE49-F238E27FC236}">
                <a16:creationId xmlns:a16="http://schemas.microsoft.com/office/drawing/2014/main" id="{3FA95239-81B2-40A5-8BC9-96AA15A78D0C}"/>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Displayed “10” means carry = 1 and sum = 0.</a:t>
            </a:r>
          </a:p>
        </p:txBody>
      </p:sp>
      <p:sp>
        <p:nvSpPr>
          <p:cNvPr id="8" name="">
            <a:extLst xmlns:a="http://schemas.openxmlformats.org/drawingml/2006/main">
              <a:ext uri="{FF2B5EF4-FFF2-40B4-BE49-F238E27FC236}">
                <a16:creationId xmlns:a16="http://schemas.microsoft.com/office/drawing/2014/main" id="{53EE8D5F-2B59-4306-AA91-151DEC400D10}"/>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bd43397532a14eec"/>
              </a:rPr>
              <a:t>Documentation</a:t>
            </a:r>
          </a:p>
        </p:txBody>
      </p:sp>
    </p:spTree>
    <p:extLst>
      <p:ext uri="{BB962C8B-B14F-4D97-AF65-F5344CB8AC3E}">
        <p14:creationId xmlns:p14="http://schemas.microsoft.com/office/powerpoint/2010/main" val="195987833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C0B949-B4BE-44CA-88D2-C7585D7CB7A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Hello World: three correlated qubits</a:t>
            </a:r>
          </a:p>
        </p:txBody>
      </p:sp>
      <p:sp>
        <p:nvSpPr>
          <p:cNvPr id="2" name="">
            <a:extLst xmlns:a="http://schemas.openxmlformats.org/drawingml/2006/main">
              <a:ext uri="{FF2B5EF4-FFF2-40B4-BE49-F238E27FC236}">
                <a16:creationId xmlns:a16="http://schemas.microsoft.com/office/drawing/2014/main" id="{68862331-C746-40CE-8588-EDA99C0320C9}"/>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31D80B49-48B5-470B-BCCA-89EA0981D81F}"/>
              </a:ext>
            </a:extLst>
          </p:cNvPr>
          <p:cNvSpPr>
            <a:spLocks xmlns:a="http://schemas.openxmlformats.org/drawingml/2006/main" noGrp="1"/>
          </p:cNvSpPr>
          <p:nvPr/>
        </p:nvSpPr>
        <p:spPr>
          <a:xfrm xmlns:a="http://schemas.openxmlformats.org/drawingml/2006/main">
            <a:off x="685800" y="1666875"/>
            <a:ext cx="73342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from qiskit import QuantumCircuit</a:t>
            </a:r>
          </a:p>
          <a:p xmlns:a="http://schemas.openxmlformats.org/drawingml/2006/main">
            <a:r>
              <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 = QuantumCircuit(3)</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qc.h(0)</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qc.cx(0, 1)</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qc.cx(0, 2)</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qc.measure_all()</a:t>
            </a:r>
          </a:p>
        </p:txBody>
      </p:sp>
      <p:sp>
        <p:nvSpPr>
          <p:cNvPr id="4" name="">
            <a:extLst xmlns:a="http://schemas.openxmlformats.org/drawingml/2006/main">
              <a:ext uri="{FF2B5EF4-FFF2-40B4-BE49-F238E27FC236}">
                <a16:creationId xmlns:a16="http://schemas.microsoft.com/office/drawing/2014/main" id="{C7FA4522-8E87-49B0-8E2A-4067976FEBB0}"/>
              </a:ext>
            </a:extLst>
          </p:cNvPr>
          <p:cNvSpPr>
            <a:spLocks xmlns:a="http://schemas.openxmlformats.org/drawingml/2006/main" noGrp="1"/>
          </p:cNvSpPr>
          <p:nvPr/>
        </p:nvSpPr>
        <p:spPr>
          <a:xfrm xmlns:a="http://schemas.openxmlformats.org/drawingml/2006/main">
            <a:off x="8572500" y="19812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8636D"/>
                </a:solidFill>
                <a:latin typeface="Arial"/>
                <a:ea typeface="Arial"/>
                <a:cs typeface="Arial"/>
              </a:defRPr>
            </a:pPr>
            <a:r>
              <a:rPr sz="1800" b="0">
                <a:solidFill>
                  <a:srgbClr val="58636D"/>
                </a:solidFill>
                <a:latin typeface="Arial"/>
                <a:ea typeface="Arial"/>
                <a:cs typeface="Arial"/>
              </a:rPr>
              <a:t>Ideal outcomes</a:t>
            </a:r>
          </a:p>
        </p:txBody>
      </p:sp>
      <p:sp>
        <p:nvSpPr>
          <p:cNvPr id="5" name="">
            <a:extLst xmlns:a="http://schemas.openxmlformats.org/drawingml/2006/main">
              <a:ext uri="{FF2B5EF4-FFF2-40B4-BE49-F238E27FC236}">
                <a16:creationId xmlns:a16="http://schemas.microsoft.com/office/drawing/2014/main" id="{7D3FDC81-C2AE-45A4-BB66-A908DF73372E}"/>
              </a:ext>
            </a:extLst>
          </p:cNvPr>
          <p:cNvSpPr>
            <a:spLocks xmlns:a="http://schemas.openxmlformats.org/drawingml/2006/main" noGrp="1"/>
          </p:cNvSpPr>
          <p:nvPr/>
        </p:nvSpPr>
        <p:spPr>
          <a:xfrm xmlns:a="http://schemas.openxmlformats.org/drawingml/2006/main">
            <a:off x="8572500" y="2695575"/>
            <a:ext cx="2952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2463A4"/>
                </a:solidFill>
                <a:latin typeface="Arial"/>
                <a:ea typeface="Arial"/>
                <a:cs typeface="Arial"/>
              </a:defRPr>
            </a:pPr>
            <a:r>
              <a:rPr sz="3900" b="1">
                <a:solidFill>
                  <a:srgbClr val="2463A4"/>
                </a:solidFill>
                <a:latin typeface="Arial"/>
                <a:ea typeface="Arial"/>
                <a:cs typeface="Arial"/>
              </a:rPr>
              <a:t>000</a:t>
            </a:r>
          </a:p>
          <a:p xmlns:a="http://schemas.openxmlformats.org/drawingml/2006/main">
            <a:pPr>
              <a:defRPr sz="3900" b="1">
                <a:solidFill>
                  <a:srgbClr val="2463A4"/>
                </a:solidFill>
                <a:latin typeface="Arial"/>
                <a:ea typeface="Arial"/>
                <a:cs typeface="Arial"/>
              </a:defRPr>
            </a:pPr>
            <a:r>
              <a:rPr sz="3900" b="1">
                <a:solidFill>
                  <a:srgbClr val="2463A4"/>
                </a:solidFill>
                <a:latin typeface="Arial"/>
                <a:ea typeface="Arial"/>
                <a:cs typeface="Arial"/>
              </a:rPr>
              <a:t>111</a:t>
            </a:r>
          </a:p>
        </p:txBody>
      </p:sp>
      <p:sp>
        <p:nvSpPr>
          <p:cNvPr id="6" name="">
            <a:extLst xmlns:a="http://schemas.openxmlformats.org/drawingml/2006/main">
              <a:ext uri="{FF2B5EF4-FFF2-40B4-BE49-F238E27FC236}">
                <a16:creationId xmlns:a16="http://schemas.microsoft.com/office/drawing/2014/main" id="{0214B6DF-9B0D-4B45-A193-EC093FC22338}"/>
              </a:ext>
            </a:extLst>
          </p:cNvPr>
          <p:cNvSpPr>
            <a:spLocks xmlns:a="http://schemas.openxmlformats.org/drawingml/2006/main" noGrp="1"/>
          </p:cNvSpPr>
          <p:nvPr/>
        </p:nvSpPr>
        <p:spPr>
          <a:xfrm xmlns:a="http://schemas.openxmlformats.org/drawingml/2006/main">
            <a:off x="685800" y="52292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The circuit prepares an entangled GHZ state.</a:t>
            </a:r>
          </a:p>
        </p:txBody>
      </p:sp>
    </p:spTree>
    <p:extLst>
      <p:ext uri="{BB962C8B-B14F-4D97-AF65-F5344CB8AC3E}">
        <p14:creationId xmlns:p14="http://schemas.microsoft.com/office/powerpoint/2010/main" val="13452965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44E0F5E-C143-4C69-8577-25BA9B10403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Local simulation</a:t>
            </a:r>
          </a:p>
        </p:txBody>
      </p:sp>
      <p:sp>
        <p:nvSpPr>
          <p:cNvPr id="2" name="">
            <a:extLst xmlns:a="http://schemas.openxmlformats.org/drawingml/2006/main">
              <a:ext uri="{FF2B5EF4-FFF2-40B4-BE49-F238E27FC236}">
                <a16:creationId xmlns:a16="http://schemas.microsoft.com/office/drawing/2014/main" id="{24BEB67A-4098-4E95-B2F3-01045A14B766}"/>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178368A6-8C42-43CD-A829-22EFBBA051E5}"/>
              </a:ext>
            </a:extLst>
          </p:cNvPr>
          <p:cNvSpPr>
            <a:spLocks xmlns:a="http://schemas.openxmlformats.org/drawingml/2006/main" noGrp="1"/>
          </p:cNvSpPr>
          <p:nvPr/>
        </p:nvSpPr>
        <p:spPr>
          <a:xfrm xmlns:a="http://schemas.openxmlformats.org/drawingml/2006/main">
            <a:off x="685800" y="1809750"/>
            <a:ext cx="108204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from qiskit.primitives import StatevectorSampler</a:t>
            </a:r>
          </a:p>
          <a:p xmlns:a="http://schemas.openxmlformats.org/drawingml/2006/main">
            <a:r>
              <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sampler = StatevectorSampler(seed=42)</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job = sampler.run([qc], shots=1024)</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counts = job.result()[0].data.meas.get_counts()</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print(counts)</a:t>
            </a:r>
          </a:p>
        </p:txBody>
      </p:sp>
      <p:sp>
        <p:nvSpPr>
          <p:cNvPr id="4" name="">
            <a:extLst xmlns:a="http://schemas.openxmlformats.org/drawingml/2006/main">
              <a:ext uri="{FF2B5EF4-FFF2-40B4-BE49-F238E27FC236}">
                <a16:creationId xmlns:a16="http://schemas.microsoft.com/office/drawing/2014/main" id="{2489911A-ADB2-4EA4-9C0B-467343B7487D}"/>
              </a:ext>
            </a:extLst>
          </p:cNvPr>
          <p:cNvSpPr>
            <a:spLocks xmlns:a="http://schemas.openxmlformats.org/drawingml/2006/main" noGrp="1"/>
          </p:cNvSpPr>
          <p:nvPr/>
        </p:nvSpPr>
        <p:spPr>
          <a:xfrm xmlns:a="http://schemas.openxmlformats.org/drawingml/2006/main">
            <a:off x="685800" y="4905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1,024 shots sample the output distribution.</a:t>
            </a:r>
          </a:p>
        </p:txBody>
      </p:sp>
      <p:sp>
        <p:nvSpPr>
          <p:cNvPr id="5" name="">
            <a:extLst xmlns:a="http://schemas.openxmlformats.org/drawingml/2006/main">
              <a:ext uri="{FF2B5EF4-FFF2-40B4-BE49-F238E27FC236}">
                <a16:creationId xmlns:a16="http://schemas.microsoft.com/office/drawing/2014/main" id="{A66CEF3B-0F39-416B-BEE5-0A4137C82D65}"/>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UPDATE</a:t>
            </a:r>
          </a:p>
        </p:txBody>
      </p:sp>
      <p:sp>
        <p:nvSpPr>
          <p:cNvPr id="6" name="">
            <a:extLst xmlns:a="http://schemas.openxmlformats.org/drawingml/2006/main">
              <a:ext uri="{FF2B5EF4-FFF2-40B4-BE49-F238E27FC236}">
                <a16:creationId xmlns:a16="http://schemas.microsoft.com/office/drawing/2014/main" id="{F4D9F9A1-323A-4D80-944B-BC056B52F4F7}"/>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Replaces the old “from qiskit import Aer” execution path.</a:t>
            </a:r>
          </a:p>
        </p:txBody>
      </p:sp>
      <p:sp>
        <p:nvSpPr>
          <p:cNvPr id="7" name="">
            <a:extLst xmlns:a="http://schemas.openxmlformats.org/drawingml/2006/main">
              <a:ext uri="{FF2B5EF4-FFF2-40B4-BE49-F238E27FC236}">
                <a16:creationId xmlns:a16="http://schemas.microsoft.com/office/drawing/2014/main" id="{00744F7D-9A12-4E63-8C96-2E2D0D7B6317}"/>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1c99d2692c8e4ee8"/>
              </a:rPr>
              <a:t>Documentation</a:t>
            </a:r>
          </a:p>
        </p:txBody>
      </p:sp>
    </p:spTree>
    <p:extLst>
      <p:ext uri="{BB962C8B-B14F-4D97-AF65-F5344CB8AC3E}">
        <p14:creationId xmlns:p14="http://schemas.microsoft.com/office/powerpoint/2010/main" val="2939590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920951-BEA1-4B74-BFB4-48EB51EA93B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Reading the counts</a:t>
            </a:r>
          </a:p>
        </p:txBody>
      </p:sp>
      <p:sp>
        <p:nvSpPr>
          <p:cNvPr id="2" name="">
            <a:extLst xmlns:a="http://schemas.openxmlformats.org/drawingml/2006/main">
              <a:ext uri="{FF2B5EF4-FFF2-40B4-BE49-F238E27FC236}">
                <a16:creationId xmlns:a16="http://schemas.microsoft.com/office/drawing/2014/main" id="{0B008FCE-8ED3-412A-BE3A-7A1657AAE39D}"/>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08</a:t>
            </a:r>
          </a:p>
        </p:txBody>
      </p:sp>
      <p:graphicFrame>
        <p:nvGraphicFramePr>
          <p:cNvPr id="10" name="Chart"/>
          <p:cNvGraphicFramePr/>
          <p:nvPr/>
        </p:nvGraphicFramePr>
        <p:xfrm>
          <a:off xmlns:a="http://schemas.openxmlformats.org/drawingml/2006/main" x="685800" y="1762125"/>
          <a:ext xmlns:a="http://schemas.openxmlformats.org/drawingml/2006/main" cx="6858000" cy="3333750"/>
        </p:xfrm>
        <a:graphic xmlns:a="http://schemas.openxmlformats.org/drawingml/2006/main">
          <a:graphicData uri="http://schemas.openxmlformats.org/drawingml/2006/chart">
            <c:chart xmlns:r="http://schemas.openxmlformats.org/officeDocument/2006/relationships" xmlns:c="http://schemas.openxmlformats.org/drawingml/2006/chart" r:id="Rf13e8e1d02ae45e0"/>
          </a:graphicData>
        </a:graphic>
      </p:graphicFrame>
      <p:sp>
        <p:nvSpPr>
          <p:cNvPr id="4" name="">
            <a:extLst xmlns:a="http://schemas.openxmlformats.org/drawingml/2006/main">
              <a:ext uri="{FF2B5EF4-FFF2-40B4-BE49-F238E27FC236}">
                <a16:creationId xmlns:a16="http://schemas.microsoft.com/office/drawing/2014/main" id="{7C43B593-18E3-4BB7-B01B-7C41DE24B995}"/>
              </a:ext>
            </a:extLst>
          </p:cNvPr>
          <p:cNvSpPr>
            <a:spLocks xmlns:a="http://schemas.openxmlformats.org/drawingml/2006/main" noGrp="1"/>
          </p:cNvSpPr>
          <p:nvPr/>
        </p:nvSpPr>
        <p:spPr>
          <a:xfrm xmlns:a="http://schemas.openxmlformats.org/drawingml/2006/main">
            <a:off x="8239125" y="2333625"/>
            <a:ext cx="3190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172026"/>
                </a:solidFill>
                <a:latin typeface="Arial"/>
                <a:ea typeface="Arial"/>
                <a:cs typeface="Arial"/>
              </a:defRPr>
            </a:pPr>
            <a:r>
              <a:rPr sz="2550" b="0">
                <a:solidFill>
                  <a:srgbClr val="172026"/>
                </a:solidFill>
                <a:latin typeface="Arial"/>
                <a:ea typeface="Arial"/>
                <a:cs typeface="Arial"/>
              </a:rPr>
              <a:t>537 + 487</a:t>
            </a:r>
          </a:p>
          <a:p xmlns:a="http://schemas.openxmlformats.org/drawingml/2006/main">
            <a:pPr>
              <a:defRPr sz="2550" b="0">
                <a:solidFill>
                  <a:srgbClr val="172026"/>
                </a:solidFill>
                <a:latin typeface="Arial"/>
                <a:ea typeface="Arial"/>
                <a:cs typeface="Arial"/>
              </a:defRPr>
            </a:pPr>
            <a:r>
              <a:rPr sz="2550" b="0">
                <a:solidFill>
                  <a:srgbClr val="172026"/>
                </a:solidFill>
                <a:latin typeface="Arial"/>
                <a:ea typeface="Arial"/>
                <a:cs typeface="Arial"/>
              </a:rPr>
              <a:t>= 1,024 shots</a:t>
            </a:r>
          </a:p>
        </p:txBody>
      </p:sp>
      <p:sp>
        <p:nvSpPr>
          <p:cNvPr id="5" name="">
            <a:extLst xmlns:a="http://schemas.openxmlformats.org/drawingml/2006/main">
              <a:ext uri="{FF2B5EF4-FFF2-40B4-BE49-F238E27FC236}">
                <a16:creationId xmlns:a16="http://schemas.microsoft.com/office/drawing/2014/main" id="{B284A908-316E-4337-A32E-A4397ADEF6CF}"/>
              </a:ext>
            </a:extLst>
          </p:cNvPr>
          <p:cNvSpPr>
            <a:spLocks xmlns:a="http://schemas.openxmlformats.org/drawingml/2006/main" noGrp="1"/>
          </p:cNvSpPr>
          <p:nvPr/>
        </p:nvSpPr>
        <p:spPr>
          <a:xfrm xmlns:a="http://schemas.openxmlformats.org/drawingml/2006/main">
            <a:off x="8239125" y="3943350"/>
            <a:ext cx="3190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50/50 describes</a:t>
            </a:r>
          </a:p>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probabilities.</a:t>
            </a:r>
          </a:p>
        </p:txBody>
      </p:sp>
      <p:sp>
        <p:nvSpPr>
          <p:cNvPr id="6" name="">
            <a:extLst xmlns:a="http://schemas.openxmlformats.org/drawingml/2006/main">
              <a:ext uri="{FF2B5EF4-FFF2-40B4-BE49-F238E27FC236}">
                <a16:creationId xmlns:a16="http://schemas.microsoft.com/office/drawing/2014/main" id="{42D81FE6-D8A0-45F0-9730-02025724CE5B}"/>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SAVED RUN</a:t>
            </a:r>
          </a:p>
        </p:txBody>
      </p:sp>
      <p:sp>
        <p:nvSpPr>
          <p:cNvPr id="7" name="">
            <a:extLst xmlns:a="http://schemas.openxmlformats.org/drawingml/2006/main">
              <a:ext uri="{FF2B5EF4-FFF2-40B4-BE49-F238E27FC236}">
                <a16:creationId xmlns:a16="http://schemas.microsoft.com/office/drawing/2014/main" id="{695EE9EF-99E5-49FD-A236-DC4C028A313F}"/>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Counts from Q_Hello_World.ipynb. Rerunning gives a new sample.</a:t>
            </a:r>
          </a:p>
        </p:txBody>
      </p:sp>
    </p:spTree>
    <p:extLst>
      <p:ext uri="{BB962C8B-B14F-4D97-AF65-F5344CB8AC3E}">
        <p14:creationId xmlns:p14="http://schemas.microsoft.com/office/powerpoint/2010/main" val="6921008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04F12ED-3BE7-4798-B5A3-1EAB5055E43E}"/>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A two-bit optimization problem</a:t>
            </a:r>
          </a:p>
        </p:txBody>
      </p:sp>
      <p:sp>
        <p:nvSpPr>
          <p:cNvPr id="2" name="">
            <a:extLst xmlns:a="http://schemas.openxmlformats.org/drawingml/2006/main">
              <a:ext uri="{FF2B5EF4-FFF2-40B4-BE49-F238E27FC236}">
                <a16:creationId xmlns:a16="http://schemas.microsoft.com/office/drawing/2014/main" id="{A6FA30C3-3675-4650-A85B-19895295F521}"/>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B532C1BE-1FFC-41D4-94CF-1315594390E6}"/>
              </a:ext>
            </a:extLst>
          </p:cNvPr>
          <p:cNvSpPr>
            <a:spLocks xmlns:a="http://schemas.openxmlformats.org/drawingml/2006/main" noGrp="1"/>
          </p:cNvSpPr>
          <p:nvPr/>
        </p:nvSpPr>
        <p:spPr>
          <a:xfrm xmlns:a="http://schemas.openxmlformats.org/drawingml/2006/main">
            <a:off x="685800" y="15525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72026"/>
                </a:solidFill>
                <a:latin typeface="Arial"/>
                <a:ea typeface="Arial"/>
                <a:cs typeface="Arial"/>
              </a:defRPr>
            </a:pPr>
            <a:r>
              <a:rPr sz="2700" b="0">
                <a:solidFill>
                  <a:srgbClr val="172026"/>
                </a:solidFill>
                <a:latin typeface="Arial"/>
                <a:ea typeface="Arial"/>
                <a:cs typeface="Arial"/>
              </a:rPr>
              <a:t>Maximize  f(a, b) = 3a + 2b − 4ab</a:t>
            </a:r>
          </a:p>
        </p:txBody>
      </p:sp>
      <p:graphicFrame>
        <p:nvGraphicFramePr>
          <p:cNvPr id="12" name=""/>
          <p:cNvGraphicFramePr/>
          <p:nvPr/>
        </p:nvGraphicFramePr>
        <p:xfrm>
          <a:off xmlns:a="http://schemas.openxmlformats.org/drawingml/2006/main" x="685800" y="2419350"/>
          <a:ext xmlns:a="http://schemas.openxmlformats.org/drawingml/2006/main" cx="7048500" cy="2952750"/>
        </p:xfrm>
        <a:graphic xmlns:a="http://schemas.openxmlformats.org/drawingml/2006/main">
          <a:graphicData uri="http://schemas.openxmlformats.org/drawingml/2006/table">
            <a:tbl>
              <a:tblPr/>
              <a:tblGrid>
                <a:gridCol w="1047750"/>
                <a:gridCol w="1047750"/>
                <a:gridCol w="2857500"/>
                <a:gridCol w="2095500"/>
              </a:tblGrid>
              <a:tr h="590550">
                <a:tc>
                  <a:txBody>
                    <a:bodyPr lIns="133350" tIns="85725" rIns="114300" bIns="85725"/>
                    <a:lstStyle/>
                    <a:p>
                      <a:r>
                        <a:rPr sz="2025" b="1">
                          <a:solidFill>
                            <a:srgbClr val="172026"/>
                          </a:solidFill>
                          <a:latin typeface="Arial"/>
                          <a:ea typeface="Arial"/>
                          <a:cs typeface="Arial"/>
                        </a:rPr>
                        <a:t>a</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b</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Displayed q1q0</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f(a, b)</a:t>
                      </a:r>
                    </a:p>
                  </a:txBody>
                  <a:tcPr marL="91440" marR="91440" marT="45720" marB="45720" anchor="ctr">
                    <a:solidFill>
                      <a:srgbClr val="F4F6F8"/>
                    </a:solidFill>
                  </a:tcPr>
                </a:tc>
              </a:tr>
              <a:tr h="590550">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r>
              <a:tr h="590550">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3</a:t>
                      </a:r>
                    </a:p>
                  </a:txBody>
                  <a:tcPr marL="91440" marR="91440" marT="45720" marB="45720" anchor="ctr">
                    <a:solidFill>
                      <a:srgbClr val="FFFFFF"/>
                    </a:solidFill>
                  </a:tcPr>
                </a:tc>
              </a:tr>
              <a:tr h="590550">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2</a:t>
                      </a:r>
                    </a:p>
                  </a:txBody>
                  <a:tcPr marL="91440" marR="91440" marT="45720" marB="45720" anchor="ctr">
                    <a:solidFill>
                      <a:srgbClr val="FFFFFF"/>
                    </a:solidFill>
                  </a:tcPr>
                </a:tc>
              </a:tr>
              <a:tr h="590550">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52FE0B8-F23A-4004-85B7-AC6CBBB12D16}"/>
              </a:ext>
            </a:extLst>
          </p:cNvPr>
          <p:cNvSpPr>
            <a:spLocks xmlns:a="http://schemas.openxmlformats.org/drawingml/2006/main" noGrp="1"/>
          </p:cNvSpPr>
          <p:nvPr/>
        </p:nvSpPr>
        <p:spPr>
          <a:xfrm xmlns:a="http://schemas.openxmlformats.org/drawingml/2006/main">
            <a:off x="8191500" y="289560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2463A4"/>
                </a:solidFill>
                <a:latin typeface="Arial"/>
                <a:ea typeface="Arial"/>
                <a:cs typeface="Arial"/>
              </a:defRPr>
            </a:pPr>
            <a:r>
              <a:rPr sz="2475" b="0">
                <a:solidFill>
                  <a:srgbClr val="2463A4"/>
                </a:solidFill>
                <a:latin typeface="Arial"/>
                <a:ea typeface="Arial"/>
                <a:cs typeface="Arial"/>
              </a:rPr>
              <a:t>Best assignment</a:t>
            </a:r>
          </a:p>
          <a:p xmlns:a="http://schemas.openxmlformats.org/drawingml/2006/main">
            <a:pPr>
              <a:defRPr sz="2475" b="0">
                <a:solidFill>
                  <a:srgbClr val="2463A4"/>
                </a:solidFill>
                <a:latin typeface="Arial"/>
                <a:ea typeface="Arial"/>
                <a:cs typeface="Arial"/>
              </a:defRPr>
            </a:pPr>
            <a:r>
              <a:rPr sz="2475" b="0">
                <a:solidFill>
                  <a:srgbClr val="2463A4"/>
                </a:solidFill>
                <a:latin typeface="Arial"/>
                <a:ea typeface="Arial"/>
                <a:cs typeface="Arial"/>
              </a:rPr>
              <a:t>a = 1, b = 0</a:t>
            </a:r>
          </a:p>
        </p:txBody>
      </p:sp>
      <p:sp>
        <p:nvSpPr>
          <p:cNvPr id="6" name="">
            <a:extLst xmlns:a="http://schemas.openxmlformats.org/drawingml/2006/main">
              <a:ext uri="{FF2B5EF4-FFF2-40B4-BE49-F238E27FC236}">
                <a16:creationId xmlns:a16="http://schemas.microsoft.com/office/drawing/2014/main" id="{C8078CFB-8E75-4886-A52C-54DAC0FC63E1}"/>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BIT ORDER</a:t>
            </a:r>
          </a:p>
        </p:txBody>
      </p:sp>
      <p:sp>
        <p:nvSpPr>
          <p:cNvPr id="7" name="">
            <a:extLst xmlns:a="http://schemas.openxmlformats.org/drawingml/2006/main">
              <a:ext uri="{FF2B5EF4-FFF2-40B4-BE49-F238E27FC236}">
                <a16:creationId xmlns:a16="http://schemas.microsoft.com/office/drawing/2014/main" id="{0E67EEC5-0EB7-48F6-9AB0-995A04674D21}"/>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The rightmost displayed bit is q0, which represents a.</a:t>
            </a:r>
          </a:p>
        </p:txBody>
      </p:sp>
      <p:sp>
        <p:nvSpPr>
          <p:cNvPr id="8" name="">
            <a:extLst xmlns:a="http://schemas.openxmlformats.org/drawingml/2006/main">
              <a:ext uri="{FF2B5EF4-FFF2-40B4-BE49-F238E27FC236}">
                <a16:creationId xmlns:a16="http://schemas.microsoft.com/office/drawing/2014/main" id="{ED3C4252-E239-42F9-91AB-E6E5D1FB36E2}"/>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48045274e4494fa8"/>
              </a:rPr>
              <a:t>Documentation</a:t>
            </a:r>
          </a:p>
        </p:txBody>
      </p:sp>
    </p:spTree>
    <p:extLst>
      <p:ext uri="{BB962C8B-B14F-4D97-AF65-F5344CB8AC3E}">
        <p14:creationId xmlns:p14="http://schemas.microsoft.com/office/powerpoint/2010/main" val="4286224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9880F82-C10C-4739-88EC-44DDC22A5FA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VQE feedback loop</a:t>
            </a:r>
          </a:p>
        </p:txBody>
      </p:sp>
      <p:sp>
        <p:nvSpPr>
          <p:cNvPr id="2" name="">
            <a:extLst xmlns:a="http://schemas.openxmlformats.org/drawingml/2006/main">
              <a:ext uri="{FF2B5EF4-FFF2-40B4-BE49-F238E27FC236}">
                <a16:creationId xmlns:a16="http://schemas.microsoft.com/office/drawing/2014/main" id="{494C8BB0-7329-49AC-9529-672DC3C0E872}"/>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10</a:t>
            </a:r>
          </a:p>
        </p:txBody>
      </p:sp>
      <p:graphicFrame>
        <p:nvGraphicFramePr>
          <p:cNvPr id="7" name=""/>
          <p:cNvGraphicFramePr/>
          <p:nvPr/>
        </p:nvGraphicFramePr>
        <p:xfrm>
          <a:off xmlns:a="http://schemas.openxmlformats.org/drawingml/2006/main" x="685800" y="1733550"/>
          <a:ext xmlns:a="http://schemas.openxmlformats.org/drawingml/2006/main" cx="10820400" cy="2952750"/>
        </p:xfrm>
        <a:graphic xmlns:a="http://schemas.openxmlformats.org/drawingml/2006/main">
          <a:graphicData uri="http://schemas.openxmlformats.org/drawingml/2006/table">
            <a:tbl>
              <a:tblPr/>
              <a:tblGrid>
                <a:gridCol w="7334250"/>
                <a:gridCol w="3486150"/>
              </a:tblGrid>
              <a:tr h="738188">
                <a:tc>
                  <a:txBody>
                    <a:bodyPr lIns="133350" tIns="85725" rIns="114300" bIns="85725"/>
                    <a:lstStyle/>
                    <a:p>
                      <a:r>
                        <a:rPr sz="2100" b="1">
                          <a:solidFill>
                            <a:srgbClr val="172026"/>
                          </a:solidFill>
                          <a:latin typeface="Arial"/>
                          <a:ea typeface="Arial"/>
                          <a:cs typeface="Arial"/>
                        </a:rPr>
                        <a:t>Step</a:t>
                      </a:r>
                    </a:p>
                  </a:txBody>
                  <a:tcPr marL="91440" marR="91440" marT="45720" marB="45720" anchor="ctr">
                    <a:solidFill>
                      <a:srgbClr val="F4F6F8"/>
                    </a:solidFill>
                  </a:tcPr>
                </a:tc>
                <a:tc>
                  <a:txBody>
                    <a:bodyPr lIns="133350" tIns="85725" rIns="114300" bIns="85725"/>
                    <a:lstStyle/>
                    <a:p>
                      <a:r>
                        <a:rPr sz="2100" b="1">
                          <a:solidFill>
                            <a:srgbClr val="172026"/>
                          </a:solidFill>
                          <a:latin typeface="Arial"/>
                          <a:ea typeface="Arial"/>
                          <a:cs typeface="Arial"/>
                        </a:rPr>
                        <a:t>Where it runs</a:t>
                      </a:r>
                    </a:p>
                  </a:txBody>
                  <a:tcPr marL="91440" marR="91440" marT="45720" marB="45720" anchor="ctr">
                    <a:solidFill>
                      <a:srgbClr val="F4F6F8"/>
                    </a:solidFill>
                  </a:tcPr>
                </a:tc>
              </a:tr>
              <a:tr h="738188">
                <a:tc>
                  <a:txBody>
                    <a:bodyPr lIns="133350" tIns="85725" rIns="114300" bIns="85725"/>
                    <a:lstStyle/>
                    <a:p>
                      <a:r>
                        <a:rPr sz="2100" b="0">
                          <a:solidFill>
                            <a:srgbClr val="172026"/>
                          </a:solidFill>
                          <a:latin typeface="Arial"/>
                          <a:ea typeface="Arial"/>
                          <a:cs typeface="Arial"/>
                        </a:rPr>
                        <a:t>Choose circuit angles</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Classical optimizer</a:t>
                      </a:r>
                    </a:p>
                  </a:txBody>
                  <a:tcPr marL="91440" marR="91440" marT="45720" marB="45720" anchor="ctr">
                    <a:solidFill>
                      <a:srgbClr val="FFFFFF"/>
                    </a:solidFill>
                  </a:tcPr>
                </a:tc>
              </a:tr>
              <a:tr h="738188">
                <a:tc>
                  <a:txBody>
                    <a:bodyPr lIns="133350" tIns="85725" rIns="114300" bIns="85725"/>
                    <a:lstStyle/>
                    <a:p>
                      <a:r>
                        <a:rPr sz="2100" b="0">
                          <a:solidFill>
                            <a:srgbClr val="172026"/>
                          </a:solidFill>
                          <a:latin typeface="Arial"/>
                          <a:ea typeface="Arial"/>
                          <a:cs typeface="Arial"/>
                        </a:rPr>
                        <a:t>Prepare and measure the trial state</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Simulator or quantum processor</a:t>
                      </a:r>
                    </a:p>
                  </a:txBody>
                  <a:tcPr marL="91440" marR="91440" marT="45720" marB="45720" anchor="ctr">
                    <a:solidFill>
                      <a:srgbClr val="FFFFFF"/>
                    </a:solidFill>
                  </a:tcPr>
                </a:tc>
              </a:tr>
              <a:tr h="738188">
                <a:tc>
                  <a:txBody>
                    <a:bodyPr lIns="133350" tIns="85725" rIns="114300" bIns="85725"/>
                    <a:lstStyle/>
                    <a:p>
                      <a:r>
                        <a:rPr sz="2100" b="0">
                          <a:solidFill>
                            <a:srgbClr val="172026"/>
                          </a:solidFill>
                          <a:latin typeface="Arial"/>
                          <a:ea typeface="Arial"/>
                          <a:cs typeface="Arial"/>
                        </a:rPr>
                        <a:t>Estimate cost and update angles</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Classical optimizer</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FA4F95E-1EE4-4482-9AC7-EF6CF6B460BE}"/>
              </a:ext>
            </a:extLst>
          </p:cNvPr>
          <p:cNvSpPr>
            <a:spLocks xmlns:a="http://schemas.openxmlformats.org/drawingml/2006/main" noGrp="1"/>
          </p:cNvSpPr>
          <p:nvPr/>
        </p:nvSpPr>
        <p:spPr>
          <a:xfrm xmlns:a="http://schemas.openxmlformats.org/drawingml/2006/main">
            <a:off x="685800" y="50958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Repeat until the evaluation budget ends.</a:t>
            </a:r>
          </a:p>
        </p:txBody>
      </p:sp>
    </p:spTree>
    <p:extLst>
      <p:ext uri="{BB962C8B-B14F-4D97-AF65-F5344CB8AC3E}">
        <p14:creationId xmlns:p14="http://schemas.microsoft.com/office/powerpoint/2010/main" val="118525719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DDC0CC-21DE-4043-A2D5-2C1589D9CC3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VQE in the supplied notebook</a:t>
            </a:r>
          </a:p>
        </p:txBody>
      </p:sp>
      <p:sp>
        <p:nvSpPr>
          <p:cNvPr id="2" name="">
            <a:extLst xmlns:a="http://schemas.openxmlformats.org/drawingml/2006/main">
              <a:ext uri="{FF2B5EF4-FFF2-40B4-BE49-F238E27FC236}">
                <a16:creationId xmlns:a16="http://schemas.microsoft.com/office/drawing/2014/main" id="{1966D7D6-CD80-46AC-9143-04D68A975836}"/>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5D385BD1-9E88-4F5F-A835-86146EC1EBD4}"/>
              </a:ext>
            </a:extLst>
          </p:cNvPr>
          <p:cNvSpPr>
            <a:spLocks xmlns:a="http://schemas.openxmlformats.org/drawingml/2006/main" noGrp="1"/>
          </p:cNvSpPr>
          <p:nvPr/>
        </p:nvSpPr>
        <p:spPr>
          <a:xfrm xmlns:a="http://schemas.openxmlformats.org/drawingml/2006/main">
            <a:off x="685800" y="1562100"/>
            <a:ext cx="108204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algorithm_globals.random_seed = 1234</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small_vqe = SamplingVQE(</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sampler=StatevectorSampler(</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default_shots=1024, seed=1234),</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ansatz=small_ansatz,</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optimizer=COBYLA(maxiter=20),</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small_result = small_vqe.compute_minimum_eigenvalue(</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cost_operator)</a:t>
            </a:r>
          </a:p>
        </p:txBody>
      </p:sp>
      <p:sp>
        <p:nvSpPr>
          <p:cNvPr id="4" name="">
            <a:extLst xmlns:a="http://schemas.openxmlformats.org/drawingml/2006/main">
              <a:ext uri="{FF2B5EF4-FFF2-40B4-BE49-F238E27FC236}">
                <a16:creationId xmlns:a16="http://schemas.microsoft.com/office/drawing/2014/main" id="{A9C49FF0-518F-4166-94A0-FFCDDA5032FD}"/>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CURRENT PATTERN</a:t>
            </a:r>
          </a:p>
        </p:txBody>
      </p:sp>
      <p:sp>
        <p:nvSpPr>
          <p:cNvPr id="5" name="">
            <a:extLst xmlns:a="http://schemas.openxmlformats.org/drawingml/2006/main">
              <a:ext uri="{FF2B5EF4-FFF2-40B4-BE49-F238E27FC236}">
                <a16:creationId xmlns:a16="http://schemas.microsoft.com/office/drawing/2014/main" id="{4B48155E-B15D-477D-B306-56F9EE1D3EA8}"/>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This notebook already uses V2 sampling. Imports and model setup are in VQE_conference.ipynb.</a:t>
            </a:r>
          </a:p>
        </p:txBody>
      </p:sp>
      <p:sp>
        <p:nvSpPr>
          <p:cNvPr id="6" name="">
            <a:extLst xmlns:a="http://schemas.openxmlformats.org/drawingml/2006/main">
              <a:ext uri="{FF2B5EF4-FFF2-40B4-BE49-F238E27FC236}">
                <a16:creationId xmlns:a16="http://schemas.microsoft.com/office/drawing/2014/main" id="{A3F5B5FA-7E84-4902-A468-2300EA1BBC0D}"/>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215e3c98c7ff4d9f"/>
              </a:rPr>
              <a:t>Documentation</a:t>
            </a:r>
          </a:p>
        </p:txBody>
      </p:sp>
    </p:spTree>
    <p:extLst>
      <p:ext uri="{BB962C8B-B14F-4D97-AF65-F5344CB8AC3E}">
        <p14:creationId xmlns:p14="http://schemas.microsoft.com/office/powerpoint/2010/main" val="2608454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003AF9-C99C-4F8B-B3B1-752690A950D9}"/>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measured answer</a:t>
            </a:r>
          </a:p>
        </p:txBody>
      </p:sp>
      <p:sp>
        <p:nvSpPr>
          <p:cNvPr id="2" name="">
            <a:extLst xmlns:a="http://schemas.openxmlformats.org/drawingml/2006/main">
              <a:ext uri="{FF2B5EF4-FFF2-40B4-BE49-F238E27FC236}">
                <a16:creationId xmlns:a16="http://schemas.microsoft.com/office/drawing/2014/main" id="{EBB7F493-8D6A-4F71-9E3E-1718F5B84602}"/>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12</a:t>
            </a:r>
          </a:p>
        </p:txBody>
      </p:sp>
      <p:graphicFrame>
        <p:nvGraphicFramePr>
          <p:cNvPr id="10" name="Chart"/>
          <p:cNvGraphicFramePr/>
          <p:nvPr/>
        </p:nvGraphicFramePr>
        <p:xfrm>
          <a:off xmlns:a="http://schemas.openxmlformats.org/drawingml/2006/main" x="685800" y="1762125"/>
          <a:ext xmlns:a="http://schemas.openxmlformats.org/drawingml/2006/main" cx="6858000" cy="3333750"/>
        </p:xfrm>
        <a:graphic xmlns:a="http://schemas.openxmlformats.org/drawingml/2006/main">
          <a:graphicData uri="http://schemas.openxmlformats.org/drawingml/2006/chart">
            <c:chart xmlns:r="http://schemas.openxmlformats.org/officeDocument/2006/relationships" xmlns:c="http://schemas.openxmlformats.org/drawingml/2006/chart" r:id="R7fcfe14e31314b0f"/>
          </a:graphicData>
        </a:graphic>
      </p:graphicFrame>
      <p:sp>
        <p:nvSpPr>
          <p:cNvPr id="4" name="">
            <a:extLst xmlns:a="http://schemas.openxmlformats.org/drawingml/2006/main">
              <a:ext uri="{FF2B5EF4-FFF2-40B4-BE49-F238E27FC236}">
                <a16:creationId xmlns:a16="http://schemas.microsoft.com/office/drawing/2014/main" id="{A712B802-E36B-4E32-B3E6-C5D65E431CF8}"/>
              </a:ext>
            </a:extLst>
          </p:cNvPr>
          <p:cNvSpPr>
            <a:spLocks xmlns:a="http://schemas.openxmlformats.org/drawingml/2006/main" noGrp="1"/>
          </p:cNvSpPr>
          <p:nvPr/>
        </p:nvSpPr>
        <p:spPr>
          <a:xfrm xmlns:a="http://schemas.openxmlformats.org/drawingml/2006/main">
            <a:off x="8353425" y="203835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00" b="1">
                <a:solidFill>
                  <a:srgbClr val="2463A4"/>
                </a:solidFill>
                <a:latin typeface="Arial"/>
                <a:ea typeface="Arial"/>
                <a:cs typeface="Arial"/>
              </a:defRPr>
            </a:pPr>
            <a:r>
              <a:rPr sz="4500" b="1">
                <a:solidFill>
                  <a:srgbClr val="2463A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9129162-9128-4A06-9DEF-6E5D9746DFC8}"/>
              </a:ext>
            </a:extLst>
          </p:cNvPr>
          <p:cNvSpPr>
            <a:spLocks xmlns:a="http://schemas.openxmlformats.org/drawingml/2006/main" noGrp="1"/>
          </p:cNvSpPr>
          <p:nvPr/>
        </p:nvSpPr>
        <p:spPr>
          <a:xfrm xmlns:a="http://schemas.openxmlformats.org/drawingml/2006/main">
            <a:off x="8353425" y="3181350"/>
            <a:ext cx="309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72026"/>
                </a:solidFill>
                <a:latin typeface="Arial"/>
                <a:ea typeface="Arial"/>
                <a:cs typeface="Arial"/>
              </a:defRPr>
            </a:pPr>
            <a:r>
              <a:rPr sz="2475" b="0">
                <a:solidFill>
                  <a:srgbClr val="172026"/>
                </a:solidFill>
                <a:latin typeface="Arial"/>
                <a:ea typeface="Arial"/>
                <a:cs typeface="Arial"/>
              </a:rPr>
              <a:t>a = 1, b = 0</a:t>
            </a:r>
          </a:p>
          <a:p xmlns:a="http://schemas.openxmlformats.org/drawingml/2006/main">
            <a:pPr>
              <a:defRPr sz="2475" b="0">
                <a:solidFill>
                  <a:srgbClr val="172026"/>
                </a:solidFill>
                <a:latin typeface="Arial"/>
                <a:ea typeface="Arial"/>
                <a:cs typeface="Arial"/>
              </a:defRPr>
            </a:pPr>
            <a:r>
              <a:rPr sz="2475" b="0">
                <a:solidFill>
                  <a:srgbClr val="172026"/>
                </a:solidFill>
                <a:latin typeface="Arial"/>
                <a:ea typeface="Arial"/>
                <a:cs typeface="Arial"/>
              </a:rPr>
              <a:t>f(1, 0) = 3</a:t>
            </a:r>
          </a:p>
        </p:txBody>
      </p:sp>
      <p:sp>
        <p:nvSpPr>
          <p:cNvPr id="6" name="">
            <a:extLst xmlns:a="http://schemas.openxmlformats.org/drawingml/2006/main">
              <a:ext uri="{FF2B5EF4-FFF2-40B4-BE49-F238E27FC236}">
                <a16:creationId xmlns:a16="http://schemas.microsoft.com/office/drawing/2014/main" id="{754E2A41-D43E-4F22-B746-B4E19F86CCFF}"/>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SAVED RUN</a:t>
            </a:r>
          </a:p>
        </p:txBody>
      </p:sp>
      <p:sp>
        <p:nvSpPr>
          <p:cNvPr id="7" name="">
            <a:extLst xmlns:a="http://schemas.openxmlformats.org/drawingml/2006/main">
              <a:ext uri="{FF2B5EF4-FFF2-40B4-BE49-F238E27FC236}">
                <a16:creationId xmlns:a16="http://schemas.microsoft.com/office/drawing/2014/main" id="{9D856DE3-9ECA-4125-B98F-2361F2F611CF}"/>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984 of 1,024 measurements give the optimal assignment in this run.</a:t>
            </a:r>
          </a:p>
        </p:txBody>
      </p:sp>
    </p:spTree>
    <p:extLst>
      <p:ext uri="{BB962C8B-B14F-4D97-AF65-F5344CB8AC3E}">
        <p14:creationId xmlns:p14="http://schemas.microsoft.com/office/powerpoint/2010/main" val="78513301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EEA84F-98AA-4C13-B3AD-99DF0E5D87F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Submitting a cloud job</a:t>
            </a:r>
          </a:p>
        </p:txBody>
      </p:sp>
      <p:sp>
        <p:nvSpPr>
          <p:cNvPr id="2" name="">
            <a:extLst xmlns:a="http://schemas.openxmlformats.org/drawingml/2006/main">
              <a:ext uri="{FF2B5EF4-FFF2-40B4-BE49-F238E27FC236}">
                <a16:creationId xmlns:a16="http://schemas.microsoft.com/office/drawing/2014/main" id="{5F8F6F8F-8AD6-4457-B6C8-0E73A5340388}"/>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1801C438-52E0-4E99-884B-654DE9C193DE}"/>
              </a:ext>
            </a:extLst>
          </p:cNvPr>
          <p:cNvSpPr>
            <a:spLocks xmlns:a="http://schemas.openxmlformats.org/drawingml/2006/main" noGrp="1"/>
          </p:cNvSpPr>
          <p:nvPr/>
        </p:nvSpPr>
        <p:spPr>
          <a:xfrm xmlns:a="http://schemas.openxmlformats.org/drawingml/2006/main">
            <a:off x="685800" y="1638300"/>
            <a:ext cx="6400800" cy="3600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from qiskit_ibm_runtime import (</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QiskitRuntimeService, SamplerV2,</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from qiskit.transpiler.preset_passmanagers import (</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generate_preset_pass_manager,</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a:t>
            </a:r>
          </a:p>
          <a:p xmlns:a="http://schemas.openxmlformats.org/drawingml/2006/main">
            <a:r>
              <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service = QiskitRuntimeService()</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backend = service.least_busy(</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operational=True, simulator=False,</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min_num_qubits=2)</a:t>
            </a:r>
          </a:p>
        </p:txBody>
      </p:sp>
      <p:sp>
        <p:nvSpPr>
          <p:cNvPr id="4" name="">
            <a:extLst xmlns:a="http://schemas.openxmlformats.org/drawingml/2006/main">
              <a:ext uri="{FF2B5EF4-FFF2-40B4-BE49-F238E27FC236}">
                <a16:creationId xmlns:a16="http://schemas.microsoft.com/office/drawing/2014/main" id="{E0A0F98F-61AB-40BB-8457-97872E634B67}"/>
              </a:ext>
            </a:extLst>
          </p:cNvPr>
          <p:cNvSpPr>
            <a:spLocks xmlns:a="http://schemas.openxmlformats.org/drawingml/2006/main" noGrp="1"/>
          </p:cNvSpPr>
          <p:nvPr/>
        </p:nvSpPr>
        <p:spPr>
          <a:xfrm xmlns:a="http://schemas.openxmlformats.org/drawingml/2006/main">
            <a:off x="7277100" y="1638300"/>
            <a:ext cx="4524375" cy="3600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measured_circuit has fixed angles</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pm = generate_preset_pass_manager(</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backend=backend,</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optimization_level=3,</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isa = pm.run(measured_circuit)</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job = SamplerV2(mode=backend).run(</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[isa], shots=1024,</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print(job.job_id())</a:t>
            </a:r>
          </a:p>
        </p:txBody>
      </p:sp>
      <p:sp>
        <p:nvSpPr>
          <p:cNvPr id="5" name="">
            <a:extLst xmlns:a="http://schemas.openxmlformats.org/drawingml/2006/main">
              <a:ext uri="{FF2B5EF4-FFF2-40B4-BE49-F238E27FC236}">
                <a16:creationId xmlns:a16="http://schemas.microsoft.com/office/drawing/2014/main" id="{3CB2B898-F44B-4653-A65D-875646F9030F}"/>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CHECK BEFORE TALK</a:t>
            </a:r>
          </a:p>
        </p:txBody>
      </p:sp>
      <p:sp>
        <p:nvSpPr>
          <p:cNvPr id="6" name="">
            <a:extLst xmlns:a="http://schemas.openxmlformats.org/drawingml/2006/main">
              <a:ext uri="{FF2B5EF4-FFF2-40B4-BE49-F238E27FC236}">
                <a16:creationId xmlns:a16="http://schemas.microsoft.com/office/drawing/2014/main" id="{08A77EE7-6BC8-468F-A780-DB61556B499B}"/>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Account, instance access, backend availability and queue. Use saved results on stage.</a:t>
            </a:r>
          </a:p>
        </p:txBody>
      </p:sp>
      <p:sp>
        <p:nvSpPr>
          <p:cNvPr id="7" name="">
            <a:extLst xmlns:a="http://schemas.openxmlformats.org/drawingml/2006/main">
              <a:ext uri="{FF2B5EF4-FFF2-40B4-BE49-F238E27FC236}">
                <a16:creationId xmlns:a16="http://schemas.microsoft.com/office/drawing/2014/main" id="{48AA74D0-E2ED-4077-A06E-93645E311FEC}"/>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aac78bd249414966"/>
              </a:rPr>
              <a:t>Documentation</a:t>
            </a:r>
          </a:p>
        </p:txBody>
      </p:sp>
    </p:spTree>
    <p:extLst>
      <p:ext uri="{BB962C8B-B14F-4D97-AF65-F5344CB8AC3E}">
        <p14:creationId xmlns:p14="http://schemas.microsoft.com/office/powerpoint/2010/main" val="14284661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5083B97-D6C5-460F-9A76-3A0EA228E4C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saved hardware result</a:t>
            </a:r>
          </a:p>
        </p:txBody>
      </p:sp>
      <p:sp>
        <p:nvSpPr>
          <p:cNvPr id="2" name="">
            <a:extLst xmlns:a="http://schemas.openxmlformats.org/drawingml/2006/main">
              <a:ext uri="{FF2B5EF4-FFF2-40B4-BE49-F238E27FC236}">
                <a16:creationId xmlns:a16="http://schemas.microsoft.com/office/drawing/2014/main" id="{C5E999B3-261E-4AA8-A21A-89B003FD68A2}"/>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14</a:t>
            </a:r>
          </a:p>
        </p:txBody>
      </p:sp>
      <p:graphicFrame>
        <p:nvGraphicFramePr>
          <p:cNvPr id="11" name="Chart"/>
          <p:cNvGraphicFramePr/>
          <p:nvPr/>
        </p:nvGraphicFramePr>
        <p:xfrm>
          <a:off xmlns:a="http://schemas.openxmlformats.org/drawingml/2006/main" x="685800" y="1781175"/>
          <a:ext xmlns:a="http://schemas.openxmlformats.org/drawingml/2006/main" cx="7048500" cy="3333750"/>
        </p:xfrm>
        <a:graphic xmlns:a="http://schemas.openxmlformats.org/drawingml/2006/main">
          <a:graphicData uri="http://schemas.openxmlformats.org/drawingml/2006/chart">
            <c:chart xmlns:r="http://schemas.openxmlformats.org/officeDocument/2006/relationships" xmlns:c="http://schemas.openxmlformats.org/drawingml/2006/chart" r:id="R8b8b487fa0804118"/>
          </a:graphicData>
        </a:graphic>
      </p:graphicFrame>
      <p:sp>
        <p:nvSpPr>
          <p:cNvPr id="4" name="">
            <a:extLst xmlns:a="http://schemas.openxmlformats.org/drawingml/2006/main">
              <a:ext uri="{FF2B5EF4-FFF2-40B4-BE49-F238E27FC236}">
                <a16:creationId xmlns:a16="http://schemas.microsoft.com/office/drawing/2014/main" id="{8F3C8F9E-9B93-4F8D-823C-0B6E1095D242}"/>
              </a:ext>
            </a:extLst>
          </p:cNvPr>
          <p:cNvSpPr>
            <a:spLocks xmlns:a="http://schemas.openxmlformats.org/drawingml/2006/main" noGrp="1"/>
          </p:cNvSpPr>
          <p:nvPr/>
        </p:nvSpPr>
        <p:spPr>
          <a:xfrm xmlns:a="http://schemas.openxmlformats.org/drawingml/2006/main">
            <a:off x="8115300" y="218122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2463A4"/>
                </a:solidFill>
                <a:latin typeface="Arial"/>
                <a:ea typeface="Arial"/>
                <a:cs typeface="Arial"/>
              </a:defRPr>
            </a:pPr>
            <a:r>
              <a:rPr sz="2400" b="1">
                <a:solidFill>
                  <a:srgbClr val="2463A4"/>
                </a:solidFill>
                <a:latin typeface="Arial"/>
                <a:ea typeface="Arial"/>
                <a:cs typeface="Arial"/>
              </a:rPr>
              <a:t>01: 986 / 1,024</a:t>
            </a:r>
          </a:p>
        </p:txBody>
      </p:sp>
      <p:sp>
        <p:nvSpPr>
          <p:cNvPr id="5" name="">
            <a:extLst xmlns:a="http://schemas.openxmlformats.org/drawingml/2006/main">
              <a:ext uri="{FF2B5EF4-FFF2-40B4-BE49-F238E27FC236}">
                <a16:creationId xmlns:a16="http://schemas.microsoft.com/office/drawing/2014/main" id="{F1A9845C-30E6-42FF-B890-9E9D1A5D7786}"/>
              </a:ext>
            </a:extLst>
          </p:cNvPr>
          <p:cNvSpPr>
            <a:spLocks xmlns:a="http://schemas.openxmlformats.org/drawingml/2006/main" noGrp="1"/>
          </p:cNvSpPr>
          <p:nvPr/>
        </p:nvSpPr>
        <p:spPr>
          <a:xfrm xmlns:a="http://schemas.openxmlformats.org/drawingml/2006/main">
            <a:off x="8115300" y="324802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2026"/>
                </a:solidFill>
                <a:latin typeface="Arial"/>
                <a:ea typeface="Arial"/>
                <a:cs typeface="Arial"/>
              </a:defRPr>
            </a:pPr>
            <a:r>
              <a:rPr sz="2100" b="0">
                <a:solidFill>
                  <a:srgbClr val="172026"/>
                </a:solidFill>
                <a:latin typeface="Arial"/>
                <a:ea typeface="Arial"/>
                <a:cs typeface="Arial"/>
              </a:rPr>
              <a:t>Local simulator:</a:t>
            </a:r>
          </a:p>
          <a:p xmlns:a="http://schemas.openxmlformats.org/drawingml/2006/main">
            <a:pPr>
              <a:defRPr sz="2100" b="0">
                <a:solidFill>
                  <a:srgbClr val="172026"/>
                </a:solidFill>
                <a:latin typeface="Arial"/>
                <a:ea typeface="Arial"/>
                <a:cs typeface="Arial"/>
              </a:defRPr>
            </a:pPr>
            <a:r>
              <a:rPr sz="2100" b="0">
                <a:solidFill>
                  <a:srgbClr val="172026"/>
                </a:solidFill>
                <a:latin typeface="Arial"/>
                <a:ea typeface="Arial"/>
                <a:cs typeface="Arial"/>
              </a:rPr>
              <a:t>984 / 1,024</a:t>
            </a:r>
          </a:p>
        </p:txBody>
      </p:sp>
      <p:sp>
        <p:nvSpPr>
          <p:cNvPr id="6" name="">
            <a:extLst xmlns:a="http://schemas.openxmlformats.org/drawingml/2006/main">
              <a:ext uri="{FF2B5EF4-FFF2-40B4-BE49-F238E27FC236}">
                <a16:creationId xmlns:a16="http://schemas.microsoft.com/office/drawing/2014/main" id="{53C31961-A7BC-4D8E-BB93-5478F0582FDE}"/>
              </a:ext>
            </a:extLst>
          </p:cNvPr>
          <p:cNvSpPr>
            <a:spLocks xmlns:a="http://schemas.openxmlformats.org/drawingml/2006/main" noGrp="1"/>
          </p:cNvSpPr>
          <p:nvPr/>
        </p:nvSpPr>
        <p:spPr>
          <a:xfrm xmlns:a="http://schemas.openxmlformats.org/drawingml/2006/main">
            <a:off x="8115300" y="472440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8636D"/>
                </a:solidFill>
                <a:latin typeface="Arial"/>
                <a:ea typeface="Arial"/>
                <a:cs typeface="Arial"/>
              </a:defRPr>
            </a:pPr>
            <a:r>
              <a:rPr sz="1875" b="0">
                <a:solidFill>
                  <a:srgbClr val="58636D"/>
                </a:solidFill>
                <a:latin typeface="Arial"/>
                <a:ea typeface="Arial"/>
                <a:cs typeface="Arial"/>
              </a:rPr>
              <a:t>Angles trained locally</a:t>
            </a:r>
          </a:p>
        </p:txBody>
      </p:sp>
      <p:sp>
        <p:nvSpPr>
          <p:cNvPr id="7" name="">
            <a:extLst xmlns:a="http://schemas.openxmlformats.org/drawingml/2006/main">
              <a:ext uri="{FF2B5EF4-FFF2-40B4-BE49-F238E27FC236}">
                <a16:creationId xmlns:a16="http://schemas.microsoft.com/office/drawing/2014/main" id="{39360A19-F9DA-47F0-A954-923B197AAB33}"/>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SAVED RUN</a:t>
            </a:r>
          </a:p>
        </p:txBody>
      </p:sp>
      <p:sp>
        <p:nvSpPr>
          <p:cNvPr id="8" name="">
            <a:extLst xmlns:a="http://schemas.openxmlformats.org/drawingml/2006/main">
              <a:ext uri="{FF2B5EF4-FFF2-40B4-BE49-F238E27FC236}">
                <a16:creationId xmlns:a16="http://schemas.microsoft.com/office/drawing/2014/main" id="{DEE4B314-B144-46E3-A717-21C09A77690A}"/>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ibm_marrakesh. Fixed trained circuit, one sampling job. Recheck job metadata.</a:t>
            </a:r>
          </a:p>
        </p:txBody>
      </p:sp>
    </p:spTree>
    <p:extLst>
      <p:ext uri="{BB962C8B-B14F-4D97-AF65-F5344CB8AC3E}">
        <p14:creationId xmlns:p14="http://schemas.microsoft.com/office/powerpoint/2010/main" val="145648597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C0132A-86DF-4B65-B9F6-11FFD5656E7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Grover: increasing a target probability</a:t>
            </a:r>
          </a:p>
        </p:txBody>
      </p:sp>
      <p:sp>
        <p:nvSpPr>
          <p:cNvPr id="2" name="">
            <a:extLst xmlns:a="http://schemas.openxmlformats.org/drawingml/2006/main">
              <a:ext uri="{FF2B5EF4-FFF2-40B4-BE49-F238E27FC236}">
                <a16:creationId xmlns:a16="http://schemas.microsoft.com/office/drawing/2014/main" id="{38C808C0-044C-4EC0-B586-9DAFA81FF9FA}"/>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15</a:t>
            </a:r>
          </a:p>
        </p:txBody>
      </p:sp>
      <p:graphicFrame>
        <p:nvGraphicFramePr>
          <p:cNvPr id="11" name="Chart"/>
          <p:cNvGraphicFramePr/>
          <p:nvPr/>
        </p:nvGraphicFramePr>
        <p:xfrm>
          <a:off xmlns:a="http://schemas.openxmlformats.org/drawingml/2006/main" x="685800" y="1905000"/>
          <a:ext xmlns:a="http://schemas.openxmlformats.org/drawingml/2006/main" cx="6905625" cy="3143250"/>
        </p:xfrm>
        <a:graphic xmlns:a="http://schemas.openxmlformats.org/drawingml/2006/main">
          <a:graphicData uri="http://schemas.openxmlformats.org/drawingml/2006/chart">
            <c:chart xmlns:r="http://schemas.openxmlformats.org/officeDocument/2006/relationships" xmlns:c="http://schemas.openxmlformats.org/drawingml/2006/chart" r:id="R0be8d6940d8146e3"/>
          </a:graphicData>
        </a:graphic>
      </p:graphicFrame>
      <p:sp>
        <p:nvSpPr>
          <p:cNvPr id="4" name="">
            <a:extLst xmlns:a="http://schemas.openxmlformats.org/drawingml/2006/main">
              <a:ext uri="{FF2B5EF4-FFF2-40B4-BE49-F238E27FC236}">
                <a16:creationId xmlns:a16="http://schemas.microsoft.com/office/drawing/2014/main" id="{0F5367DA-C0E5-46D5-ABE6-DB4612ED58A2}"/>
              </a:ext>
            </a:extLst>
          </p:cNvPr>
          <p:cNvSpPr>
            <a:spLocks xmlns:a="http://schemas.openxmlformats.org/drawingml/2006/main" noGrp="1"/>
          </p:cNvSpPr>
          <p:nvPr/>
        </p:nvSpPr>
        <p:spPr>
          <a:xfrm xmlns:a="http://schemas.openxmlformats.org/drawingml/2006/main">
            <a:off x="8134350" y="2190750"/>
            <a:ext cx="3429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72026"/>
                </a:solidFill>
                <a:latin typeface="Arial"/>
                <a:ea typeface="Arial"/>
                <a:cs typeface="Arial"/>
              </a:defRPr>
            </a:pPr>
            <a:r>
              <a:rPr sz="2325" b="0">
                <a:solidFill>
                  <a:srgbClr val="172026"/>
                </a:solidFill>
                <a:latin typeface="Arial"/>
                <a:ea typeface="Arial"/>
                <a:cs typeface="Arial"/>
              </a:rPr>
              <a:t>Target: 010</a:t>
            </a:r>
          </a:p>
          <a:p xmlns:a="http://schemas.openxmlformats.org/drawingml/2006/main">
            <a:pPr>
              <a:defRPr sz="2325" b="0">
                <a:solidFill>
                  <a:srgbClr val="172026"/>
                </a:solidFill>
                <a:latin typeface="Arial"/>
                <a:ea typeface="Arial"/>
                <a:cs typeface="Arial"/>
              </a:defRPr>
            </a:pPr>
            <a:r>
              <a:rPr sz="2325" b="0">
                <a:solidFill>
                  <a:srgbClr val="172026"/>
                </a:solidFill>
                <a:latin typeface="Arial"/>
                <a:ea typeface="Arial"/>
                <a:cs typeface="Arial"/>
              </a:rPr>
              <a:t>Eight possible strings</a:t>
            </a:r>
          </a:p>
        </p:txBody>
      </p:sp>
      <p:sp>
        <p:nvSpPr>
          <p:cNvPr id="5" name="">
            <a:extLst xmlns:a="http://schemas.openxmlformats.org/drawingml/2006/main">
              <a:ext uri="{FF2B5EF4-FFF2-40B4-BE49-F238E27FC236}">
                <a16:creationId xmlns:a16="http://schemas.microsoft.com/office/drawing/2014/main" id="{B9DDE3B5-B4B0-40F1-A9A6-3DE74599D28F}"/>
              </a:ext>
            </a:extLst>
          </p:cNvPr>
          <p:cNvSpPr>
            <a:spLocks xmlns:a="http://schemas.openxmlformats.org/drawingml/2006/main" noGrp="1"/>
          </p:cNvSpPr>
          <p:nvPr/>
        </p:nvSpPr>
        <p:spPr>
          <a:xfrm xmlns:a="http://schemas.openxmlformats.org/drawingml/2006/main">
            <a:off x="8134350" y="4057650"/>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8636D"/>
                </a:solidFill>
                <a:latin typeface="Arial"/>
                <a:ea typeface="Arial"/>
                <a:cs typeface="Arial"/>
              </a:defRPr>
            </a:pPr>
            <a:r>
              <a:rPr sz="1800" b="0">
                <a:solidFill>
                  <a:srgbClr val="58636D"/>
                </a:solidFill>
                <a:latin typeface="Arial"/>
                <a:ea typeface="Arial"/>
                <a:cs typeface="Arial"/>
              </a:rPr>
              <a:t>Ideal probabilities (%)</a:t>
            </a:r>
          </a:p>
          <a:p xmlns:a="http://schemas.openxmlformats.org/drawingml/2006/main">
            <a:pPr>
              <a:defRPr sz="1800" b="0">
                <a:solidFill>
                  <a:srgbClr val="58636D"/>
                </a:solidFill>
                <a:latin typeface="Arial"/>
                <a:ea typeface="Arial"/>
                <a:cs typeface="Arial"/>
              </a:defRPr>
            </a:pPr>
            <a:r>
              <a:rPr sz="1800" b="0">
                <a:solidFill>
                  <a:srgbClr val="58636D"/>
                </a:solidFill>
                <a:latin typeface="Arial"/>
                <a:ea typeface="Arial"/>
                <a:cs typeface="Arial"/>
              </a:rPr>
              <a:t>calculated from this circuit</a:t>
            </a:r>
          </a:p>
        </p:txBody>
      </p:sp>
      <p:sp>
        <p:nvSpPr>
          <p:cNvPr id="6" name="">
            <a:extLst xmlns:a="http://schemas.openxmlformats.org/drawingml/2006/main">
              <a:ext uri="{FF2B5EF4-FFF2-40B4-BE49-F238E27FC236}">
                <a16:creationId xmlns:a16="http://schemas.microsoft.com/office/drawing/2014/main" id="{D4CC7484-D823-49C6-A3A9-8BC6F6307831}"/>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UPDATE</a:t>
            </a:r>
          </a:p>
        </p:txBody>
      </p:sp>
      <p:sp>
        <p:nvSpPr>
          <p:cNvPr id="7" name="">
            <a:extLst xmlns:a="http://schemas.openxmlformats.org/drawingml/2006/main">
              <a:ext uri="{FF2B5EF4-FFF2-40B4-BE49-F238E27FC236}">
                <a16:creationId xmlns:a16="http://schemas.microsoft.com/office/drawing/2014/main" id="{EA33E6B5-B4A5-42E3-9DF7-FBDB3F7D010A}"/>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GroverOperator is deprecated. Use grover_operator. Oracle queries are the complexity unit.</a:t>
            </a:r>
          </a:p>
        </p:txBody>
      </p:sp>
      <p:sp>
        <p:nvSpPr>
          <p:cNvPr id="8" name="">
            <a:extLst xmlns:a="http://schemas.openxmlformats.org/drawingml/2006/main">
              <a:ext uri="{FF2B5EF4-FFF2-40B4-BE49-F238E27FC236}">
                <a16:creationId xmlns:a16="http://schemas.microsoft.com/office/drawing/2014/main" id="{B1D65E06-7131-4D4F-9D88-87321D82784B}"/>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2ab81aa505cc4406"/>
              </a:rPr>
              <a:t>Documentation</a:t>
            </a:r>
          </a:p>
        </p:txBody>
      </p:sp>
    </p:spTree>
    <p:extLst>
      <p:ext uri="{BB962C8B-B14F-4D97-AF65-F5344CB8AC3E}">
        <p14:creationId xmlns:p14="http://schemas.microsoft.com/office/powerpoint/2010/main" val="9447793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937DFE-2B26-41BA-B6D7-D46C8B82D085}"/>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Route optimization with QAOA</a:t>
            </a:r>
          </a:p>
        </p:txBody>
      </p:sp>
      <p:sp>
        <p:nvSpPr>
          <p:cNvPr id="2" name="">
            <a:extLst xmlns:a="http://schemas.openxmlformats.org/drawingml/2006/main">
              <a:ext uri="{FF2B5EF4-FFF2-40B4-BE49-F238E27FC236}">
                <a16:creationId xmlns:a16="http://schemas.microsoft.com/office/drawing/2014/main" id="{9D06A525-DE78-4222-8E3C-1293F160A062}"/>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1C02C271-C1F8-412B-B7B9-F0237EE4467C}"/>
              </a:ext>
            </a:extLst>
          </p:cNvPr>
          <p:cNvSpPr>
            <a:spLocks xmlns:a="http://schemas.openxmlformats.org/drawingml/2006/main" noGrp="1"/>
          </p:cNvSpPr>
          <p:nvPr/>
        </p:nvSpPr>
        <p:spPr>
          <a:xfrm xmlns:a="http://schemas.openxmlformats.org/drawingml/2006/main">
            <a:off x="685800" y="16859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72026"/>
                </a:solidFill>
                <a:latin typeface="Arial"/>
                <a:ea typeface="Arial"/>
                <a:cs typeface="Arial"/>
              </a:defRPr>
            </a:pPr>
            <a:r>
              <a:rPr sz="2850" b="0">
                <a:solidFill>
                  <a:srgbClr val="172026"/>
                </a:solidFill>
                <a:latin typeface="Arial"/>
                <a:ea typeface="Arial"/>
                <a:cs typeface="Arial"/>
              </a:rPr>
              <a:t>Moscow / Baku / Doha / Florianópolis</a:t>
            </a:r>
          </a:p>
        </p:txBody>
      </p:sp>
      <p:sp>
        <p:nvSpPr>
          <p:cNvPr id="4" name="">
            <a:extLst xmlns:a="http://schemas.openxmlformats.org/drawingml/2006/main">
              <a:ext uri="{FF2B5EF4-FFF2-40B4-BE49-F238E27FC236}">
                <a16:creationId xmlns:a16="http://schemas.microsoft.com/office/drawing/2014/main" id="{697F8158-7EDB-49E3-978B-ABF0EC513141}"/>
              </a:ext>
            </a:extLst>
          </p:cNvPr>
          <p:cNvSpPr>
            <a:spLocks xmlns:a="http://schemas.openxmlformats.org/drawingml/2006/main" noGrp="1"/>
          </p:cNvSpPr>
          <p:nvPr/>
        </p:nvSpPr>
        <p:spPr>
          <a:xfrm xmlns:a="http://schemas.openxmlformats.org/drawingml/2006/main">
            <a:off x="685800" y="26193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2463A4"/>
                </a:solidFill>
                <a:latin typeface="Arial"/>
                <a:ea typeface="Arial"/>
                <a:cs typeface="Arial"/>
              </a:defRPr>
            </a:pPr>
            <a:r>
              <a:rPr sz="2400" b="0">
                <a:solidFill>
                  <a:srgbClr val="2463A4"/>
                </a:solidFill>
                <a:latin typeface="Arial"/>
                <a:ea typeface="Arial"/>
                <a:cs typeface="Arial"/>
              </a:rPr>
              <a:t>Illustrative cost: 4 + 2 + 5 = 11</a:t>
            </a:r>
          </a:p>
        </p:txBody>
      </p:sp>
      <p:graphicFrame>
        <p:nvGraphicFramePr>
          <p:cNvPr id="13" name=""/>
          <p:cNvGraphicFramePr/>
          <p:nvPr/>
        </p:nvGraphicFramePr>
        <p:xfrm>
          <a:off xmlns:a="http://schemas.openxmlformats.org/drawingml/2006/main" x="685800" y="3676650"/>
          <a:ext xmlns:a="http://schemas.openxmlformats.org/drawingml/2006/main" cx="10820400" cy="1295400"/>
        </p:xfrm>
        <a:graphic xmlns:a="http://schemas.openxmlformats.org/drawingml/2006/main">
          <a:graphicData uri="http://schemas.openxmlformats.org/drawingml/2006/table">
            <a:tbl>
              <a:tblPr/>
              <a:tblGrid>
                <a:gridCol w="6191250"/>
                <a:gridCol w="4629150"/>
              </a:tblGrid>
              <a:tr h="647700">
                <a:tc>
                  <a:txBody>
                    <a:bodyPr lIns="133350" tIns="85725" rIns="114300" bIns="85725"/>
                    <a:lstStyle/>
                    <a:p>
                      <a:r>
                        <a:rPr sz="1950" b="1">
                          <a:solidFill>
                            <a:srgbClr val="172026"/>
                          </a:solidFill>
                          <a:latin typeface="Arial"/>
                          <a:ea typeface="Arial"/>
                          <a:cs typeface="Arial"/>
                        </a:rPr>
                        <a:t>Encoding</a:t>
                      </a:r>
                    </a:p>
                  </a:txBody>
                  <a:tcPr marL="91440" marR="91440" marT="45720" marB="45720" anchor="ctr">
                    <a:solidFill>
                      <a:srgbClr val="F4F6F8"/>
                    </a:solidFill>
                  </a:tcPr>
                </a:tc>
                <a:tc>
                  <a:txBody>
                    <a:bodyPr lIns="133350" tIns="85725" rIns="114300" bIns="85725"/>
                    <a:lstStyle/>
                    <a:p>
                      <a:r>
                        <a:rPr sz="1950" b="1">
                          <a:solidFill>
                            <a:srgbClr val="172026"/>
                          </a:solidFill>
                          <a:latin typeface="Arial"/>
                          <a:ea typeface="Arial"/>
                          <a:cs typeface="Arial"/>
                        </a:rPr>
                        <a:t>Saved sample distribution</a:t>
                      </a:r>
                    </a:p>
                  </a:txBody>
                  <a:tcPr marL="91440" marR="91440" marT="45720" marB="45720" anchor="ctr">
                    <a:solidFill>
                      <a:srgbClr val="F4F6F8"/>
                    </a:solidFill>
                  </a:tcPr>
                </a:tc>
              </a:tr>
              <a:tr h="647700">
                <a:tc>
                  <a:txBody>
                    <a:bodyPr lIns="133350" tIns="85725" rIns="114300" bIns="85725"/>
                    <a:lstStyle/>
                    <a:p>
                      <a:r>
                        <a:rPr sz="1950" b="0">
                          <a:solidFill>
                            <a:srgbClr val="172026"/>
                          </a:solidFill>
                          <a:latin typeface="Arial"/>
                          <a:ea typeface="Arial"/>
                          <a:cs typeface="Arial"/>
                        </a:rPr>
                        <a:t>8 edges = 8 binary variables = 8 qubits</a:t>
                      </a:r>
                    </a:p>
                  </a:txBody>
                  <a:tcPr marL="91440" marR="91440" marT="45720" marB="45720" anchor="ctr">
                    <a:solidFill>
                      <a:srgbClr val="FFFFFF"/>
                    </a:solidFill>
                  </a:tcPr>
                </a:tc>
                <a:tc>
                  <a:txBody>
                    <a:bodyPr lIns="133350" tIns="85725" rIns="114300" bIns="85725"/>
                    <a:lstStyle/>
                    <a:p>
                      <a:r>
                        <a:rPr sz="1950" b="0">
                          <a:solidFill>
                            <a:srgbClr val="172026"/>
                          </a:solidFill>
                          <a:latin typeface="Arial"/>
                          <a:ea typeface="Arial"/>
                          <a:cs typeface="Arial"/>
                        </a:rPr>
                        <a:t>1.9% feasible outcomes</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C9EF776-259D-4B68-A29E-546FB1A6EEAB}"/>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CORRECTION</a:t>
            </a:r>
          </a:p>
        </p:txBody>
      </p:sp>
      <p:sp>
        <p:nvSpPr>
          <p:cNvPr id="7" name="">
            <a:extLst xmlns:a="http://schemas.openxmlformats.org/drawingml/2006/main">
              <a:ext uri="{FF2B5EF4-FFF2-40B4-BE49-F238E27FC236}">
                <a16:creationId xmlns:a16="http://schemas.microsoft.com/office/drawing/2014/main" id="{9F8ED555-C26C-4D65-8D6E-548BB6166E18}"/>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TSP.ipynb solves a constrained shortest path. Its prose still describes an older graph.</a:t>
            </a:r>
          </a:p>
        </p:txBody>
      </p:sp>
      <p:sp>
        <p:nvSpPr>
          <p:cNvPr id="8" name="">
            <a:extLst xmlns:a="http://schemas.openxmlformats.org/drawingml/2006/main">
              <a:ext uri="{FF2B5EF4-FFF2-40B4-BE49-F238E27FC236}">
                <a16:creationId xmlns:a16="http://schemas.microsoft.com/office/drawing/2014/main" id="{68C70058-848D-4E92-8FE3-C9091A4C0436}"/>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fec17ae0cad5434a"/>
              </a:rPr>
              <a:t>Documentation</a:t>
            </a:r>
          </a:p>
        </p:txBody>
      </p:sp>
    </p:spTree>
    <p:extLst>
      <p:ext uri="{BB962C8B-B14F-4D97-AF65-F5344CB8AC3E}">
        <p14:creationId xmlns:p14="http://schemas.microsoft.com/office/powerpoint/2010/main" val="11295386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2199F11-C1DA-41FD-B27B-83A9184D4FB4}"/>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What these examples establish</a:t>
            </a:r>
          </a:p>
        </p:txBody>
      </p:sp>
      <p:sp>
        <p:nvSpPr>
          <p:cNvPr id="2" name="">
            <a:extLst xmlns:a="http://schemas.openxmlformats.org/drawingml/2006/main">
              <a:ext uri="{FF2B5EF4-FFF2-40B4-BE49-F238E27FC236}">
                <a16:creationId xmlns:a16="http://schemas.microsoft.com/office/drawing/2014/main" id="{565742A0-A8A7-4B8C-BD78-46062D78E15F}"/>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17</a:t>
            </a:r>
          </a:p>
        </p:txBody>
      </p:sp>
      <p:graphicFrame>
        <p:nvGraphicFramePr>
          <p:cNvPr id="7" name=""/>
          <p:cNvGraphicFramePr/>
          <p:nvPr/>
        </p:nvGraphicFramePr>
        <p:xfrm>
          <a:off xmlns:a="http://schemas.openxmlformats.org/drawingml/2006/main" x="685800" y="1724025"/>
          <a:ext xmlns:a="http://schemas.openxmlformats.org/drawingml/2006/main" cx="10820400" cy="3333750"/>
        </p:xfrm>
        <a:graphic xmlns:a="http://schemas.openxmlformats.org/drawingml/2006/main">
          <a:graphicData uri="http://schemas.openxmlformats.org/drawingml/2006/table">
            <a:tbl>
              <a:tblPr/>
              <a:tblGrid>
                <a:gridCol w="3333750"/>
                <a:gridCol w="7486650"/>
              </a:tblGrid>
              <a:tr h="666750">
                <a:tc>
                  <a:txBody>
                    <a:bodyPr lIns="133350" tIns="85725" rIns="114300" bIns="85725"/>
                    <a:lstStyle/>
                    <a:p>
                      <a:r>
                        <a:rPr sz="2025" b="1">
                          <a:solidFill>
                            <a:srgbClr val="172026"/>
                          </a:solidFill>
                          <a:latin typeface="Arial"/>
                          <a:ea typeface="Arial"/>
                          <a:cs typeface="Arial"/>
                        </a:rPr>
                        <a:t>Example</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What we can observe</a:t>
                      </a:r>
                    </a:p>
                  </a:txBody>
                  <a:tcPr marL="91440" marR="91440" marT="45720" marB="45720" anchor="ctr">
                    <a:solidFill>
                      <a:srgbClr val="F4F6F8"/>
                    </a:solidFill>
                  </a:tcPr>
                </a:tc>
              </a:tr>
              <a:tr h="666750">
                <a:tc>
                  <a:txBody>
                    <a:bodyPr lIns="133350" tIns="85725" rIns="114300" bIns="85725"/>
                    <a:lstStyle/>
                    <a:p>
                      <a:r>
                        <a:rPr sz="2025" b="0">
                          <a:solidFill>
                            <a:srgbClr val="172026"/>
                          </a:solidFill>
                          <a:latin typeface="Arial"/>
                          <a:ea typeface="Arial"/>
                          <a:cs typeface="Arial"/>
                        </a:rPr>
                        <a:t>Hello World</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Correlated measurement outcomes</a:t>
                      </a:r>
                    </a:p>
                  </a:txBody>
                  <a:tcPr marL="91440" marR="91440" marT="45720" marB="45720" anchor="ctr">
                    <a:solidFill>
                      <a:srgbClr val="FFFFFF"/>
                    </a:solidFill>
                  </a:tcPr>
                </a:tc>
              </a:tr>
              <a:tr h="666750">
                <a:tc>
                  <a:txBody>
                    <a:bodyPr lIns="133350" tIns="85725" rIns="114300" bIns="85725"/>
                    <a:lstStyle/>
                    <a:p>
                      <a:r>
                        <a:rPr sz="2025" b="0">
                          <a:solidFill>
                            <a:srgbClr val="172026"/>
                          </a:solidFill>
                          <a:latin typeface="Arial"/>
                          <a:ea typeface="Arial"/>
                          <a:cs typeface="Arial"/>
                        </a:rPr>
                        <a:t>VQE</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A dominant optimum in one small run</a:t>
                      </a:r>
                    </a:p>
                  </a:txBody>
                  <a:tcPr marL="91440" marR="91440" marT="45720" marB="45720" anchor="ctr">
                    <a:solidFill>
                      <a:srgbClr val="FFFFFF"/>
                    </a:solidFill>
                  </a:tcPr>
                </a:tc>
              </a:tr>
              <a:tr h="666750">
                <a:tc>
                  <a:txBody>
                    <a:bodyPr lIns="133350" tIns="85725" rIns="114300" bIns="85725"/>
                    <a:lstStyle/>
                    <a:p>
                      <a:r>
                        <a:rPr sz="2025" b="0">
                          <a:solidFill>
                            <a:srgbClr val="172026"/>
                          </a:solidFill>
                          <a:latin typeface="Arial"/>
                          <a:ea typeface="Arial"/>
                          <a:cs typeface="Arial"/>
                        </a:rPr>
                        <a:t>Cloud execution</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Samples from a real device</a:t>
                      </a:r>
                    </a:p>
                  </a:txBody>
                  <a:tcPr marL="91440" marR="91440" marT="45720" marB="45720" anchor="ctr">
                    <a:solidFill>
                      <a:srgbClr val="FFFFFF"/>
                    </a:solidFill>
                  </a:tcPr>
                </a:tc>
              </a:tr>
              <a:tr h="666750">
                <a:tc>
                  <a:txBody>
                    <a:bodyPr lIns="133350" tIns="85725" rIns="114300" bIns="85725"/>
                    <a:lstStyle/>
                    <a:p>
                      <a:r>
                        <a:rPr sz="2025" b="0">
                          <a:solidFill>
                            <a:srgbClr val="172026"/>
                          </a:solidFill>
                          <a:latin typeface="Arial"/>
                          <a:ea typeface="Arial"/>
                          <a:cs typeface="Arial"/>
                        </a:rPr>
                        <a:t>QAOA route</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A feasible answer amid many invalid samples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7919C28-23F9-442C-A487-BE8074B739F0}"/>
              </a:ext>
            </a:extLst>
          </p:cNvPr>
          <p:cNvSpPr>
            <a:spLocks xmlns:a="http://schemas.openxmlformats.org/drawingml/2006/main" noGrp="1"/>
          </p:cNvSpPr>
          <p:nvPr/>
        </p:nvSpPr>
        <p:spPr>
          <a:xfrm xmlns:a="http://schemas.openxmlformats.org/drawingml/2006/main">
            <a:off x="685800" y="54006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These small runs do not establish quantum advantage.</a:t>
            </a:r>
          </a:p>
        </p:txBody>
      </p:sp>
    </p:spTree>
    <p:extLst>
      <p:ext uri="{BB962C8B-B14F-4D97-AF65-F5344CB8AC3E}">
        <p14:creationId xmlns:p14="http://schemas.microsoft.com/office/powerpoint/2010/main" val="47107946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B0EC51-880F-4507-BD1E-434F40504EF9}"/>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Code and questions</a:t>
            </a:r>
          </a:p>
        </p:txBody>
      </p:sp>
      <p:sp>
        <p:nvSpPr>
          <p:cNvPr id="2" name="">
            <a:extLst xmlns:a="http://schemas.openxmlformats.org/drawingml/2006/main">
              <a:ext uri="{FF2B5EF4-FFF2-40B4-BE49-F238E27FC236}">
                <a16:creationId xmlns:a16="http://schemas.microsoft.com/office/drawing/2014/main" id="{5A04A432-91D0-4405-9A0E-75F40673B917}"/>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8F8C211D-AFC5-43F5-A849-CF6C859C1417}"/>
              </a:ext>
            </a:extLst>
          </p:cNvPr>
          <p:cNvSpPr>
            <a:spLocks xmlns:a="http://schemas.openxmlformats.org/drawingml/2006/main" noGrp="1"/>
          </p:cNvSpPr>
          <p:nvPr/>
        </p:nvSpPr>
        <p:spPr>
          <a:xfrm xmlns:a="http://schemas.openxmlformats.org/drawingml/2006/main">
            <a:off x="685800" y="2038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2463A4"/>
                </a:solidFill>
                <a:latin typeface="Arial"/>
                <a:ea typeface="Arial"/>
                <a:cs typeface="Arial"/>
              </a:defRPr>
            </a:pPr>
            <a:r>
              <a:rPr sz="3600" b="0">
                <a:solidFill>
                  <a:srgbClr val="2463A4"/>
                </a:solidFill>
                <a:latin typeface="Arial"/>
                <a:ea typeface="Arial"/>
                <a:cs typeface="Arial"/>
              </a:rPr>
              <a:t>github.com/beilak/qdev</a:t>
            </a:r>
          </a:p>
        </p:txBody>
      </p:sp>
      <p:sp>
        <p:nvSpPr>
          <p:cNvPr id="4" name="">
            <a:extLst xmlns:a="http://schemas.openxmlformats.org/drawingml/2006/main">
              <a:ext uri="{FF2B5EF4-FFF2-40B4-BE49-F238E27FC236}">
                <a16:creationId xmlns:a16="http://schemas.microsoft.com/office/drawing/2014/main" id="{8AEC70C1-AFD8-496A-801D-F41A07EB774A}"/>
              </a:ext>
            </a:extLst>
          </p:cNvPr>
          <p:cNvSpPr>
            <a:spLocks xmlns:a="http://schemas.openxmlformats.org/drawingml/2006/main" noGrp="1"/>
          </p:cNvSpPr>
          <p:nvPr/>
        </p:nvSpPr>
        <p:spPr>
          <a:xfrm xmlns:a="http://schemas.openxmlformats.org/drawingml/2006/main">
            <a:off x="685800" y="29908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463A4"/>
                </a:solidFill>
                <a:latin typeface="Arial"/>
                <a:ea typeface="Arial"/>
                <a:cs typeface="Arial"/>
              </a:defRPr>
            </a:pPr>
            <a:r>
              <a:rPr sz="2025" b="0">
                <a:solidFill>
                  <a:srgbClr val="2463A4"/>
                </a:solidFill>
                <a:latin typeface="Arial"/>
                <a:ea typeface="Arial"/>
                <a:cs typeface="Arial"/>
                <a:hlinkClick xmlns:r="http://schemas.openxmlformats.org/officeDocument/2006/relationships" r:id="R53898beaa04d4736"/>
              </a:rPr>
              <a:t>Notebook repository</a:t>
            </a:r>
          </a:p>
        </p:txBody>
      </p:sp>
      <p:sp>
        <p:nvSpPr>
          <p:cNvPr id="5" name="">
            <a:extLst xmlns:a="http://schemas.openxmlformats.org/drawingml/2006/main">
              <a:ext uri="{FF2B5EF4-FFF2-40B4-BE49-F238E27FC236}">
                <a16:creationId xmlns:a16="http://schemas.microsoft.com/office/drawing/2014/main" id="{79B03871-D054-4DDC-9F51-E24952F035F3}"/>
              </a:ext>
            </a:extLst>
          </p:cNvPr>
          <p:cNvSpPr>
            <a:spLocks xmlns:a="http://schemas.openxmlformats.org/drawingml/2006/main" noGrp="1"/>
          </p:cNvSpPr>
          <p:nvPr/>
        </p:nvSpPr>
        <p:spPr>
          <a:xfrm xmlns:a="http://schemas.openxmlformats.org/drawingml/2006/main">
            <a:off x="685800" y="44577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72026"/>
                </a:solidFill>
                <a:latin typeface="Arial"/>
                <a:ea typeface="Arial"/>
                <a:cs typeface="Arial"/>
              </a:defRPr>
            </a:pPr>
            <a:r>
              <a:rPr sz="3600" b="0">
                <a:solidFill>
                  <a:srgbClr val="172026"/>
                </a:solidFill>
                <a:latin typeface="Arial"/>
                <a:ea typeface="Arial"/>
                <a:cs typeface="Arial"/>
              </a:rPr>
              <a:t>Questions</a:t>
            </a:r>
          </a:p>
        </p:txBody>
      </p:sp>
      <p:sp>
        <p:nvSpPr>
          <p:cNvPr id="6" name="">
            <a:extLst xmlns:a="http://schemas.openxmlformats.org/drawingml/2006/main">
              <a:ext uri="{FF2B5EF4-FFF2-40B4-BE49-F238E27FC236}">
                <a16:creationId xmlns:a16="http://schemas.microsoft.com/office/drawing/2014/main" id="{3FF0B05C-8E54-4791-9C94-CEDDA516662C}"/>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CHECK BEFORE TALK</a:t>
            </a:r>
          </a:p>
        </p:txBody>
      </p:sp>
      <p:sp>
        <p:nvSpPr>
          <p:cNvPr id="7" name="">
            <a:extLst xmlns:a="http://schemas.openxmlformats.org/drawingml/2006/main">
              <a:ext uri="{FF2B5EF4-FFF2-40B4-BE49-F238E27FC236}">
                <a16:creationId xmlns:a16="http://schemas.microsoft.com/office/drawing/2014/main" id="{D95E2FDC-69FA-44D0-9502-C95337D7EFC3}"/>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Confirm that the public repository contains the exact notebook versions you will present.</a:t>
            </a:r>
          </a:p>
        </p:txBody>
      </p:sp>
    </p:spTree>
    <p:extLst>
      <p:ext uri="{BB962C8B-B14F-4D97-AF65-F5344CB8AC3E}">
        <p14:creationId xmlns:p14="http://schemas.microsoft.com/office/powerpoint/2010/main" val="146321768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DC47122-855C-4A07-8C21-0EA5CA618AA5}"/>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Backup: the larger VQE example</a:t>
            </a:r>
          </a:p>
        </p:txBody>
      </p:sp>
      <p:sp>
        <p:nvSpPr>
          <p:cNvPr id="2" name="">
            <a:extLst xmlns:a="http://schemas.openxmlformats.org/drawingml/2006/main">
              <a:ext uri="{FF2B5EF4-FFF2-40B4-BE49-F238E27FC236}">
                <a16:creationId xmlns:a16="http://schemas.microsoft.com/office/drawing/2014/main" id="{FDBAB07A-FF3D-4A41-AB2D-5A1DF448189A}"/>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80B09762-34E6-4448-82D8-77ADEE559E7D}"/>
              </a:ext>
            </a:extLst>
          </p:cNvPr>
          <p:cNvSpPr>
            <a:spLocks xmlns:a="http://schemas.openxmlformats.org/drawingml/2006/main" noGrp="1"/>
          </p:cNvSpPr>
          <p:nvPr/>
        </p:nvSpPr>
        <p:spPr>
          <a:xfrm xmlns:a="http://schemas.openxmlformats.org/drawingml/2006/main">
            <a:off x="685800" y="17811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72026"/>
                </a:solidFill>
                <a:latin typeface="Arial"/>
                <a:ea typeface="Arial"/>
                <a:cs typeface="Arial"/>
              </a:defRPr>
            </a:pPr>
            <a:r>
              <a:rPr sz="2700" b="0">
                <a:solidFill>
                  <a:srgbClr val="172026"/>
                </a:solidFill>
                <a:latin typeface="Arial"/>
                <a:ea typeface="Arial"/>
                <a:cs typeface="Arial"/>
              </a:rPr>
              <a:t>5 model variables / 14 encoded qubits</a:t>
            </a:r>
          </a:p>
        </p:txBody>
      </p:sp>
      <p:sp>
        <p:nvSpPr>
          <p:cNvPr id="4" name="">
            <a:extLst xmlns:a="http://schemas.openxmlformats.org/drawingml/2006/main">
              <a:ext uri="{FF2B5EF4-FFF2-40B4-BE49-F238E27FC236}">
                <a16:creationId xmlns:a16="http://schemas.microsoft.com/office/drawing/2014/main" id="{24FEE71D-3EBC-41CC-AC9B-2EA7207B005E}"/>
              </a:ext>
            </a:extLst>
          </p:cNvPr>
          <p:cNvSpPr>
            <a:spLocks xmlns:a="http://schemas.openxmlformats.org/drawingml/2006/main" noGrp="1"/>
          </p:cNvSpPr>
          <p:nvPr/>
        </p:nvSpPr>
        <p:spPr>
          <a:xfrm xmlns:a="http://schemas.openxmlformats.org/drawingml/2006/main">
            <a:off x="685800" y="28098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72026"/>
                </a:solidFill>
                <a:latin typeface="Arial"/>
                <a:ea typeface="Arial"/>
                <a:cs typeface="Arial"/>
              </a:defRPr>
            </a:pPr>
            <a:r>
              <a:rPr sz="2400" b="0">
                <a:solidFill>
                  <a:srgbClr val="172026"/>
                </a:solidFill>
                <a:latin typeface="Arial"/>
                <a:ea typeface="Arial"/>
                <a:cs typeface="Arial"/>
              </a:rPr>
              <a:t>Saved assignment: (1, 1, 0, 10, 5)</a:t>
            </a:r>
          </a:p>
        </p:txBody>
      </p:sp>
      <p:sp>
        <p:nvSpPr>
          <p:cNvPr id="5" name="">
            <a:extLst xmlns:a="http://schemas.openxmlformats.org/drawingml/2006/main">
              <a:ext uri="{FF2B5EF4-FFF2-40B4-BE49-F238E27FC236}">
                <a16:creationId xmlns:a16="http://schemas.microsoft.com/office/drawing/2014/main" id="{C045A8D2-B939-4369-8313-16F8FAE4A125}"/>
              </a:ext>
            </a:extLst>
          </p:cNvPr>
          <p:cNvSpPr>
            <a:spLocks xmlns:a="http://schemas.openxmlformats.org/drawingml/2006/main" noGrp="1"/>
          </p:cNvSpPr>
          <p:nvPr/>
        </p:nvSpPr>
        <p:spPr>
          <a:xfrm xmlns:a="http://schemas.openxmlformats.org/drawingml/2006/main">
            <a:off x="685800" y="3762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2463A4"/>
                </a:solidFill>
                <a:latin typeface="Arial"/>
                <a:ea typeface="Arial"/>
                <a:cs typeface="Arial"/>
              </a:defRPr>
            </a:pPr>
            <a:r>
              <a:rPr sz="3000" b="0">
                <a:solidFill>
                  <a:srgbClr val="2463A4"/>
                </a:solidFill>
                <a:latin typeface="Arial"/>
                <a:ea typeface="Arial"/>
                <a:cs typeface="Arial"/>
              </a:rPr>
              <a:t>Objective: 47</a:t>
            </a:r>
          </a:p>
        </p:txBody>
      </p:sp>
      <p:sp>
        <p:nvSpPr>
          <p:cNvPr id="6" name="">
            <a:extLst xmlns:a="http://schemas.openxmlformats.org/drawingml/2006/main">
              <a:ext uri="{FF2B5EF4-FFF2-40B4-BE49-F238E27FC236}">
                <a16:creationId xmlns:a16="http://schemas.microsoft.com/office/drawing/2014/main" id="{F8802A0E-A8AE-4433-9638-3FC512878F83}"/>
              </a:ext>
            </a:extLst>
          </p:cNvPr>
          <p:cNvSpPr>
            <a:spLocks xmlns:a="http://schemas.openxmlformats.org/drawingml/2006/main" noGrp="1"/>
          </p:cNvSpPr>
          <p:nvPr/>
        </p:nvSpPr>
        <p:spPr>
          <a:xfrm xmlns:a="http://schemas.openxmlformats.org/drawingml/2006/main">
            <a:off x="685800" y="4686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Best feasible sampled candidate can differ from</a:t>
            </a:r>
          </a:p>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the most frequent bitstring.</a:t>
            </a:r>
          </a:p>
        </p:txBody>
      </p:sp>
      <p:sp>
        <p:nvSpPr>
          <p:cNvPr id="7" name="">
            <a:extLst xmlns:a="http://schemas.openxmlformats.org/drawingml/2006/main">
              <a:ext uri="{FF2B5EF4-FFF2-40B4-BE49-F238E27FC236}">
                <a16:creationId xmlns:a16="http://schemas.microsoft.com/office/drawing/2014/main" id="{40D8947E-8B1C-4177-BF3A-4D2449D0ABB9}"/>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INTERPRETATION</a:t>
            </a:r>
          </a:p>
        </p:txBody>
      </p:sp>
      <p:sp>
        <p:nvSpPr>
          <p:cNvPr id="8" name="">
            <a:extLst xmlns:a="http://schemas.openxmlformats.org/drawingml/2006/main">
              <a:ext uri="{FF2B5EF4-FFF2-40B4-BE49-F238E27FC236}">
                <a16:creationId xmlns:a16="http://schemas.microsoft.com/office/drawing/2014/main" id="{469DDD12-D311-4563-B5CB-7B116FB81585}"/>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A printed optimum alone does not show that the circuit concentrates on that answer.</a:t>
            </a:r>
          </a:p>
        </p:txBody>
      </p:sp>
      <p:sp>
        <p:nvSpPr>
          <p:cNvPr id="9" name="">
            <a:extLst xmlns:a="http://schemas.openxmlformats.org/drawingml/2006/main">
              <a:ext uri="{FF2B5EF4-FFF2-40B4-BE49-F238E27FC236}">
                <a16:creationId xmlns:a16="http://schemas.microsoft.com/office/drawing/2014/main" id="{CB763F46-9864-483C-91C5-8847F3002EA7}"/>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9f6b2226e1914905"/>
              </a:rPr>
              <a:t>Documentation</a:t>
            </a:r>
          </a:p>
        </p:txBody>
      </p:sp>
    </p:spTree>
    <p:extLst>
      <p:ext uri="{BB962C8B-B14F-4D97-AF65-F5344CB8AC3E}">
        <p14:creationId xmlns:p14="http://schemas.microsoft.com/office/powerpoint/2010/main" val="32934776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7F5CA4D-AED7-4F0B-8331-8015E6FABCD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Backup: API changes to review</a:t>
            </a:r>
          </a:p>
        </p:txBody>
      </p:sp>
      <p:sp>
        <p:nvSpPr>
          <p:cNvPr id="2" name="">
            <a:extLst xmlns:a="http://schemas.openxmlformats.org/drawingml/2006/main">
              <a:ext uri="{FF2B5EF4-FFF2-40B4-BE49-F238E27FC236}">
                <a16:creationId xmlns:a16="http://schemas.microsoft.com/office/drawing/2014/main" id="{AAB9F3C7-95D8-44E2-9DF4-66B4CA04511E}"/>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20</a:t>
            </a:r>
          </a:p>
        </p:txBody>
      </p:sp>
      <p:graphicFrame>
        <p:nvGraphicFramePr>
          <p:cNvPr id="9" name=""/>
          <p:cNvGraphicFramePr/>
          <p:nvPr/>
        </p:nvGraphicFramePr>
        <p:xfrm>
          <a:off xmlns:a="http://schemas.openxmlformats.org/drawingml/2006/main" x="685800" y="1676400"/>
          <a:ext xmlns:a="http://schemas.openxmlformats.org/drawingml/2006/main" cx="10820400" cy="3362325"/>
        </p:xfrm>
        <a:graphic xmlns:a="http://schemas.openxmlformats.org/drawingml/2006/main">
          <a:graphicData uri="http://schemas.openxmlformats.org/drawingml/2006/table">
            <a:tbl>
              <a:tblPr/>
              <a:tblGrid>
                <a:gridCol w="5314950"/>
                <a:gridCol w="5505450"/>
              </a:tblGrid>
              <a:tr h="672465">
                <a:tc>
                  <a:txBody>
                    <a:bodyPr lIns="133350" tIns="85725" rIns="114300" bIns="85725"/>
                    <a:lstStyle/>
                    <a:p>
                      <a:r>
                        <a:rPr sz="1875" b="1">
                          <a:solidFill>
                            <a:srgbClr val="172026"/>
                          </a:solidFill>
                          <a:latin typeface="Arial"/>
                          <a:ea typeface="Arial"/>
                          <a:cs typeface="Arial"/>
                        </a:rPr>
                        <a:t>In the old material</a:t>
                      </a:r>
                    </a:p>
                  </a:txBody>
                  <a:tcPr marL="91440" marR="91440" marT="45720" marB="45720" anchor="ctr">
                    <a:solidFill>
                      <a:srgbClr val="F4F6F8"/>
                    </a:solidFill>
                  </a:tcPr>
                </a:tc>
                <a:tc>
                  <a:txBody>
                    <a:bodyPr lIns="133350" tIns="85725" rIns="114300" bIns="85725"/>
                    <a:lstStyle/>
                    <a:p>
                      <a:r>
                        <a:rPr sz="1875" b="1">
                          <a:solidFill>
                            <a:srgbClr val="172026"/>
                          </a:solidFill>
                          <a:latin typeface="Arial"/>
                          <a:ea typeface="Arial"/>
                          <a:cs typeface="Arial"/>
                        </a:rPr>
                        <a:t>Pattern used in this draft</a:t>
                      </a:r>
                    </a:p>
                  </a:txBody>
                  <a:tcPr marL="91440" marR="91440" marT="45720" marB="45720" anchor="ctr">
                    <a:solidFill>
                      <a:srgbClr val="F4F6F8"/>
                    </a:solidFill>
                  </a:tcPr>
                </a:tc>
              </a:tr>
              <a:tr h="672465">
                <a:tc>
                  <a:txBody>
                    <a:bodyPr lIns="133350" tIns="85725" rIns="114300" bIns="85725"/>
                    <a:lstStyle/>
                    <a:p>
                      <a:r>
                        <a:rPr sz="1875" b="0">
                          <a:solidFill>
                            <a:srgbClr val="172026"/>
                          </a:solidFill>
                          <a:latin typeface="Arial"/>
                          <a:ea typeface="Arial"/>
                          <a:cs typeface="Arial"/>
                        </a:rPr>
                        <a:t>from qiskit import Aer</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StatevectorSampler for ideal sampling</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IBMProvider + backend.run</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QiskitRuntimeService + SamplerV2</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GroverOperator(...)</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grover_operator(...)</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qiskit['optimaze']</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Use explicit supported packages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3900825-6E2C-485F-889A-4ED30CCA0380}"/>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UPDATE</a:t>
            </a:r>
          </a:p>
        </p:txBody>
      </p:sp>
      <p:sp>
        <p:nvSpPr>
          <p:cNvPr id="5" name="">
            <a:extLst xmlns:a="http://schemas.openxmlformats.org/drawingml/2006/main">
              <a:ext uri="{FF2B5EF4-FFF2-40B4-BE49-F238E27FC236}">
                <a16:creationId xmlns:a16="http://schemas.microsoft.com/office/drawing/2014/main" id="{90C79266-2A86-4FA0-BC5A-8475BAEF968E}"/>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Check the rehearsed environment after any package update.</a:t>
            </a:r>
          </a:p>
        </p:txBody>
      </p:sp>
      <p:sp>
        <p:nvSpPr>
          <p:cNvPr id="6" name="">
            <a:extLst xmlns:a="http://schemas.openxmlformats.org/drawingml/2006/main">
              <a:ext uri="{FF2B5EF4-FFF2-40B4-BE49-F238E27FC236}">
                <a16:creationId xmlns:a16="http://schemas.microsoft.com/office/drawing/2014/main" id="{49A3FE68-706D-4CAD-B708-A9354030D45C}"/>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068c3f92ea6a46ee"/>
              </a:rPr>
              <a:t>Documentation</a:t>
            </a:r>
          </a:p>
        </p:txBody>
      </p:sp>
    </p:spTree>
    <p:extLst>
      <p:ext uri="{BB962C8B-B14F-4D97-AF65-F5344CB8AC3E}">
        <p14:creationId xmlns:p14="http://schemas.microsoft.com/office/powerpoint/2010/main" val="33506705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8EFE5F-741A-44B2-BD19-4CBF29DCEA7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Backup: content that needs review</a:t>
            </a:r>
          </a:p>
        </p:txBody>
      </p:sp>
      <p:sp>
        <p:nvSpPr>
          <p:cNvPr id="2" name="">
            <a:extLst xmlns:a="http://schemas.openxmlformats.org/drawingml/2006/main">
              <a:ext uri="{FF2B5EF4-FFF2-40B4-BE49-F238E27FC236}">
                <a16:creationId xmlns:a16="http://schemas.microsoft.com/office/drawing/2014/main" id="{3D1D8CAB-DB0E-42B8-B89C-3930C16AFE67}"/>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21</a:t>
            </a:r>
          </a:p>
        </p:txBody>
      </p:sp>
      <p:graphicFrame>
        <p:nvGraphicFramePr>
          <p:cNvPr id="9" name=""/>
          <p:cNvGraphicFramePr/>
          <p:nvPr/>
        </p:nvGraphicFramePr>
        <p:xfrm>
          <a:off xmlns:a="http://schemas.openxmlformats.org/drawingml/2006/main" x="685800" y="1676400"/>
          <a:ext xmlns:a="http://schemas.openxmlformats.org/drawingml/2006/main" cx="10820400" cy="3362325"/>
        </p:xfrm>
        <a:graphic xmlns:a="http://schemas.openxmlformats.org/drawingml/2006/main">
          <a:graphicData uri="http://schemas.openxmlformats.org/drawingml/2006/table">
            <a:tbl>
              <a:tblPr/>
              <a:tblGrid>
                <a:gridCol w="3905250"/>
                <a:gridCol w="6915150"/>
              </a:tblGrid>
              <a:tr h="672465">
                <a:tc>
                  <a:txBody>
                    <a:bodyPr lIns="133350" tIns="85725" rIns="114300" bIns="85725"/>
                    <a:lstStyle/>
                    <a:p>
                      <a:r>
                        <a:rPr sz="1875" b="1">
                          <a:solidFill>
                            <a:srgbClr val="172026"/>
                          </a:solidFill>
                          <a:latin typeface="Arial"/>
                          <a:ea typeface="Arial"/>
                          <a:cs typeface="Arial"/>
                        </a:rPr>
                        <a:t>Item</a:t>
                      </a:r>
                    </a:p>
                  </a:txBody>
                  <a:tcPr marL="91440" marR="91440" marT="45720" marB="45720" anchor="ctr">
                    <a:solidFill>
                      <a:srgbClr val="F4F6F8"/>
                    </a:solidFill>
                  </a:tcPr>
                </a:tc>
                <a:tc>
                  <a:txBody>
                    <a:bodyPr lIns="133350" tIns="85725" rIns="114300" bIns="85725"/>
                    <a:lstStyle/>
                    <a:p>
                      <a:r>
                        <a:rPr sz="1875" b="1">
                          <a:solidFill>
                            <a:srgbClr val="172026"/>
                          </a:solidFill>
                          <a:latin typeface="Arial"/>
                          <a:ea typeface="Arial"/>
                          <a:cs typeface="Arial"/>
                        </a:rPr>
                        <a:t>Action before presenting</a:t>
                      </a:r>
                    </a:p>
                  </a:txBody>
                  <a:tcPr marL="91440" marR="91440" marT="45720" marB="45720" anchor="ctr">
                    <a:solidFill>
                      <a:srgbClr val="F4F6F8"/>
                    </a:solidFill>
                  </a:tcPr>
                </a:tc>
              </a:tr>
              <a:tr h="672465">
                <a:tc>
                  <a:txBody>
                    <a:bodyPr lIns="133350" tIns="85725" rIns="114300" bIns="85725"/>
                    <a:lstStyle/>
                    <a:p>
                      <a:r>
                        <a:rPr sz="1875" b="0">
                          <a:solidFill>
                            <a:srgbClr val="172026"/>
                          </a:solidFill>
                          <a:latin typeface="Arial"/>
                          <a:ea typeface="Arial"/>
                          <a:cs typeface="Arial"/>
                        </a:rPr>
                        <a:t>433 qubits / Osprey</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Historical: 2022. Correct the ItFest date.</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“Greater capacity”</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Explain amplitudes and one-bit measurement.</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TSP text / seven qubits</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Use shortest path / eight qubits.</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QML labels, biography, contacts</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Review relevance and current details.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B27E608-026C-45B1-ABF9-98DB65404961}"/>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CHECK BEFORE TALK</a:t>
            </a:r>
          </a:p>
        </p:txBody>
      </p:sp>
      <p:sp>
        <p:nvSpPr>
          <p:cNvPr id="5" name="">
            <a:extLst xmlns:a="http://schemas.openxmlformats.org/drawingml/2006/main">
              <a:ext uri="{FF2B5EF4-FFF2-40B4-BE49-F238E27FC236}">
                <a16:creationId xmlns:a16="http://schemas.microsoft.com/office/drawing/2014/main" id="{6E1D7909-A198-4A31-9DC7-ABF59726AEB2}"/>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Hardware counts and old dates describe historical material.</a:t>
            </a:r>
          </a:p>
        </p:txBody>
      </p:sp>
      <p:sp>
        <p:nvSpPr>
          <p:cNvPr id="6" name="">
            <a:extLst xmlns:a="http://schemas.openxmlformats.org/drawingml/2006/main">
              <a:ext uri="{FF2B5EF4-FFF2-40B4-BE49-F238E27FC236}">
                <a16:creationId xmlns:a16="http://schemas.microsoft.com/office/drawing/2014/main" id="{B3356A76-D406-4B41-8ADD-5B198ECCA2A3}"/>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27ab4701b3c049a1"/>
              </a:rPr>
              <a:t>Documentation</a:t>
            </a:r>
          </a:p>
        </p:txBody>
      </p:sp>
    </p:spTree>
    <p:extLst>
      <p:ext uri="{BB962C8B-B14F-4D97-AF65-F5344CB8AC3E}">
        <p14:creationId xmlns:p14="http://schemas.microsoft.com/office/powerpoint/2010/main" val="103229554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9C4F4A3-5A39-40F7-B126-C4530147416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Reference links</a:t>
            </a:r>
          </a:p>
        </p:txBody>
      </p:sp>
      <p:sp>
        <p:nvSpPr>
          <p:cNvPr id="2" name="">
            <a:extLst xmlns:a="http://schemas.openxmlformats.org/drawingml/2006/main">
              <a:ext uri="{FF2B5EF4-FFF2-40B4-BE49-F238E27FC236}">
                <a16:creationId xmlns:a16="http://schemas.microsoft.com/office/drawing/2014/main" id="{44AB6591-55FF-489F-A883-AE5308C4346F}"/>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36057407-F3E1-405A-9CDB-0562AFD08D3A}"/>
              </a:ext>
            </a:extLst>
          </p:cNvPr>
          <p:cNvSpPr>
            <a:spLocks xmlns:a="http://schemas.openxmlformats.org/drawingml/2006/main" noGrp="1"/>
          </p:cNvSpPr>
          <p:nvPr/>
        </p:nvSpPr>
        <p:spPr>
          <a:xfrm xmlns:a="http://schemas.openxmlformats.org/drawingml/2006/main">
            <a:off x="685800" y="15906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2205ea9eef6b4837"/>
              </a:rPr>
              <a:t>Qiskit installation and supported environment</a:t>
            </a:r>
          </a:p>
        </p:txBody>
      </p:sp>
      <p:sp>
        <p:nvSpPr>
          <p:cNvPr id="4" name="">
            <a:extLst xmlns:a="http://schemas.openxmlformats.org/drawingml/2006/main">
              <a:ext uri="{FF2B5EF4-FFF2-40B4-BE49-F238E27FC236}">
                <a16:creationId xmlns:a16="http://schemas.microsoft.com/office/drawing/2014/main" id="{95E3D97A-77DA-4493-9C9D-2EF88D7C10A1}"/>
              </a:ext>
            </a:extLst>
          </p:cNvPr>
          <p:cNvSpPr>
            <a:spLocks xmlns:a="http://schemas.openxmlformats.org/drawingml/2006/main" noGrp="1"/>
          </p:cNvSpPr>
          <p:nvPr/>
        </p:nvSpPr>
        <p:spPr>
          <a:xfrm xmlns:a="http://schemas.openxmlformats.org/drawingml/2006/main">
            <a:off x="685800" y="20764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fe27e23df7c244ad"/>
              </a:rPr>
              <a:t>Local sampling and measurement results</a:t>
            </a:r>
          </a:p>
        </p:txBody>
      </p:sp>
      <p:sp>
        <p:nvSpPr>
          <p:cNvPr id="5" name="">
            <a:extLst xmlns:a="http://schemas.openxmlformats.org/drawingml/2006/main">
              <a:ext uri="{FF2B5EF4-FFF2-40B4-BE49-F238E27FC236}">
                <a16:creationId xmlns:a16="http://schemas.microsoft.com/office/drawing/2014/main" id="{F20E588C-C5C6-4A4C-83EA-1062D0CFCCB6}"/>
              </a:ext>
            </a:extLst>
          </p:cNvPr>
          <p:cNvSpPr>
            <a:spLocks xmlns:a="http://schemas.openxmlformats.org/drawingml/2006/main" noGrp="1"/>
          </p:cNvSpPr>
          <p:nvPr/>
        </p:nvSpPr>
        <p:spPr>
          <a:xfrm xmlns:a="http://schemas.openxmlformats.org/drawingml/2006/main">
            <a:off x="685800" y="25622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f18d6d7c2e5f45b4"/>
              </a:rPr>
              <a:t>IBM account setup</a:t>
            </a:r>
          </a:p>
        </p:txBody>
      </p:sp>
      <p:sp>
        <p:nvSpPr>
          <p:cNvPr id="6" name="">
            <a:extLst xmlns:a="http://schemas.openxmlformats.org/drawingml/2006/main">
              <a:ext uri="{FF2B5EF4-FFF2-40B4-BE49-F238E27FC236}">
                <a16:creationId xmlns:a16="http://schemas.microsoft.com/office/drawing/2014/main" id="{12C68DD1-89D4-4E3B-B59D-F66C79DA217E}"/>
              </a:ext>
            </a:extLst>
          </p:cNvPr>
          <p:cNvSpPr>
            <a:spLocks xmlns:a="http://schemas.openxmlformats.org/drawingml/2006/main" noGrp="1"/>
          </p:cNvSpPr>
          <p:nvPr/>
        </p:nvSpPr>
        <p:spPr>
          <a:xfrm xmlns:a="http://schemas.openxmlformats.org/drawingml/2006/main">
            <a:off x="685800" y="30480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e5af97cfa0784331"/>
              </a:rPr>
              <a:t>SamplerV2 cloud execution</a:t>
            </a:r>
          </a:p>
        </p:txBody>
      </p:sp>
      <p:sp>
        <p:nvSpPr>
          <p:cNvPr id="7" name="">
            <a:extLst xmlns:a="http://schemas.openxmlformats.org/drawingml/2006/main">
              <a:ext uri="{FF2B5EF4-FFF2-40B4-BE49-F238E27FC236}">
                <a16:creationId xmlns:a16="http://schemas.microsoft.com/office/drawing/2014/main" id="{A23340B5-E2F2-458D-8CEA-B8FA707D3281}"/>
              </a:ext>
            </a:extLst>
          </p:cNvPr>
          <p:cNvSpPr>
            <a:spLocks xmlns:a="http://schemas.openxmlformats.org/drawingml/2006/main" noGrp="1"/>
          </p:cNvSpPr>
          <p:nvPr/>
        </p:nvSpPr>
        <p:spPr>
          <a:xfrm xmlns:a="http://schemas.openxmlformats.org/drawingml/2006/main">
            <a:off x="685800" y="35337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c7cb2215092c4bd2"/>
              </a:rPr>
              <a:t>SamplingVQE</a:t>
            </a:r>
          </a:p>
        </p:txBody>
      </p:sp>
      <p:sp>
        <p:nvSpPr>
          <p:cNvPr id="8" name="">
            <a:extLst xmlns:a="http://schemas.openxmlformats.org/drawingml/2006/main">
              <a:ext uri="{FF2B5EF4-FFF2-40B4-BE49-F238E27FC236}">
                <a16:creationId xmlns:a16="http://schemas.microsoft.com/office/drawing/2014/main" id="{D6EA7419-6666-488C-891E-252066188AA5}"/>
              </a:ext>
            </a:extLst>
          </p:cNvPr>
          <p:cNvSpPr>
            <a:spLocks xmlns:a="http://schemas.openxmlformats.org/drawingml/2006/main" noGrp="1"/>
          </p:cNvSpPr>
          <p:nvPr/>
        </p:nvSpPr>
        <p:spPr>
          <a:xfrm xmlns:a="http://schemas.openxmlformats.org/drawingml/2006/main">
            <a:off x="685800" y="40195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fffde819bc89413f"/>
              </a:rPr>
              <a:t>QUBO conversion and sample interpretation</a:t>
            </a:r>
          </a:p>
        </p:txBody>
      </p:sp>
      <p:sp>
        <p:nvSpPr>
          <p:cNvPr id="9" name="">
            <a:extLst xmlns:a="http://schemas.openxmlformats.org/drawingml/2006/main">
              <a:ext uri="{FF2B5EF4-FFF2-40B4-BE49-F238E27FC236}">
                <a16:creationId xmlns:a16="http://schemas.microsoft.com/office/drawing/2014/main" id="{7F1C72A3-C282-4626-B653-226FB54DFDAD}"/>
              </a:ext>
            </a:extLst>
          </p:cNvPr>
          <p:cNvSpPr>
            <a:spLocks xmlns:a="http://schemas.openxmlformats.org/drawingml/2006/main" noGrp="1"/>
          </p:cNvSpPr>
          <p:nvPr/>
        </p:nvSpPr>
        <p:spPr>
          <a:xfrm xmlns:a="http://schemas.openxmlformats.org/drawingml/2006/main">
            <a:off x="685800" y="45053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d8ae675d8c6044b3"/>
              </a:rPr>
              <a:t>Grover operator and query model</a:t>
            </a:r>
          </a:p>
        </p:txBody>
      </p:sp>
      <p:sp>
        <p:nvSpPr>
          <p:cNvPr id="10" name="">
            <a:extLst xmlns:a="http://schemas.openxmlformats.org/drawingml/2006/main">
              <a:ext uri="{FF2B5EF4-FFF2-40B4-BE49-F238E27FC236}">
                <a16:creationId xmlns:a16="http://schemas.microsoft.com/office/drawing/2014/main" id="{8FB958F7-54D0-4A29-815B-00B445BDA537}"/>
              </a:ext>
            </a:extLst>
          </p:cNvPr>
          <p:cNvSpPr>
            <a:spLocks xmlns:a="http://schemas.openxmlformats.org/drawingml/2006/main" noGrp="1"/>
          </p:cNvSpPr>
          <p:nvPr/>
        </p:nvSpPr>
        <p:spPr>
          <a:xfrm xmlns:a="http://schemas.openxmlformats.org/drawingml/2006/main">
            <a:off x="685800" y="49911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8c3873dd67af4462"/>
              </a:rPr>
              <a:t>Qiskit bit ordering</a:t>
            </a:r>
          </a:p>
        </p:txBody>
      </p:sp>
      <p:sp>
        <p:nvSpPr>
          <p:cNvPr id="11" name="">
            <a:extLst xmlns:a="http://schemas.openxmlformats.org/drawingml/2006/main">
              <a:ext uri="{FF2B5EF4-FFF2-40B4-BE49-F238E27FC236}">
                <a16:creationId xmlns:a16="http://schemas.microsoft.com/office/drawing/2014/main" id="{D51D70CF-5D08-40C2-9BF0-E564C8595888}"/>
              </a:ext>
            </a:extLst>
          </p:cNvPr>
          <p:cNvSpPr>
            <a:spLocks xmlns:a="http://schemas.openxmlformats.org/drawingml/2006/main" noGrp="1"/>
          </p:cNvSpPr>
          <p:nvPr/>
        </p:nvSpPr>
        <p:spPr>
          <a:xfrm xmlns:a="http://schemas.openxmlformats.org/drawingml/2006/main">
            <a:off x="685800" y="60293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8636D"/>
                </a:solidFill>
                <a:latin typeface="Arial"/>
                <a:ea typeface="Arial"/>
                <a:cs typeface="Arial"/>
              </a:defRPr>
            </a:pPr>
            <a:r>
              <a:rPr sz="1350" b="0">
                <a:solidFill>
                  <a:srgbClr val="58636D"/>
                </a:solidFill>
                <a:latin typeface="Arial"/>
                <a:ea typeface="Arial"/>
                <a:cs typeface="Arial"/>
              </a:rPr>
              <a:t>Checked 27 September 2026</a:t>
            </a:r>
          </a:p>
        </p:txBody>
      </p:sp>
    </p:spTree>
    <p:extLst>
      <p:ext uri="{BB962C8B-B14F-4D97-AF65-F5344CB8AC3E}">
        <p14:creationId xmlns:p14="http://schemas.microsoft.com/office/powerpoint/2010/main" val="7732364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2026-09-27T20:18:59.7160000Z</dcterms:created>
  <dcterms:modified xsi:type="dcterms:W3CDTF">2026-09-27T20:18:59.7160000Z</dcterms:modified>
</coreProperties>
</file>